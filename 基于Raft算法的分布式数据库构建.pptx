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7" r:id="rId4"/>
    <p:sldId id="258" r:id="rId5"/>
    <p:sldId id="259" r:id="rId6"/>
    <p:sldId id="260" r:id="rId7"/>
    <p:sldId id="261" r:id="rId8"/>
    <p:sldId id="262" r:id="rId9"/>
    <p:sldId id="263" r:id="rId10"/>
    <p:sldId id="271" r:id="rId11"/>
    <p:sldId id="264" r:id="rId12"/>
    <p:sldId id="272" r:id="rId13"/>
    <p:sldId id="281" r:id="rId14"/>
    <p:sldId id="265" r:id="rId15"/>
    <p:sldId id="266" r:id="rId16"/>
    <p:sldId id="273" r:id="rId17"/>
    <p:sldId id="279" r:id="rId18"/>
    <p:sldId id="274" r:id="rId19"/>
    <p:sldId id="280" r:id="rId20"/>
    <p:sldId id="267" r:id="rId21"/>
    <p:sldId id="268" r:id="rId22"/>
    <p:sldId id="269" r:id="rId23"/>
    <p:sldId id="270"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9"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9"/>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gs" Target="tags/tag320.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image" Target="../media/image1.png"/><Relationship Id="rId2" Type="http://schemas.openxmlformats.org/officeDocument/2006/relationships/tags" Target="../tags/tag6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image" Target="../media/image1.png"/><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image" Target="../media/image2.png"/><Relationship Id="rId2" Type="http://schemas.openxmlformats.org/officeDocument/2006/relationships/tags" Target="../tags/tag83.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image" Target="../media/image3.png"/><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image" Target="../media/image1.png"/><Relationship Id="rId2" Type="http://schemas.openxmlformats.org/officeDocument/2006/relationships/tags" Target="../tags/tag128.xml"/><Relationship Id="rId11" Type="http://schemas.openxmlformats.org/officeDocument/2006/relationships/tags" Target="../tags/tag135.xml"/><Relationship Id="rId10" Type="http://schemas.openxmlformats.org/officeDocument/2006/relationships/tags" Target="../tags/tag13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封面页-1">
    <p:spTree>
      <p:nvGrpSpPr>
        <p:cNvPr id="1" name=""/>
        <p:cNvGrpSpPr/>
        <p:nvPr/>
      </p:nvGrpSpPr>
      <p:grpSpPr>
        <a:xfrm>
          <a:off x="0" y="0"/>
          <a:ext cx="0" cy="0"/>
          <a:chOff x="0" y="0"/>
          <a:chExt cx="0" cy="0"/>
        </a:xfrm>
      </p:grpSpPr>
      <p:pic>
        <p:nvPicPr>
          <p:cNvPr id="4" name="图片 3"/>
          <p:cNvPicPr/>
          <p:nvPr userDrawn="1">
            <p:custDataLst>
              <p:tags r:id="rId2"/>
            </p:custDataLst>
          </p:nvPr>
        </p:nvPicPr>
        <p:blipFill>
          <a:blip r:embed="rId3"/>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5" name="任意多边形 4"/>
          <p:cNvSpPr/>
          <p:nvPr userDrawn="1">
            <p:custDataLst>
              <p:tags r:id="rId4"/>
            </p:custDataLst>
          </p:nvPr>
        </p:nvSpPr>
        <p:spPr>
          <a:xfrm>
            <a:off x="7442201" y="0"/>
            <a:ext cx="4749165" cy="6858000"/>
          </a:xfrm>
          <a:custGeom>
            <a:avLst/>
            <a:gdLst>
              <a:gd name="connisteX0" fmla="*/ 3411096 w 65969"/>
              <a:gd name="connsiteY0" fmla="*/ 6858000 h 95250"/>
              <a:gd name="connisteX1" fmla="*/ 71798 w 65969"/>
              <a:gd name="connsiteY1" fmla="*/ 2889741 h 95250"/>
              <a:gd name="connisteX2" fmla="*/ 73499 w 65969"/>
              <a:gd name="connsiteY2" fmla="*/ 2493788 h 95250"/>
              <a:gd name="connisteX3" fmla="*/ 2209126 w 65969"/>
              <a:gd name="connsiteY3" fmla="*/ 0 h 95250"/>
              <a:gd name="connisteX4" fmla="*/ 4749795 w 65969"/>
              <a:gd name="connsiteY4" fmla="*/ 0 h 95250"/>
              <a:gd name="connisteX5" fmla="*/ 4749795 w 65969"/>
              <a:gd name="connsiteY5" fmla="*/ 765599 h 95250"/>
              <a:gd name="connisteX6" fmla="*/ 3269830 w 65969"/>
              <a:gd name="connsiteY6" fmla="*/ 2493788 h 95250"/>
              <a:gd name="connisteX7" fmla="*/ 3268120 w 65969"/>
              <a:gd name="connsiteY7" fmla="*/ 2889741 h 95250"/>
              <a:gd name="connisteX8" fmla="*/ 4749795 w 65969"/>
              <a:gd name="connsiteY8" fmla="*/ 4650501 h 95250"/>
              <a:gd name="connisteX9" fmla="*/ 4749795 w 65969"/>
              <a:gd name="connsiteY9" fmla="*/ 6858000 h 95250"/>
              <a:gd name="connisteX10" fmla="*/ 3411096 w 65969"/>
              <a:gd name="connsiteY10" fmla="*/ 685800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Lst>
            <a:pathLst>
              <a:path w="4749796" h="6858000">
                <a:moveTo>
                  <a:pt x="3411096" y="6858000"/>
                </a:moveTo>
                <a:lnTo>
                  <a:pt x="71799" y="2889742"/>
                </a:lnTo>
                <a:cubicBezTo>
                  <a:pt x="-24570" y="2775213"/>
                  <a:pt x="-23848" y="2607466"/>
                  <a:pt x="73499" y="2493788"/>
                </a:cubicBezTo>
                <a:lnTo>
                  <a:pt x="2209126" y="0"/>
                </a:lnTo>
                <a:lnTo>
                  <a:pt x="4749796" y="0"/>
                </a:lnTo>
                <a:lnTo>
                  <a:pt x="4749796" y="765600"/>
                </a:lnTo>
                <a:lnTo>
                  <a:pt x="3269830" y="2493788"/>
                </a:lnTo>
                <a:cubicBezTo>
                  <a:pt x="3172474" y="2607466"/>
                  <a:pt x="3171752" y="2775213"/>
                  <a:pt x="3268120" y="2889742"/>
                </a:cubicBezTo>
                <a:lnTo>
                  <a:pt x="4749796" y="4650501"/>
                </a:lnTo>
                <a:lnTo>
                  <a:pt x="4749796" y="6858000"/>
                </a:lnTo>
                <a:lnTo>
                  <a:pt x="3411096" y="6858000"/>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userDrawn="1">
            <p:custDataLst>
              <p:tags r:id="rId5"/>
            </p:custDataLst>
          </p:nvPr>
        </p:nvSpPr>
        <p:spPr>
          <a:xfrm>
            <a:off x="3811338" y="2730499"/>
            <a:ext cx="5362575" cy="4128135"/>
          </a:xfrm>
          <a:custGeom>
            <a:avLst/>
            <a:gdLst>
              <a:gd name="connisteX0" fmla="*/ 4352287 w 74481"/>
              <a:gd name="connsiteY0" fmla="*/ 4127501 h 57326"/>
              <a:gd name="connisteX1" fmla="*/ 1151887 w 74481"/>
              <a:gd name="connsiteY1" fmla="*/ 4127501 h 57326"/>
              <a:gd name="connisteX2" fmla="*/ 2088645 w 74481"/>
              <a:gd name="connsiteY2" fmla="*/ 3037069 h 57326"/>
              <a:gd name="connisteX3" fmla="*/ 2088645 w 74481"/>
              <a:gd name="connsiteY3" fmla="*/ 2639836 h 57326"/>
              <a:gd name="connisteX4" fmla="*/ 37097 w 74481"/>
              <a:gd name="connsiteY4" fmla="*/ 251706 h 57326"/>
              <a:gd name="connisteX5" fmla="*/ 152695 w 74481"/>
              <a:gd name="connsiteY5" fmla="*/ 0 h 57326"/>
              <a:gd name="connisteX6" fmla="*/ 2881274 w 74481"/>
              <a:gd name="connsiteY6" fmla="*/ 0 h 57326"/>
              <a:gd name="connisteX7" fmla="*/ 3112480 w 74481"/>
              <a:gd name="connsiteY7" fmla="*/ 106180 h 57326"/>
              <a:gd name="connisteX8" fmla="*/ 5289045 w 74481"/>
              <a:gd name="connsiteY8" fmla="*/ 2639836 h 57326"/>
              <a:gd name="connisteX9" fmla="*/ 5289045 w 74481"/>
              <a:gd name="connsiteY9" fmla="*/ 3037069 h 57326"/>
              <a:gd name="connisteX10" fmla="*/ 4352287 w 74481"/>
              <a:gd name="connsiteY10" fmla="*/ 4127501 h 5732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Lst>
            <a:pathLst>
              <a:path w="5362636" h="4127501">
                <a:moveTo>
                  <a:pt x="4352288" y="4127501"/>
                </a:moveTo>
                <a:lnTo>
                  <a:pt x="1151888" y="4127501"/>
                </a:lnTo>
                <a:lnTo>
                  <a:pt x="2088645" y="3037070"/>
                </a:lnTo>
                <a:cubicBezTo>
                  <a:pt x="2186760" y="2922843"/>
                  <a:pt x="2186760" y="2754054"/>
                  <a:pt x="2088645" y="2639836"/>
                </a:cubicBezTo>
                <a:lnTo>
                  <a:pt x="37097" y="251707"/>
                </a:lnTo>
                <a:cubicBezTo>
                  <a:pt x="-47805" y="152888"/>
                  <a:pt x="22412" y="0"/>
                  <a:pt x="152696" y="0"/>
                </a:cubicBezTo>
                <a:lnTo>
                  <a:pt x="2881274" y="0"/>
                </a:lnTo>
                <a:cubicBezTo>
                  <a:pt x="2970136" y="0"/>
                  <a:pt x="3054581" y="38780"/>
                  <a:pt x="3112480" y="106180"/>
                </a:cubicBezTo>
                <a:lnTo>
                  <a:pt x="5289045" y="2639836"/>
                </a:lnTo>
                <a:cubicBezTo>
                  <a:pt x="5387160" y="2754054"/>
                  <a:pt x="5387160" y="2922843"/>
                  <a:pt x="5289045" y="3037070"/>
                </a:cubicBezTo>
                <a:lnTo>
                  <a:pt x="4352288" y="4127501"/>
                </a:lnTo>
                <a:close/>
              </a:path>
            </a:pathLst>
          </a:custGeom>
          <a:solidFill>
            <a:schemeClr val="bg1">
              <a:alpha val="10000"/>
            </a:schemeClr>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日期占位符 15"/>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7"/>
            </p:custDataLst>
          </p:nvPr>
        </p:nvSpPr>
        <p:spPr/>
        <p:txBody>
          <a:body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10" name="任意多边形 9"/>
          <p:cNvSpPr/>
          <p:nvPr userDrawn="1">
            <p:custDataLst>
              <p:tags r:id="rId9"/>
            </p:custDataLst>
          </p:nvPr>
        </p:nvSpPr>
        <p:spPr>
          <a:xfrm rot="10800000" flipV="1">
            <a:off x="805458" y="763030"/>
            <a:ext cx="182880" cy="254000"/>
          </a:xfrm>
          <a:custGeom>
            <a:avLst/>
            <a:gdLst>
              <a:gd name="connisteX0" fmla="*/ 105018 w 2537"/>
              <a:gd name="connsiteY0" fmla="*/ 4754 h 3527"/>
              <a:gd name="connisteX1" fmla="*/ 115360 w 2537"/>
              <a:gd name="connsiteY1" fmla="*/ 0 h 3527"/>
              <a:gd name="connisteX2" fmla="*/ 167856 w 2537"/>
              <a:gd name="connsiteY2" fmla="*/ 0 h 3527"/>
              <a:gd name="connisteX3" fmla="*/ 173022 w 2537"/>
              <a:gd name="connsiteY3" fmla="*/ 11265 h 3527"/>
              <a:gd name="connisteX4" fmla="*/ 81235 w 2537"/>
              <a:gd name="connsiteY4" fmla="*/ 118113 h 3527"/>
              <a:gd name="connisteX5" fmla="*/ 81235 w 2537"/>
              <a:gd name="connsiteY5" fmla="*/ 135888 h 3527"/>
              <a:gd name="connisteX6" fmla="*/ 173022 w 2537"/>
              <a:gd name="connsiteY6" fmla="*/ 242736 h 3527"/>
              <a:gd name="connisteX7" fmla="*/ 167856 w 2537"/>
              <a:gd name="connsiteY7" fmla="*/ 254002 h 3527"/>
              <a:gd name="connisteX8" fmla="*/ 115360 w 2537"/>
              <a:gd name="connsiteY8" fmla="*/ 254002 h 3527"/>
              <a:gd name="connisteX9" fmla="*/ 105018 w 2537"/>
              <a:gd name="connsiteY9" fmla="*/ 249247 h 3527"/>
              <a:gd name="connisteX10" fmla="*/ 7635 w 2537"/>
              <a:gd name="connsiteY10" fmla="*/ 135888 h 3527"/>
              <a:gd name="connisteX11" fmla="*/ 7635 w 2537"/>
              <a:gd name="connsiteY11" fmla="*/ 118113 h 3527"/>
              <a:gd name="connisteX12" fmla="*/ 105018 w 2537"/>
              <a:gd name="connsiteY12" fmla="*/ 4754 h 35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Lst>
            <a:pathLst>
              <a:path w="182697" h="254002">
                <a:moveTo>
                  <a:pt x="105019" y="4755"/>
                </a:moveTo>
                <a:cubicBezTo>
                  <a:pt x="107607" y="1737"/>
                  <a:pt x="111392" y="0"/>
                  <a:pt x="115361" y="0"/>
                </a:cubicBezTo>
                <a:lnTo>
                  <a:pt x="167856" y="0"/>
                </a:lnTo>
                <a:cubicBezTo>
                  <a:pt x="173681" y="0"/>
                  <a:pt x="176827" y="6840"/>
                  <a:pt x="173023" y="11265"/>
                </a:cubicBezTo>
                <a:lnTo>
                  <a:pt x="81235" y="118113"/>
                </a:lnTo>
                <a:cubicBezTo>
                  <a:pt x="76846" y="123225"/>
                  <a:pt x="76846" y="130777"/>
                  <a:pt x="81235" y="135889"/>
                </a:cubicBezTo>
                <a:lnTo>
                  <a:pt x="173023" y="242737"/>
                </a:lnTo>
                <a:cubicBezTo>
                  <a:pt x="176818" y="247162"/>
                  <a:pt x="173681" y="254002"/>
                  <a:pt x="167856" y="254002"/>
                </a:cubicBezTo>
                <a:lnTo>
                  <a:pt x="115361" y="254002"/>
                </a:lnTo>
                <a:cubicBezTo>
                  <a:pt x="111392" y="254002"/>
                  <a:pt x="107607" y="252265"/>
                  <a:pt x="105019" y="249247"/>
                </a:cubicBezTo>
                <a:lnTo>
                  <a:pt x="7635" y="135889"/>
                </a:lnTo>
                <a:cubicBezTo>
                  <a:pt x="3246" y="130777"/>
                  <a:pt x="3246" y="123225"/>
                  <a:pt x="7635" y="118113"/>
                </a:cubicBezTo>
                <a:lnTo>
                  <a:pt x="105019" y="4755"/>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标题 6"/>
          <p:cNvSpPr>
            <a:spLocks noGrp="1"/>
          </p:cNvSpPr>
          <p:nvPr>
            <p:ph type="ctrTitle" idx="13" hasCustomPrompt="1"/>
            <p:custDataLst>
              <p:tags r:id="rId10"/>
            </p:custDataLst>
          </p:nvPr>
        </p:nvSpPr>
        <p:spPr>
          <a:xfrm>
            <a:off x="761997" y="2374898"/>
            <a:ext cx="7010403" cy="2095503"/>
          </a:xfrm>
          <a:noFill/>
        </p:spPr>
        <p:txBody>
          <a:bodyPr lIns="0" tIns="0" rIns="0" bIns="0" anchor="ctr">
            <a:noAutofit/>
          </a:bodyPr>
          <a:lstStyle>
            <a:lvl1pPr algn="l">
              <a:lnSpc>
                <a:spcPct val="111000"/>
              </a:lnSpc>
              <a:buNone/>
              <a:defRPr sz="6000" b="1">
                <a:solidFill>
                  <a:schemeClr val="bg1"/>
                </a:solidFill>
                <a:latin typeface="微软雅黑" panose="020B0503020204020204" charset="-122"/>
                <a:ea typeface="微软雅黑" panose="020B0503020204020204" charset="-122"/>
                <a:cs typeface="微软雅黑" panose="020B0503020204020204" charset="-122"/>
              </a:defRPr>
            </a:lvl1pPr>
          </a:lstStyle>
          <a:p>
            <a:r>
              <a:rPr lang="zh-CN" altLang="en-US" smtClean="0"/>
              <a:t>总结汇报&amp;工作计划职场通用模板</a:t>
            </a:r>
            <a:endParaRPr lang="zh-CN" altLang="en-US" smtClean="0"/>
          </a:p>
        </p:txBody>
      </p:sp>
      <p:sp>
        <p:nvSpPr>
          <p:cNvPr id="8" name="文本占位符 7"/>
          <p:cNvSpPr>
            <a:spLocks noGrp="1"/>
          </p:cNvSpPr>
          <p:nvPr>
            <p:ph type="body" idx="14" hasCustomPrompt="1"/>
            <p:custDataLst>
              <p:tags r:id="rId11"/>
            </p:custDataLst>
          </p:nvPr>
        </p:nvSpPr>
        <p:spPr>
          <a:xfrm>
            <a:off x="761997" y="4876797"/>
            <a:ext cx="7378696" cy="457200"/>
          </a:xfrm>
          <a:noFill/>
        </p:spPr>
        <p:txBody>
          <a:bodyPr lIns="0" tIns="0" rIns="0" bIns="0" anchor="t">
            <a:noAutofit/>
          </a:bodyPr>
          <a:lstStyle>
            <a:lvl1pPr algn="l">
              <a:lnSpc>
                <a:spcPct val="125000"/>
              </a:lnSpc>
              <a:buNone/>
              <a:defRPr sz="2400" b="1">
                <a:solidFill>
                  <a:schemeClr val="accent1"/>
                </a:solidFill>
                <a:latin typeface="Microsoft YaHei UI" panose="020B0503020204020204" charset="-122"/>
                <a:ea typeface="Microsoft YaHei UI" panose="020B0503020204020204" charset="-122"/>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smtClean="0"/>
              <a:t>DESIGN BY WPS</a:t>
            </a:r>
            <a:endParaRPr lang="zh-CN" altLang="en-US" smtClean="0"/>
          </a:p>
        </p:txBody>
      </p:sp>
      <p:sp>
        <p:nvSpPr>
          <p:cNvPr id="9" name="文本占位符 8"/>
          <p:cNvSpPr>
            <a:spLocks noGrp="1"/>
          </p:cNvSpPr>
          <p:nvPr>
            <p:ph type="body" idx="15" hasCustomPrompt="1"/>
            <p:custDataLst>
              <p:tags r:id="rId12"/>
            </p:custDataLst>
          </p:nvPr>
        </p:nvSpPr>
        <p:spPr>
          <a:xfrm>
            <a:off x="1079504" y="660398"/>
            <a:ext cx="4508504" cy="457200"/>
          </a:xfrm>
          <a:noFill/>
        </p:spPr>
        <p:txBody>
          <a:bodyPr lIns="0" tIns="0" rIns="0" bIns="0" anchor="t">
            <a:noAutofit/>
          </a:bodyPr>
          <a:lstStyle>
            <a:lvl1pPr algn="l">
              <a:lnSpc>
                <a:spcPct val="125000"/>
              </a:lnSpc>
              <a:buNone/>
              <a:defRPr sz="2400" b="0">
                <a:solidFill>
                  <a:schemeClr val="bg1"/>
                </a:solidFill>
                <a:latin typeface="Microsoft YaHei UI" panose="020B0503020204020204" charset="-122"/>
                <a:ea typeface="Microsoft YaHei UI" panose="020B0503020204020204" charset="-122"/>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smtClean="0"/>
              <a:t>20XX YEAR</a:t>
            </a:r>
            <a:endParaRPr lang="zh-CN" altLang="en-US"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目录页-1">
    <p:spTree>
      <p:nvGrpSpPr>
        <p:cNvPr id="1" name=""/>
        <p:cNvGrpSpPr/>
        <p:nvPr/>
      </p:nvGrpSpPr>
      <p:grpSpPr>
        <a:xfrm>
          <a:off x="0" y="0"/>
          <a:ext cx="0" cy="0"/>
          <a:chOff x="0" y="0"/>
          <a:chExt cx="0" cy="0"/>
        </a:xfrm>
      </p:grpSpPr>
      <p:pic>
        <p:nvPicPr>
          <p:cNvPr id="5" name="图片 4"/>
          <p:cNvPicPr/>
          <p:nvPr userDrawn="1">
            <p:custDataLst>
              <p:tags r:id="rId2"/>
            </p:custDataLst>
          </p:nvPr>
        </p:nvPicPr>
        <p:blipFill>
          <a:blip r:embed="rId3"/>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6" name="任意多边形 5"/>
          <p:cNvSpPr/>
          <p:nvPr userDrawn="1">
            <p:custDataLst>
              <p:tags r:id="rId4"/>
            </p:custDataLst>
          </p:nvPr>
        </p:nvSpPr>
        <p:spPr>
          <a:xfrm>
            <a:off x="0" y="3396237"/>
            <a:ext cx="2431415" cy="3462020"/>
          </a:xfrm>
          <a:custGeom>
            <a:avLst/>
            <a:gdLst>
              <a:gd name="connisteX0" fmla="*/ 0 w 33771"/>
              <a:gd name="connsiteY0" fmla="*/ 0 h 48080"/>
              <a:gd name="connisteX1" fmla="*/ 0 w 33771"/>
              <a:gd name="connsiteY1" fmla="*/ 3461762 h 48080"/>
              <a:gd name="connisteX2" fmla="*/ 2118171 w 33771"/>
              <a:gd name="connsiteY2" fmla="*/ 3461762 h 48080"/>
              <a:gd name="connisteX3" fmla="*/ 2357917 w 33771"/>
              <a:gd name="connsiteY3" fmla="*/ 3182678 h 48080"/>
              <a:gd name="connisteX4" fmla="*/ 2359353 w 33771"/>
              <a:gd name="connsiteY4" fmla="*/ 2787127 h 48080"/>
              <a:gd name="connisteX5" fmla="*/ 0 w 33771"/>
              <a:gd name="connsiteY5" fmla="*/ 0 h 4808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2431527" h="3461763">
                <a:moveTo>
                  <a:pt x="0" y="0"/>
                </a:moveTo>
                <a:lnTo>
                  <a:pt x="0" y="3461763"/>
                </a:lnTo>
                <a:lnTo>
                  <a:pt x="2118171" y="3461763"/>
                </a:lnTo>
                <a:lnTo>
                  <a:pt x="2357918" y="3182679"/>
                </a:lnTo>
                <a:cubicBezTo>
                  <a:pt x="2455511" y="3069083"/>
                  <a:pt x="2456115" y="2901428"/>
                  <a:pt x="2359353" y="2787128"/>
                </a:cubicBezTo>
                <a:lnTo>
                  <a:pt x="0" y="0"/>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userDrawn="1">
            <p:custDataLst>
              <p:tags r:id="rId5"/>
            </p:custDataLst>
          </p:nvPr>
        </p:nvSpPr>
        <p:spPr>
          <a:xfrm>
            <a:off x="2273299" y="1524003"/>
            <a:ext cx="9918700" cy="4520565"/>
          </a:xfrm>
          <a:custGeom>
            <a:avLst/>
            <a:gdLst>
              <a:gd name="connisteX0" fmla="*/ 2529989 w 137759"/>
              <a:gd name="connsiteY0" fmla="*/ 70637 h 62794"/>
              <a:gd name="connisteX1" fmla="*/ 2684001 w 137759"/>
              <a:gd name="connsiteY1" fmla="*/ 0 h 62794"/>
              <a:gd name="connisteX2" fmla="*/ 9918697 w 137759"/>
              <a:gd name="connsiteY2" fmla="*/ 0 h 62794"/>
              <a:gd name="connisteX3" fmla="*/ 9918697 w 137759"/>
              <a:gd name="connsiteY3" fmla="*/ 4521195 h 62794"/>
              <a:gd name="connisteX4" fmla="*/ 1304291 w 137759"/>
              <a:gd name="connsiteY4" fmla="*/ 4521195 h 62794"/>
              <a:gd name="connisteX5" fmla="*/ 1145487 w 137759"/>
              <a:gd name="connsiteY5" fmla="*/ 4444770 h 62794"/>
              <a:gd name="connisteX6" fmla="*/ 105101 w 137759"/>
              <a:gd name="connsiteY6" fmla="*/ 3141558 h 62794"/>
              <a:gd name="connisteX7" fmla="*/ 109901 w 137759"/>
              <a:gd name="connsiteY7" fmla="*/ 2882216 h 62794"/>
              <a:gd name="connisteX8" fmla="*/ 2529989 w 137759"/>
              <a:gd name="connsiteY8" fmla="*/ 70637 h 6279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918698" h="4521196">
                <a:moveTo>
                  <a:pt x="2529989" y="70637"/>
                </a:moveTo>
                <a:cubicBezTo>
                  <a:pt x="2568604" y="25795"/>
                  <a:pt x="2624840" y="0"/>
                  <a:pt x="2684002" y="0"/>
                </a:cubicBezTo>
                <a:lnTo>
                  <a:pt x="9918698" y="0"/>
                </a:lnTo>
                <a:lnTo>
                  <a:pt x="9918698" y="4521196"/>
                </a:lnTo>
                <a:lnTo>
                  <a:pt x="1304291" y="4521196"/>
                </a:lnTo>
                <a:cubicBezTo>
                  <a:pt x="1242487" y="4521196"/>
                  <a:pt x="1184047" y="4493069"/>
                  <a:pt x="1145487" y="4444770"/>
                </a:cubicBezTo>
                <a:lnTo>
                  <a:pt x="105101" y="3141558"/>
                </a:lnTo>
                <a:cubicBezTo>
                  <a:pt x="44147" y="3065197"/>
                  <a:pt x="46159" y="2956264"/>
                  <a:pt x="109902" y="2882216"/>
                </a:cubicBezTo>
                <a:lnTo>
                  <a:pt x="2529989" y="70637"/>
                </a:lnTo>
                <a:close/>
              </a:path>
            </a:pathLst>
          </a:custGeom>
          <a:solidFill>
            <a:schemeClr val="bg1"/>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8" name="标题 7"/>
          <p:cNvSpPr>
            <a:spLocks noGrp="1"/>
          </p:cNvSpPr>
          <p:nvPr>
            <p:ph type="ctrTitle" idx="13" hasCustomPrompt="1"/>
            <p:custDataLst>
              <p:tags r:id="rId6"/>
            </p:custDataLst>
          </p:nvPr>
        </p:nvSpPr>
        <p:spPr>
          <a:xfrm>
            <a:off x="1219197" y="1524003"/>
            <a:ext cx="2336804" cy="761997"/>
          </a:xfrm>
          <a:noFill/>
        </p:spPr>
        <p:txBody>
          <a:bodyPr lIns="0" tIns="0" rIns="0" bIns="0" anchor="t">
            <a:noAutofit/>
          </a:bodyPr>
          <a:lstStyle>
            <a:lvl1pPr algn="l">
              <a:lnSpc>
                <a:spcPct val="114000"/>
              </a:lnSpc>
              <a:buNone/>
              <a:defRPr sz="4400" b="1">
                <a:solidFill>
                  <a:schemeClr val="bg1"/>
                </a:solidFill>
                <a:latin typeface="Microsoft YaHei UI" panose="020B0503020204020204" charset="-122"/>
                <a:ea typeface="Microsoft YaHei UI" panose="020B0503020204020204" charset="-122"/>
              </a:defRPr>
            </a:lvl1pPr>
          </a:lstStyle>
          <a:p>
            <a:r>
              <a:rPr lang="zh-CN" altLang="en-US" smtClean="0"/>
              <a:t>目录</a:t>
            </a:r>
            <a:endParaRPr lang="zh-CN" altLang="en-US" smtClean="0"/>
          </a:p>
        </p:txBody>
      </p:sp>
      <p:sp>
        <p:nvSpPr>
          <p:cNvPr id="9" name="副标题 8"/>
          <p:cNvSpPr>
            <a:spLocks noGrp="1"/>
          </p:cNvSpPr>
          <p:nvPr>
            <p:ph type="subTitle" idx="14" hasCustomPrompt="1"/>
            <p:custDataLst>
              <p:tags r:id="rId7"/>
            </p:custDataLst>
          </p:nvPr>
        </p:nvSpPr>
        <p:spPr>
          <a:xfrm>
            <a:off x="1219197" y="2298701"/>
            <a:ext cx="2273299" cy="457200"/>
          </a:xfrm>
          <a:noFill/>
        </p:spPr>
        <p:txBody>
          <a:bodyPr lIns="0" tIns="0" rIns="0" bIns="0" anchor="t">
            <a:noAutofit/>
          </a:bodyPr>
          <a:lstStyle>
            <a:lvl1pPr marL="0" indent="0" algn="l">
              <a:lnSpc>
                <a:spcPct val="125000"/>
              </a:lnSpc>
              <a:buNone/>
              <a:defRPr sz="2400" b="1">
                <a:solidFill>
                  <a:schemeClr val="accent1"/>
                </a:solidFill>
                <a:latin typeface="Microsoft YaHei UI" panose="020B0503020204020204" charset="-122"/>
                <a:ea typeface="Microsoft YaHei UI"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CONTENTS</a:t>
            </a:r>
            <a:endParaRPr lang="zh-CN" alt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章节页-1">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8" name="任意多边形 7"/>
          <p:cNvSpPr/>
          <p:nvPr userDrawn="1">
            <p:custDataLst>
              <p:tags r:id="rId4"/>
            </p:custDataLst>
          </p:nvPr>
        </p:nvSpPr>
        <p:spPr>
          <a:xfrm>
            <a:off x="8072387" y="1204521"/>
            <a:ext cx="4119245" cy="5653405"/>
          </a:xfrm>
          <a:custGeom>
            <a:avLst/>
            <a:gdLst>
              <a:gd name="connisteX0" fmla="*/ 530562 w 57216"/>
              <a:gd name="connsiteY0" fmla="*/ 5653451 h 78520"/>
              <a:gd name="connisteX1" fmla="*/ 3730971 w 57216"/>
              <a:gd name="connsiteY1" fmla="*/ 5653451 h 78520"/>
              <a:gd name="connisteX2" fmla="*/ 3274000 w 57216"/>
              <a:gd name="connsiteY2" fmla="*/ 5121517 h 78520"/>
              <a:gd name="connisteX3" fmla="*/ 3273707 w 57216"/>
              <a:gd name="connsiteY3" fmla="*/ 4724631 h 78520"/>
              <a:gd name="connisteX4" fmla="*/ 4119609 w 57216"/>
              <a:gd name="connsiteY4" fmla="*/ 3736915 h 78520"/>
              <a:gd name="connisteX5" fmla="*/ 4119609 w 57216"/>
              <a:gd name="connsiteY5" fmla="*/ 0 h 78520"/>
              <a:gd name="connisteX6" fmla="*/ 73298 w 57216"/>
              <a:gd name="connsiteY6" fmla="*/ 4724631 h 78520"/>
              <a:gd name="connisteX7" fmla="*/ 73600 w 57216"/>
              <a:gd name="connsiteY7" fmla="*/ 5121517 h 78520"/>
              <a:gd name="connisteX8" fmla="*/ 530562 w 57216"/>
              <a:gd name="connsiteY8" fmla="*/ 5653451 h 7852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119610" h="5653452">
                <a:moveTo>
                  <a:pt x="530562" y="5653452"/>
                </a:moveTo>
                <a:lnTo>
                  <a:pt x="3730971" y="5653452"/>
                </a:lnTo>
                <a:lnTo>
                  <a:pt x="3274000" y="5121518"/>
                </a:lnTo>
                <a:cubicBezTo>
                  <a:pt x="3175976" y="5007419"/>
                  <a:pt x="3175848" y="4838877"/>
                  <a:pt x="3273707" y="4724632"/>
                </a:cubicBezTo>
                <a:lnTo>
                  <a:pt x="4119610" y="3736915"/>
                </a:lnTo>
                <a:lnTo>
                  <a:pt x="4119610" y="0"/>
                </a:lnTo>
                <a:lnTo>
                  <a:pt x="73298" y="4724632"/>
                </a:lnTo>
                <a:cubicBezTo>
                  <a:pt x="-24542" y="4838877"/>
                  <a:pt x="-24414" y="5007419"/>
                  <a:pt x="73600" y="5121518"/>
                </a:cubicBezTo>
                <a:lnTo>
                  <a:pt x="530562" y="5653452"/>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11" name="矩形 10"/>
          <p:cNvSpPr/>
          <p:nvPr userDrawn="1">
            <p:custDataLst>
              <p:tags r:id="rId7"/>
            </p:custDataLst>
          </p:nvPr>
        </p:nvSpPr>
        <p:spPr>
          <a:xfrm>
            <a:off x="0" y="0"/>
            <a:ext cx="3606165" cy="6858000"/>
          </a:xfrm>
          <a:prstGeom prst="rect">
            <a:avLst/>
          </a:prstGeom>
          <a:solidFill>
            <a:schemeClr val="tx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任意多边形 11"/>
          <p:cNvSpPr/>
          <p:nvPr userDrawn="1">
            <p:custDataLst>
              <p:tags r:id="rId8"/>
            </p:custDataLst>
          </p:nvPr>
        </p:nvSpPr>
        <p:spPr>
          <a:xfrm>
            <a:off x="0" y="0"/>
            <a:ext cx="4641215" cy="6706870"/>
          </a:xfrm>
          <a:custGeom>
            <a:avLst/>
            <a:gdLst>
              <a:gd name="connisteX0" fmla="*/ 3782470 w 64462"/>
              <a:gd name="connsiteY0" fmla="*/ 0 h 93155"/>
              <a:gd name="connisteX1" fmla="*/ 4567720 w 64462"/>
              <a:gd name="connsiteY1" fmla="*/ 914089 h 93155"/>
              <a:gd name="connisteX2" fmla="*/ 4569156 w 64462"/>
              <a:gd name="connsiteY2" fmla="*/ 1309640 h 93155"/>
              <a:gd name="connisteX3" fmla="*/ 0 w 64462"/>
              <a:gd name="connsiteY3" fmla="*/ 6707215 h 93155"/>
              <a:gd name="connisteX4" fmla="*/ 0 w 64462"/>
              <a:gd name="connsiteY4" fmla="*/ 2926564 h 93155"/>
              <a:gd name="connisteX5" fmla="*/ 1368765 w 64462"/>
              <a:gd name="connsiteY5" fmla="*/ 1309640 h 93155"/>
              <a:gd name="connisteX6" fmla="*/ 1367320 w 64462"/>
              <a:gd name="connsiteY6" fmla="*/ 914089 h 93155"/>
              <a:gd name="connisteX7" fmla="*/ 582070 w 64462"/>
              <a:gd name="connsiteY7" fmla="*/ 0 h 93155"/>
              <a:gd name="connisteX8" fmla="*/ 3782470 w 64462"/>
              <a:gd name="connsiteY8" fmla="*/ 0 h 931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4641321" h="6707215">
                <a:moveTo>
                  <a:pt x="3782470" y="0"/>
                </a:moveTo>
                <a:lnTo>
                  <a:pt x="4567721" y="914089"/>
                </a:lnTo>
                <a:cubicBezTo>
                  <a:pt x="4665305" y="1027685"/>
                  <a:pt x="4665918" y="1195340"/>
                  <a:pt x="4569156" y="1309640"/>
                </a:cubicBezTo>
                <a:lnTo>
                  <a:pt x="0" y="6707215"/>
                </a:lnTo>
                <a:lnTo>
                  <a:pt x="0" y="2926565"/>
                </a:lnTo>
                <a:lnTo>
                  <a:pt x="1368765" y="1309640"/>
                </a:lnTo>
                <a:cubicBezTo>
                  <a:pt x="1465518" y="1195340"/>
                  <a:pt x="1464905" y="1027685"/>
                  <a:pt x="1367321" y="914089"/>
                </a:cubicBezTo>
                <a:lnTo>
                  <a:pt x="582070" y="0"/>
                </a:lnTo>
                <a:lnTo>
                  <a:pt x="3782470" y="0"/>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9" name="标题 8"/>
          <p:cNvSpPr>
            <a:spLocks noGrp="1"/>
          </p:cNvSpPr>
          <p:nvPr>
            <p:ph type="ctrTitle" idx="13" hasCustomPrompt="1"/>
            <p:custDataLst>
              <p:tags r:id="rId10"/>
            </p:custDataLst>
          </p:nvPr>
        </p:nvSpPr>
        <p:spPr>
          <a:xfrm>
            <a:off x="4724403" y="4635496"/>
            <a:ext cx="6248397" cy="1524003"/>
          </a:xfrm>
          <a:noFill/>
        </p:spPr>
        <p:txBody>
          <a:bodyPr lIns="0" tIns="0" rIns="0" bIns="0" anchor="t">
            <a:noAutofit/>
          </a:bodyPr>
          <a:lstStyle>
            <a:lvl1pPr algn="r">
              <a:lnSpc>
                <a:spcPct val="104000"/>
              </a:lnSpc>
              <a:buNone/>
              <a:defRPr sz="4800" b="1">
                <a:solidFill>
                  <a:schemeClr val="tx1"/>
                </a:solidFill>
                <a:latin typeface="Microsoft YaHei UI" panose="020B0503020204020204" charset="-122"/>
                <a:ea typeface="Microsoft YaHei UI" panose="020B0503020204020204" charset="-122"/>
              </a:defRPr>
            </a:lvl1pPr>
          </a:lstStyle>
          <a:p>
            <a:r>
              <a:rPr lang="zh-CN" altLang="en-US" smtClean="0"/>
              <a:t>章节页的标题内容标题</a:t>
            </a:r>
            <a:endParaRPr lang="zh-CN" altLang="en-US" smtClean="0"/>
          </a:p>
        </p:txBody>
      </p:sp>
      <p:sp>
        <p:nvSpPr>
          <p:cNvPr id="10" name="文本占位符 9"/>
          <p:cNvSpPr>
            <a:spLocks noGrp="1"/>
          </p:cNvSpPr>
          <p:nvPr>
            <p:ph type="body" idx="14" hasCustomPrompt="1"/>
            <p:custDataLst>
              <p:tags r:id="rId11"/>
            </p:custDataLst>
          </p:nvPr>
        </p:nvSpPr>
        <p:spPr>
          <a:xfrm>
            <a:off x="7512052" y="2082098"/>
            <a:ext cx="3435346" cy="2601313"/>
          </a:xfrm>
          <a:noFill/>
        </p:spPr>
        <p:txBody>
          <a:bodyPr lIns="0" tIns="0" rIns="0" bIns="0" anchor="t">
            <a:noAutofit/>
          </a:bodyPr>
          <a:lstStyle>
            <a:lvl1pPr algn="r">
              <a:lnSpc>
                <a:spcPct val="109000"/>
              </a:lnSpc>
              <a:buNone/>
              <a:defRPr sz="13000" b="0">
                <a:solidFill>
                  <a:schemeClr val="accent4"/>
                </a:solidFill>
                <a:latin typeface="Microsoft YaHei UI" panose="020B0503020204020204" charset="-122"/>
                <a:ea typeface="Microsoft YaHei UI" panose="020B0503020204020204" charset="-122"/>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zh-CN" altLang="en-US" smtClean="0"/>
              <a:t>01</a:t>
            </a:r>
            <a:endParaRPr lang="zh-CN" altLang="en-US"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pic>
        <p:nvPicPr>
          <p:cNvPr id="10" name="图片 9"/>
          <p:cNvPicPr/>
          <p:nvPr userDrawn="1">
            <p:custDataLst>
              <p:tags r:id="rId6"/>
            </p:custDataLst>
          </p:nvPr>
        </p:nvPicPr>
        <p:blipFill>
          <a:blip r:embed="rId7"/>
          <a:stretch>
            <a:fillRect/>
          </a:stretch>
        </p:blipFill>
        <p:spPr>
          <a:xfrm>
            <a:off x="1218565" y="686435"/>
            <a:ext cx="254000" cy="40132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11" name="任意多边形 10"/>
          <p:cNvSpPr/>
          <p:nvPr userDrawn="1">
            <p:custDataLst>
              <p:tags r:id="rId8"/>
            </p:custDataLst>
          </p:nvPr>
        </p:nvSpPr>
        <p:spPr>
          <a:xfrm flipV="1">
            <a:off x="7442201" y="0"/>
            <a:ext cx="4749165" cy="6858000"/>
          </a:xfrm>
          <a:custGeom>
            <a:avLst/>
            <a:gdLst>
              <a:gd name="connisteX0" fmla="*/ 3411096 w 65969"/>
              <a:gd name="connsiteY0" fmla="*/ 6858000 h 95250"/>
              <a:gd name="connisteX1" fmla="*/ 71798 w 65969"/>
              <a:gd name="connsiteY1" fmla="*/ 2889741 h 95250"/>
              <a:gd name="connisteX2" fmla="*/ 73499 w 65969"/>
              <a:gd name="connsiteY2" fmla="*/ 2493788 h 95250"/>
              <a:gd name="connisteX3" fmla="*/ 2209126 w 65969"/>
              <a:gd name="connsiteY3" fmla="*/ 0 h 95250"/>
              <a:gd name="connisteX4" fmla="*/ 4749795 w 65969"/>
              <a:gd name="connsiteY4" fmla="*/ 0 h 95250"/>
              <a:gd name="connisteX5" fmla="*/ 4749795 w 65969"/>
              <a:gd name="connsiteY5" fmla="*/ 765599 h 95250"/>
              <a:gd name="connisteX6" fmla="*/ 3269830 w 65969"/>
              <a:gd name="connsiteY6" fmla="*/ 2493788 h 95250"/>
              <a:gd name="connisteX7" fmla="*/ 3268120 w 65969"/>
              <a:gd name="connsiteY7" fmla="*/ 2889741 h 95250"/>
              <a:gd name="connisteX8" fmla="*/ 4749795 w 65969"/>
              <a:gd name="connsiteY8" fmla="*/ 4650501 h 95250"/>
              <a:gd name="connisteX9" fmla="*/ 4749795 w 65969"/>
              <a:gd name="connsiteY9" fmla="*/ 6858000 h 95250"/>
              <a:gd name="connisteX10" fmla="*/ 3411096 w 65969"/>
              <a:gd name="connsiteY10" fmla="*/ 685800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Lst>
            <a:pathLst>
              <a:path w="4749796" h="6858000">
                <a:moveTo>
                  <a:pt x="3411096" y="6858000"/>
                </a:moveTo>
                <a:lnTo>
                  <a:pt x="71799" y="2889742"/>
                </a:lnTo>
                <a:cubicBezTo>
                  <a:pt x="-24570" y="2775213"/>
                  <a:pt x="-23848" y="2607466"/>
                  <a:pt x="73499" y="2493788"/>
                </a:cubicBezTo>
                <a:lnTo>
                  <a:pt x="2209126" y="0"/>
                </a:lnTo>
                <a:lnTo>
                  <a:pt x="4749796" y="0"/>
                </a:lnTo>
                <a:lnTo>
                  <a:pt x="4749796" y="765600"/>
                </a:lnTo>
                <a:lnTo>
                  <a:pt x="3269830" y="2493788"/>
                </a:lnTo>
                <a:cubicBezTo>
                  <a:pt x="3172474" y="2607466"/>
                  <a:pt x="3171752" y="2775213"/>
                  <a:pt x="3268120" y="2889742"/>
                </a:cubicBezTo>
                <a:lnTo>
                  <a:pt x="4749796" y="4650501"/>
                </a:lnTo>
                <a:lnTo>
                  <a:pt x="4749796" y="6858000"/>
                </a:lnTo>
                <a:lnTo>
                  <a:pt x="3411096" y="6858000"/>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8" name="副标题 7"/>
          <p:cNvSpPr>
            <a:spLocks noGrp="1"/>
          </p:cNvSpPr>
          <p:nvPr>
            <p:ph type="subTitle" idx="13" hasCustomPrompt="1"/>
            <p:custDataLst>
              <p:tags r:id="rId10"/>
            </p:custDataLst>
          </p:nvPr>
        </p:nvSpPr>
        <p:spPr>
          <a:xfrm>
            <a:off x="1219197" y="3174998"/>
            <a:ext cx="5524503" cy="457200"/>
          </a:xfrm>
          <a:noFill/>
        </p:spPr>
        <p:txBody>
          <a:bodyPr lIns="0" tIns="0" rIns="0" bIns="0" anchor="t">
            <a:noAutofit/>
          </a:bodyPr>
          <a:lstStyle>
            <a:lvl1pPr marL="0" indent="0" algn="l">
              <a:lnSpc>
                <a:spcPct val="125000"/>
              </a:lnSpc>
              <a:buNone/>
              <a:defRPr sz="2400" b="1">
                <a:solidFill>
                  <a:schemeClr val="accent1"/>
                </a:solidFill>
                <a:latin typeface="Microsoft YaHei UI" panose="020B0503020204020204" charset="-122"/>
                <a:ea typeface="Microsoft YaHei UI"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THE END</a:t>
            </a:r>
            <a:endParaRPr lang="zh-CN" altLang="en-US" smtClean="0"/>
          </a:p>
        </p:txBody>
      </p:sp>
      <p:sp>
        <p:nvSpPr>
          <p:cNvPr id="9" name="标题 8"/>
          <p:cNvSpPr>
            <a:spLocks noGrp="1"/>
          </p:cNvSpPr>
          <p:nvPr>
            <p:ph type="ctrTitle" idx="14" hasCustomPrompt="1"/>
            <p:custDataLst>
              <p:tags r:id="rId11"/>
            </p:custDataLst>
          </p:nvPr>
        </p:nvSpPr>
        <p:spPr>
          <a:xfrm>
            <a:off x="1219197" y="3632198"/>
            <a:ext cx="5651504" cy="1015999"/>
          </a:xfrm>
          <a:noFill/>
        </p:spPr>
        <p:txBody>
          <a:bodyPr lIns="0" tIns="0" rIns="0" bIns="0" anchor="t">
            <a:noAutofit/>
          </a:bodyPr>
          <a:lstStyle>
            <a:lvl1pPr algn="l">
              <a:lnSpc>
                <a:spcPct val="104000"/>
              </a:lnSpc>
              <a:buNone/>
              <a:defRPr sz="6400" b="1">
                <a:solidFill>
                  <a:schemeClr val="bg1"/>
                </a:solidFill>
                <a:latin typeface="Microsoft YaHei UI" panose="020B0503020204020204" charset="-122"/>
                <a:ea typeface="Microsoft YaHei UI" panose="020B0503020204020204" charset="-122"/>
              </a:defRPr>
            </a:lvl1pPr>
          </a:lstStyle>
          <a:p>
            <a:r>
              <a:rPr lang="zh-CN" altLang="en-US" smtClean="0"/>
              <a:t>谢谢观看</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2.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7" Type="http://schemas.openxmlformats.org/officeDocument/2006/relationships/slideLayout" Target="../slideLayouts/slideLayout14.xml"/><Relationship Id="rId16" Type="http://schemas.openxmlformats.org/officeDocument/2006/relationships/tags" Target="../tags/tag161.xml"/><Relationship Id="rId15" Type="http://schemas.openxmlformats.org/officeDocument/2006/relationships/tags" Target="../tags/tag160.xml"/><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4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s>
</file>

<file path=ppt/slides/_rels/slide4.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1" Type="http://schemas.openxmlformats.org/officeDocument/2006/relationships/slideLayout" Target="../slideLayouts/slideLayout18.xml"/><Relationship Id="rId20" Type="http://schemas.openxmlformats.org/officeDocument/2006/relationships/tags" Target="../tags/tag183.xml"/><Relationship Id="rId2" Type="http://schemas.openxmlformats.org/officeDocument/2006/relationships/image" Target="../media/image4.png"/><Relationship Id="rId19" Type="http://schemas.openxmlformats.org/officeDocument/2006/relationships/tags" Target="../tags/tag182.xml"/><Relationship Id="rId18" Type="http://schemas.openxmlformats.org/officeDocument/2006/relationships/tags" Target="../tags/tag181.xml"/><Relationship Id="rId17" Type="http://schemas.openxmlformats.org/officeDocument/2006/relationships/tags" Target="../tags/tag180.xml"/><Relationship Id="rId16" Type="http://schemas.openxmlformats.org/officeDocument/2006/relationships/tags" Target="../tags/tag179.xml"/><Relationship Id="rId15" Type="http://schemas.openxmlformats.org/officeDocument/2006/relationships/tags" Target="../tags/tag178.xml"/><Relationship Id="rId14" Type="http://schemas.openxmlformats.org/officeDocument/2006/relationships/tags" Target="../tags/tag177.xml"/><Relationship Id="rId13" Type="http://schemas.openxmlformats.org/officeDocument/2006/relationships/tags" Target="../tags/tag176.xml"/><Relationship Id="rId12" Type="http://schemas.openxmlformats.org/officeDocument/2006/relationships/tags" Target="../tags/tag175.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tags" Target="../tags/tag165.xml"/></Relationships>
</file>

<file path=ppt/slides/_rels/slide5.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image" Target="../media/image6.png"/><Relationship Id="rId2" Type="http://schemas.openxmlformats.org/officeDocument/2006/relationships/image" Target="../media/image5.jpeg"/><Relationship Id="rId18" Type="http://schemas.openxmlformats.org/officeDocument/2006/relationships/slideLayout" Target="../slideLayouts/slideLayout18.xml"/><Relationship Id="rId17" Type="http://schemas.openxmlformats.org/officeDocument/2006/relationships/tags" Target="../tags/tag198.xml"/><Relationship Id="rId16" Type="http://schemas.openxmlformats.org/officeDocument/2006/relationships/tags" Target="../tags/tag197.xml"/><Relationship Id="rId15" Type="http://schemas.openxmlformats.org/officeDocument/2006/relationships/tags" Target="../tags/tag196.xml"/><Relationship Id="rId14" Type="http://schemas.openxmlformats.org/officeDocument/2006/relationships/tags" Target="../tags/tag195.xml"/><Relationship Id="rId13" Type="http://schemas.openxmlformats.org/officeDocument/2006/relationships/tags" Target="../tags/tag194.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7.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image" Target="../media/image6.png"/><Relationship Id="rId4" Type="http://schemas.openxmlformats.org/officeDocument/2006/relationships/image" Target="../media/image7.jpeg"/><Relationship Id="rId3" Type="http://schemas.openxmlformats.org/officeDocument/2006/relationships/tags" Target="../tags/tag204.xml"/><Relationship Id="rId2" Type="http://schemas.openxmlformats.org/officeDocument/2006/relationships/tags" Target="../tags/tag203.xml"/><Relationship Id="rId14" Type="http://schemas.openxmlformats.org/officeDocument/2006/relationships/slideLayout" Target="../slideLayouts/slideLayout18.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tags" Target="../tags/tag20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image" Target="../media/image10.svg"/><Relationship Id="rId5" Type="http://schemas.openxmlformats.org/officeDocument/2006/relationships/image" Target="../media/image9.png"/><Relationship Id="rId40" Type="http://schemas.openxmlformats.org/officeDocument/2006/relationships/slideLayout" Target="../slideLayouts/slideLayout18.xml"/><Relationship Id="rId4" Type="http://schemas.openxmlformats.org/officeDocument/2006/relationships/tags" Target="../tags/tag216.xml"/><Relationship Id="rId39" Type="http://schemas.openxmlformats.org/officeDocument/2006/relationships/tags" Target="../tags/tag239.xml"/><Relationship Id="rId38" Type="http://schemas.openxmlformats.org/officeDocument/2006/relationships/tags" Target="../tags/tag238.xml"/><Relationship Id="rId37" Type="http://schemas.openxmlformats.org/officeDocument/2006/relationships/tags" Target="../tags/tag237.xml"/><Relationship Id="rId36" Type="http://schemas.openxmlformats.org/officeDocument/2006/relationships/image" Target="../media/image20.svg"/><Relationship Id="rId35" Type="http://schemas.openxmlformats.org/officeDocument/2006/relationships/image" Target="../media/image19.png"/><Relationship Id="rId34" Type="http://schemas.openxmlformats.org/officeDocument/2006/relationships/tags" Target="../tags/tag236.xml"/><Relationship Id="rId33" Type="http://schemas.openxmlformats.org/officeDocument/2006/relationships/tags" Target="../tags/tag235.xml"/><Relationship Id="rId32" Type="http://schemas.openxmlformats.org/officeDocument/2006/relationships/tags" Target="../tags/tag234.xml"/><Relationship Id="rId31" Type="http://schemas.openxmlformats.org/officeDocument/2006/relationships/tags" Target="../tags/tag233.xml"/><Relationship Id="rId30" Type="http://schemas.openxmlformats.org/officeDocument/2006/relationships/image" Target="../media/image18.svg"/><Relationship Id="rId3" Type="http://schemas.openxmlformats.org/officeDocument/2006/relationships/tags" Target="../tags/tag215.xml"/><Relationship Id="rId29" Type="http://schemas.openxmlformats.org/officeDocument/2006/relationships/image" Target="../media/image17.png"/><Relationship Id="rId28" Type="http://schemas.openxmlformats.org/officeDocument/2006/relationships/tags" Target="../tags/tag232.xml"/><Relationship Id="rId27" Type="http://schemas.openxmlformats.org/officeDocument/2006/relationships/tags" Target="../tags/tag231.xml"/><Relationship Id="rId26" Type="http://schemas.openxmlformats.org/officeDocument/2006/relationships/tags" Target="../tags/tag230.xml"/><Relationship Id="rId25" Type="http://schemas.openxmlformats.org/officeDocument/2006/relationships/tags" Target="../tags/tag229.xml"/><Relationship Id="rId24" Type="http://schemas.openxmlformats.org/officeDocument/2006/relationships/image" Target="../media/image16.svg"/><Relationship Id="rId23" Type="http://schemas.openxmlformats.org/officeDocument/2006/relationships/image" Target="../media/image15.png"/><Relationship Id="rId22" Type="http://schemas.openxmlformats.org/officeDocument/2006/relationships/tags" Target="../tags/tag228.xml"/><Relationship Id="rId21" Type="http://schemas.openxmlformats.org/officeDocument/2006/relationships/tags" Target="../tags/tag227.xml"/><Relationship Id="rId20" Type="http://schemas.openxmlformats.org/officeDocument/2006/relationships/tags" Target="../tags/tag226.xml"/><Relationship Id="rId2" Type="http://schemas.openxmlformats.org/officeDocument/2006/relationships/tags" Target="../tags/tag214.xml"/><Relationship Id="rId19" Type="http://schemas.openxmlformats.org/officeDocument/2006/relationships/tags" Target="../tags/tag225.xml"/><Relationship Id="rId18" Type="http://schemas.openxmlformats.org/officeDocument/2006/relationships/image" Target="../media/image14.svg"/><Relationship Id="rId17" Type="http://schemas.openxmlformats.org/officeDocument/2006/relationships/image" Target="../media/image13.png"/><Relationship Id="rId16" Type="http://schemas.openxmlformats.org/officeDocument/2006/relationships/tags" Target="../tags/tag224.xml"/><Relationship Id="rId15" Type="http://schemas.openxmlformats.org/officeDocument/2006/relationships/tags" Target="../tags/tag223.xml"/><Relationship Id="rId14" Type="http://schemas.openxmlformats.org/officeDocument/2006/relationships/tags" Target="../tags/tag222.xml"/><Relationship Id="rId13" Type="http://schemas.openxmlformats.org/officeDocument/2006/relationships/tags" Target="../tags/tag221.xml"/><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tags" Target="../tags/tag220.xml"/><Relationship Id="rId1" Type="http://schemas.openxmlformats.org/officeDocument/2006/relationships/tags" Target="../tags/tag21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22.pn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12.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image" Target="../media/image6.png"/><Relationship Id="rId4" Type="http://schemas.openxmlformats.org/officeDocument/2006/relationships/image" Target="../media/image23.jpeg"/><Relationship Id="rId3" Type="http://schemas.openxmlformats.org/officeDocument/2006/relationships/tags" Target="../tags/tag245.xml"/><Relationship Id="rId2" Type="http://schemas.openxmlformats.org/officeDocument/2006/relationships/tags" Target="../tags/tag244.xml"/><Relationship Id="rId19" Type="http://schemas.openxmlformats.org/officeDocument/2006/relationships/slideLayout" Target="../slideLayouts/slideLayout18.xml"/><Relationship Id="rId18" Type="http://schemas.openxmlformats.org/officeDocument/2006/relationships/tags" Target="../tags/tag258.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tags" Target="../tags/tag243.xml"/></Relationships>
</file>

<file path=ppt/slides/_rels/slide13.xml.rels><?xml version="1.0" encoding="UTF-8" standalone="yes"?>
<Relationships xmlns="http://schemas.openxmlformats.org/package/2006/relationships"><Relationship Id="rId9" Type="http://schemas.openxmlformats.org/officeDocument/2006/relationships/tags" Target="../tags/tag265.xml"/><Relationship Id="rId8" Type="http://schemas.openxmlformats.org/officeDocument/2006/relationships/image" Target="../media/image6.png"/><Relationship Id="rId7" Type="http://schemas.openxmlformats.org/officeDocument/2006/relationships/image" Target="../media/image24.jpeg"/><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7" Type="http://schemas.openxmlformats.org/officeDocument/2006/relationships/slideLayout" Target="../slideLayouts/slideLayout18.xml"/><Relationship Id="rId26" Type="http://schemas.openxmlformats.org/officeDocument/2006/relationships/tags" Target="../tags/tag279.xml"/><Relationship Id="rId25" Type="http://schemas.openxmlformats.org/officeDocument/2006/relationships/tags" Target="../tags/tag278.xml"/><Relationship Id="rId24" Type="http://schemas.openxmlformats.org/officeDocument/2006/relationships/tags" Target="../tags/tag277.xml"/><Relationship Id="rId23" Type="http://schemas.openxmlformats.org/officeDocument/2006/relationships/tags" Target="../tags/tag276.xml"/><Relationship Id="rId22" Type="http://schemas.openxmlformats.org/officeDocument/2006/relationships/tags" Target="../tags/tag275.xml"/><Relationship Id="rId21" Type="http://schemas.openxmlformats.org/officeDocument/2006/relationships/tags" Target="../tags/tag274.xml"/><Relationship Id="rId20" Type="http://schemas.openxmlformats.org/officeDocument/2006/relationships/tags" Target="../tags/tag273.xml"/><Relationship Id="rId2" Type="http://schemas.openxmlformats.org/officeDocument/2006/relationships/tags" Target="../tags/tag260.xml"/><Relationship Id="rId19" Type="http://schemas.openxmlformats.org/officeDocument/2006/relationships/image" Target="../media/image27.jpeg"/><Relationship Id="rId18" Type="http://schemas.openxmlformats.org/officeDocument/2006/relationships/tags" Target="../tags/tag272.xml"/><Relationship Id="rId17" Type="http://schemas.openxmlformats.org/officeDocument/2006/relationships/tags" Target="../tags/tag271.xml"/><Relationship Id="rId16" Type="http://schemas.openxmlformats.org/officeDocument/2006/relationships/tags" Target="../tags/tag270.xml"/><Relationship Id="rId15" Type="http://schemas.openxmlformats.org/officeDocument/2006/relationships/image" Target="../media/image26.jpeg"/><Relationship Id="rId14" Type="http://schemas.openxmlformats.org/officeDocument/2006/relationships/tags" Target="../tags/tag269.xml"/><Relationship Id="rId13" Type="http://schemas.openxmlformats.org/officeDocument/2006/relationships/tags" Target="../tags/tag268.xml"/><Relationship Id="rId12" Type="http://schemas.openxmlformats.org/officeDocument/2006/relationships/tags" Target="../tags/tag267.xml"/><Relationship Id="rId11" Type="http://schemas.openxmlformats.org/officeDocument/2006/relationships/image" Target="../media/image25.jpeg"/><Relationship Id="rId10" Type="http://schemas.openxmlformats.org/officeDocument/2006/relationships/tags" Target="../tags/tag266.xml"/><Relationship Id="rId1" Type="http://schemas.openxmlformats.org/officeDocument/2006/relationships/tags" Target="../tags/tag259.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0.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1.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19.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image" Target="../media/image6.png"/><Relationship Id="rId6" Type="http://schemas.openxmlformats.org/officeDocument/2006/relationships/image" Target="../media/image32.jpeg"/><Relationship Id="rId5" Type="http://schemas.openxmlformats.org/officeDocument/2006/relationships/tags" Target="../tags/tag287.xml"/><Relationship Id="rId4" Type="http://schemas.openxmlformats.org/officeDocument/2006/relationships/tags" Target="../tags/tag286.xml"/><Relationship Id="rId3" Type="http://schemas.openxmlformats.org/officeDocument/2006/relationships/tags" Target="../tags/tag285.xml"/><Relationship Id="rId22" Type="http://schemas.openxmlformats.org/officeDocument/2006/relationships/slideLayout" Target="../slideLayouts/slideLayout18.xml"/><Relationship Id="rId21" Type="http://schemas.openxmlformats.org/officeDocument/2006/relationships/tags" Target="../tags/tag299.xml"/><Relationship Id="rId20" Type="http://schemas.openxmlformats.org/officeDocument/2006/relationships/tags" Target="../tags/tag298.xml"/><Relationship Id="rId2" Type="http://schemas.openxmlformats.org/officeDocument/2006/relationships/tags" Target="../tags/tag284.xml"/><Relationship Id="rId19" Type="http://schemas.openxmlformats.org/officeDocument/2006/relationships/tags" Target="../tags/tag297.xml"/><Relationship Id="rId18" Type="http://schemas.openxmlformats.org/officeDocument/2006/relationships/tags" Target="../tags/tag296.xml"/><Relationship Id="rId17" Type="http://schemas.openxmlformats.org/officeDocument/2006/relationships/tags" Target="../tags/tag295.xml"/><Relationship Id="rId16" Type="http://schemas.openxmlformats.org/officeDocument/2006/relationships/tags" Target="../tags/tag294.xml"/><Relationship Id="rId15" Type="http://schemas.openxmlformats.org/officeDocument/2006/relationships/image" Target="../media/image34.jpeg"/><Relationship Id="rId14" Type="http://schemas.openxmlformats.org/officeDocument/2006/relationships/tags" Target="../tags/tag293.xml"/><Relationship Id="rId13" Type="http://schemas.openxmlformats.org/officeDocument/2006/relationships/image" Target="../media/image33.jpeg"/><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tags" Target="../tags/tag283.xml"/></Relationships>
</file>

<file path=ppt/slides/_rels/slide20.xml.rels><?xml version="1.0" encoding="UTF-8" standalone="yes"?>
<Relationships xmlns="http://schemas.openxmlformats.org/package/2006/relationships"><Relationship Id="rId9" Type="http://schemas.openxmlformats.org/officeDocument/2006/relationships/tags" Target="../tags/tag308.xml"/><Relationship Id="rId8" Type="http://schemas.openxmlformats.org/officeDocument/2006/relationships/tags" Target="../tags/tag307.xml"/><Relationship Id="rId7" Type="http://schemas.openxmlformats.org/officeDocument/2006/relationships/tags" Target="../tags/tag306.xml"/><Relationship Id="rId6" Type="http://schemas.openxmlformats.org/officeDocument/2006/relationships/tags" Target="../tags/tag305.xml"/><Relationship Id="rId5" Type="http://schemas.openxmlformats.org/officeDocument/2006/relationships/tags" Target="../tags/tag304.xml"/><Relationship Id="rId4" Type="http://schemas.openxmlformats.org/officeDocument/2006/relationships/tags" Target="../tags/tag303.xml"/><Relationship Id="rId3" Type="http://schemas.openxmlformats.org/officeDocument/2006/relationships/tags" Target="../tags/tag302.xml"/><Relationship Id="rId20" Type="http://schemas.openxmlformats.org/officeDocument/2006/relationships/slideLayout" Target="../slideLayouts/slideLayout18.xml"/><Relationship Id="rId2" Type="http://schemas.openxmlformats.org/officeDocument/2006/relationships/tags" Target="../tags/tag301.xml"/><Relationship Id="rId19" Type="http://schemas.openxmlformats.org/officeDocument/2006/relationships/tags" Target="../tags/tag316.xml"/><Relationship Id="rId18" Type="http://schemas.openxmlformats.org/officeDocument/2006/relationships/image" Target="../media/image6.png"/><Relationship Id="rId17" Type="http://schemas.openxmlformats.org/officeDocument/2006/relationships/image" Target="../media/image35.jpeg"/><Relationship Id="rId16" Type="http://schemas.openxmlformats.org/officeDocument/2006/relationships/tags" Target="../tags/tag315.xml"/><Relationship Id="rId15" Type="http://schemas.openxmlformats.org/officeDocument/2006/relationships/tags" Target="../tags/tag314.xml"/><Relationship Id="rId14" Type="http://schemas.openxmlformats.org/officeDocument/2006/relationships/tags" Target="../tags/tag313.xml"/><Relationship Id="rId13" Type="http://schemas.openxmlformats.org/officeDocument/2006/relationships/tags" Target="../tags/tag312.xml"/><Relationship Id="rId12" Type="http://schemas.openxmlformats.org/officeDocument/2006/relationships/tags" Target="../tags/tag311.xml"/><Relationship Id="rId11" Type="http://schemas.openxmlformats.org/officeDocument/2006/relationships/tags" Target="../tags/tag310.xml"/><Relationship Id="rId10" Type="http://schemas.openxmlformats.org/officeDocument/2006/relationships/tags" Target="../tags/tag309.xml"/><Relationship Id="rId1" Type="http://schemas.openxmlformats.org/officeDocument/2006/relationships/tags" Target="../tags/tag30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ctrTitle" idx="13"/>
            <p:custDataLst>
              <p:tags r:id="rId1"/>
            </p:custDataLst>
          </p:nvPr>
        </p:nvSpPr>
        <p:spPr/>
        <p:txBody>
          <a:bodyPr/>
          <a:p>
            <a:r>
              <a:rPr lang="zh-CN" altLang="en-US"/>
              <a:t>基于</a:t>
            </a:r>
            <a:r>
              <a:rPr lang="en-US" altLang="zh-CN"/>
              <a:t>Raft</a:t>
            </a:r>
            <a:r>
              <a:rPr lang="zh-CN" altLang="en-US"/>
              <a:t>算法的分布式数据库构建</a:t>
            </a:r>
            <a:endParaRPr lang="zh-CN" altLang="en-US"/>
          </a:p>
        </p:txBody>
      </p:sp>
      <p:sp>
        <p:nvSpPr>
          <p:cNvPr id="6" name="文本占位符 5"/>
          <p:cNvSpPr>
            <a:spLocks noGrp="1"/>
          </p:cNvSpPr>
          <p:nvPr>
            <p:ph type="body" idx="14"/>
            <p:custDataLst>
              <p:tags r:id="rId2"/>
            </p:custDataLst>
          </p:nvPr>
        </p:nvSpPr>
        <p:spPr/>
        <p:txBody>
          <a:bodyPr/>
          <a:p>
            <a:r>
              <a:rPr lang="zh-CN" altLang="en-US"/>
              <a:t>汇报人：</a:t>
            </a:r>
            <a:r>
              <a:rPr lang="zh-CN" altLang="en-US"/>
              <a:t>张皓然</a:t>
            </a:r>
            <a:endParaRPr lang="zh-CN" altLang="en-US"/>
          </a:p>
        </p:txBody>
      </p:sp>
      <p:sp>
        <p:nvSpPr>
          <p:cNvPr id="7" name="文本占位符 6"/>
          <p:cNvSpPr>
            <a:spLocks noGrp="1"/>
          </p:cNvSpPr>
          <p:nvPr>
            <p:ph type="body" idx="15"/>
            <p:custDataLst>
              <p:tags r:id="rId3"/>
            </p:custDataLst>
          </p:nvPr>
        </p:nvSpPr>
        <p:spPr/>
        <p:txBody>
          <a:bodyPr/>
          <a:p>
            <a:r>
              <a:rPr lang="en-US" altLang="en-US"/>
              <a:t>2025/05/31</a:t>
            </a:r>
            <a:endParaRPr lang="en-US" alt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标题 11"/>
          <p:cNvSpPr>
            <a:spLocks noGrp="1"/>
          </p:cNvSpPr>
          <p:nvPr>
            <p:ph type="ctrTitle" idx="13"/>
            <p:custDataLst>
              <p:tags r:id="rId1"/>
            </p:custDataLst>
          </p:nvPr>
        </p:nvSpPr>
        <p:spPr>
          <a:xfrm>
            <a:off x="869947" y="1536703"/>
            <a:ext cx="2336804" cy="761997"/>
          </a:xfrm>
        </p:spPr>
        <p:txBody>
          <a:bodyPr/>
          <a:p>
            <a:r>
              <a:rPr lang="zh-CN" altLang="en-US"/>
              <a:t>目录</a:t>
            </a:r>
            <a:endParaRPr lang="zh-CN" altLang="en-US"/>
          </a:p>
        </p:txBody>
      </p:sp>
      <p:sp>
        <p:nvSpPr>
          <p:cNvPr id="13" name="副标题 12"/>
          <p:cNvSpPr>
            <a:spLocks noGrp="1"/>
          </p:cNvSpPr>
          <p:nvPr>
            <p:ph type="subTitle" idx="14"/>
            <p:custDataLst>
              <p:tags r:id="rId2"/>
            </p:custDataLst>
          </p:nvPr>
        </p:nvSpPr>
        <p:spPr>
          <a:xfrm>
            <a:off x="869947" y="2311401"/>
            <a:ext cx="2273299" cy="457200"/>
          </a:xfrm>
        </p:spPr>
        <p:txBody>
          <a:bodyPr/>
          <a:p>
            <a:r>
              <a:rPr lang="zh-CN" altLang="en-US"/>
              <a:t>CONTENTS</a:t>
            </a:r>
            <a:endParaRPr lang="zh-CN" altLang="en-US"/>
          </a:p>
        </p:txBody>
      </p:sp>
      <p:grpSp>
        <p:nvGrpSpPr>
          <p:cNvPr id="14" name="组合 13"/>
          <p:cNvGrpSpPr/>
          <p:nvPr>
            <p:custDataLst>
              <p:tags r:id="rId3"/>
            </p:custDataLst>
          </p:nvPr>
        </p:nvGrpSpPr>
        <p:grpSpPr>
          <a:xfrm>
            <a:off x="3836035" y="2728595"/>
            <a:ext cx="6052820" cy="2776855"/>
            <a:chOff x="7180" y="3967"/>
            <a:chExt cx="9532" cy="4373"/>
          </a:xfrm>
        </p:grpSpPr>
        <p:sp>
          <p:nvSpPr>
            <p:cNvPr id="2" name="文本框 1"/>
            <p:cNvSpPr txBox="1"/>
            <p:nvPr>
              <p:custDataLst>
                <p:tags r:id="rId4"/>
              </p:custDataLst>
            </p:nvPr>
          </p:nvSpPr>
          <p:spPr>
            <a:xfrm>
              <a:off x="7180" y="3991"/>
              <a:ext cx="2280" cy="2101"/>
            </a:xfrm>
            <a:prstGeom prst="rect">
              <a:avLst/>
            </a:prstGeom>
            <a:noFill/>
          </p:spPr>
          <p:txBody>
            <a:bodyPr wrap="square" lIns="0" tIns="0" rIns="0" bIns="0" rtlCol="0" anchor="ctr">
              <a:noAutofit/>
            </a:bodyPr>
            <a:p>
              <a:pPr algn="ctr">
                <a:lnSpc>
                  <a:spcPct val="109000"/>
                </a:lnSpc>
              </a:pPr>
              <a:r>
                <a:rPr lang="en-US" altLang="en-US" sz="8000">
                  <a:solidFill>
                    <a:schemeClr val="accent4"/>
                  </a:solidFill>
                  <a:latin typeface="Microsoft YaHei UI" panose="020B0503020204020204" charset="-122"/>
                  <a:ea typeface="Microsoft YaHei UI" panose="020B0503020204020204" charset="-122"/>
                </a:rPr>
                <a:t>01</a:t>
              </a:r>
              <a:endParaRPr lang="en-US" altLang="en-US" sz="8000">
                <a:solidFill>
                  <a:schemeClr val="accent4"/>
                </a:solidFill>
                <a:latin typeface="Microsoft YaHei UI" panose="020B0503020204020204" charset="-122"/>
                <a:ea typeface="Microsoft YaHei UI" panose="020B0503020204020204" charset="-122"/>
              </a:endParaRPr>
            </a:p>
          </p:txBody>
        </p:sp>
        <p:sp>
          <p:nvSpPr>
            <p:cNvPr id="3" name="矩形 2"/>
            <p:cNvSpPr/>
            <p:nvPr>
              <p:custDataLst>
                <p:tags r:id="rId5"/>
              </p:custDataLst>
            </p:nvPr>
          </p:nvSpPr>
          <p:spPr>
            <a:xfrm>
              <a:off x="7360" y="6480"/>
              <a:ext cx="2880" cy="20"/>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4" name="文本框 3"/>
            <p:cNvSpPr txBox="1"/>
            <p:nvPr>
              <p:custDataLst>
                <p:tags r:id="rId6"/>
              </p:custDataLst>
            </p:nvPr>
          </p:nvSpPr>
          <p:spPr>
            <a:xfrm>
              <a:off x="7360" y="6900"/>
              <a:ext cx="3000" cy="14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研究背景</a:t>
              </a:r>
              <a:endParaRPr lang="zh-CN" altLang="en-US" sz="2400">
                <a:solidFill>
                  <a:schemeClr val="tx1"/>
                </a:solidFill>
                <a:latin typeface="Microsoft YaHei UI" panose="020B0503020204020204" charset="-122"/>
                <a:ea typeface="Microsoft YaHei UI" panose="020B0503020204020204" charset="-122"/>
              </a:endParaRPr>
            </a:p>
          </p:txBody>
        </p:sp>
        <p:sp>
          <p:nvSpPr>
            <p:cNvPr id="5" name="文本框 4"/>
            <p:cNvSpPr txBox="1"/>
            <p:nvPr>
              <p:custDataLst>
                <p:tags r:id="rId7"/>
              </p:custDataLst>
            </p:nvPr>
          </p:nvSpPr>
          <p:spPr>
            <a:xfrm>
              <a:off x="10286" y="3967"/>
              <a:ext cx="2280" cy="2101"/>
            </a:xfrm>
            <a:prstGeom prst="rect">
              <a:avLst/>
            </a:prstGeom>
            <a:noFill/>
          </p:spPr>
          <p:txBody>
            <a:bodyPr wrap="square" lIns="0" tIns="0" rIns="0" bIns="0" rtlCol="0" anchor="ctr">
              <a:noAutofit/>
            </a:bodyPr>
            <a:p>
              <a:pPr algn="ctr">
                <a:lnSpc>
                  <a:spcPct val="109000"/>
                </a:lnSpc>
              </a:pPr>
              <a:r>
                <a:rPr lang="en-US" altLang="en-US" sz="8000">
                  <a:solidFill>
                    <a:schemeClr val="accent4"/>
                  </a:solidFill>
                  <a:latin typeface="Microsoft YaHei UI" panose="020B0503020204020204" charset="-122"/>
                  <a:ea typeface="Microsoft YaHei UI" panose="020B0503020204020204" charset="-122"/>
                </a:rPr>
                <a:t>02</a:t>
              </a:r>
              <a:endParaRPr lang="en-US" altLang="en-US" sz="8000">
                <a:solidFill>
                  <a:schemeClr val="accent4"/>
                </a:solidFill>
                <a:latin typeface="Microsoft YaHei UI" panose="020B0503020204020204" charset="-122"/>
                <a:ea typeface="Microsoft YaHei UI" panose="020B0503020204020204" charset="-122"/>
              </a:endParaRPr>
            </a:p>
          </p:txBody>
        </p:sp>
        <p:sp>
          <p:nvSpPr>
            <p:cNvPr id="6" name="矩形 5"/>
            <p:cNvSpPr/>
            <p:nvPr>
              <p:custDataLst>
                <p:tags r:id="rId8"/>
              </p:custDataLst>
            </p:nvPr>
          </p:nvSpPr>
          <p:spPr>
            <a:xfrm>
              <a:off x="10466" y="6456"/>
              <a:ext cx="2880" cy="20"/>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7" name="文本框 6"/>
            <p:cNvSpPr txBox="1"/>
            <p:nvPr>
              <p:custDataLst>
                <p:tags r:id="rId9"/>
              </p:custDataLst>
            </p:nvPr>
          </p:nvSpPr>
          <p:spPr>
            <a:xfrm>
              <a:off x="10666" y="6876"/>
              <a:ext cx="3000" cy="14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分布式数据库理论和</a:t>
              </a:r>
              <a:r>
                <a:rPr lang="en-US" altLang="zh-CN" sz="2400">
                  <a:solidFill>
                    <a:schemeClr val="tx1"/>
                  </a:solidFill>
                  <a:latin typeface="Microsoft YaHei UI" panose="020B0503020204020204" charset="-122"/>
                  <a:ea typeface="Microsoft YaHei UI" panose="020B0503020204020204" charset="-122"/>
                </a:rPr>
                <a:t>raft</a:t>
              </a:r>
              <a:r>
                <a:rPr lang="zh-CN" altLang="en-US" sz="2400">
                  <a:solidFill>
                    <a:schemeClr val="tx1"/>
                  </a:solidFill>
                  <a:latin typeface="Microsoft YaHei UI" panose="020B0503020204020204" charset="-122"/>
                  <a:ea typeface="Microsoft YaHei UI" panose="020B0503020204020204" charset="-122"/>
                </a:rPr>
                <a:t>算法研究</a:t>
              </a:r>
              <a:endParaRPr lang="zh-CN" altLang="en-US" sz="2400">
                <a:solidFill>
                  <a:schemeClr val="tx1"/>
                </a:solidFill>
                <a:latin typeface="Microsoft YaHei UI" panose="020B0503020204020204" charset="-122"/>
                <a:ea typeface="Microsoft YaHei UI" panose="020B0503020204020204" charset="-122"/>
              </a:endParaRPr>
            </a:p>
          </p:txBody>
        </p:sp>
        <p:sp>
          <p:nvSpPr>
            <p:cNvPr id="8" name="文本框 7"/>
            <p:cNvSpPr txBox="1"/>
            <p:nvPr>
              <p:custDataLst>
                <p:tags r:id="rId10"/>
              </p:custDataLst>
            </p:nvPr>
          </p:nvSpPr>
          <p:spPr>
            <a:xfrm>
              <a:off x="13532" y="3979"/>
              <a:ext cx="2280" cy="2101"/>
            </a:xfrm>
            <a:prstGeom prst="rect">
              <a:avLst/>
            </a:prstGeom>
            <a:noFill/>
          </p:spPr>
          <p:txBody>
            <a:bodyPr wrap="square" lIns="0" tIns="0" rIns="0" bIns="0" rtlCol="0" anchor="ctr">
              <a:noAutofit/>
            </a:bodyPr>
            <a:p>
              <a:pPr algn="ctr">
                <a:lnSpc>
                  <a:spcPct val="109000"/>
                </a:lnSpc>
              </a:pPr>
              <a:r>
                <a:rPr lang="en-US" altLang="en-US" sz="8000">
                  <a:solidFill>
                    <a:schemeClr val="accent4"/>
                  </a:solidFill>
                  <a:latin typeface="Microsoft YaHei UI" panose="020B0503020204020204" charset="-122"/>
                  <a:ea typeface="Microsoft YaHei UI" panose="020B0503020204020204" charset="-122"/>
                </a:rPr>
                <a:t>03</a:t>
              </a:r>
              <a:endParaRPr lang="en-US" altLang="en-US" sz="8000">
                <a:solidFill>
                  <a:schemeClr val="accent4"/>
                </a:solidFill>
                <a:latin typeface="Microsoft YaHei UI" panose="020B0503020204020204" charset="-122"/>
                <a:ea typeface="Microsoft YaHei UI" panose="020B0503020204020204" charset="-122"/>
              </a:endParaRPr>
            </a:p>
          </p:txBody>
        </p:sp>
        <p:sp>
          <p:nvSpPr>
            <p:cNvPr id="9" name="矩形 8"/>
            <p:cNvSpPr/>
            <p:nvPr>
              <p:custDataLst>
                <p:tags r:id="rId11"/>
              </p:custDataLst>
            </p:nvPr>
          </p:nvSpPr>
          <p:spPr>
            <a:xfrm>
              <a:off x="13712" y="6468"/>
              <a:ext cx="2880" cy="20"/>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10" name="文本框 9"/>
            <p:cNvSpPr txBox="1"/>
            <p:nvPr>
              <p:custDataLst>
                <p:tags r:id="rId12"/>
              </p:custDataLst>
            </p:nvPr>
          </p:nvSpPr>
          <p:spPr>
            <a:xfrm>
              <a:off x="13712" y="6888"/>
              <a:ext cx="3000" cy="14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分布式数据库</a:t>
              </a:r>
              <a:r>
                <a:rPr lang="zh-CN" altLang="en-US" sz="2400">
                  <a:solidFill>
                    <a:schemeClr val="tx1"/>
                  </a:solidFill>
                  <a:latin typeface="Microsoft YaHei UI" panose="020B0503020204020204" charset="-122"/>
                  <a:ea typeface="Microsoft YaHei UI" panose="020B0503020204020204" charset="-122"/>
                </a:rPr>
                <a:t>实现</a:t>
              </a:r>
              <a:endParaRPr lang="zh-CN" altLang="en-US" sz="2400">
                <a:solidFill>
                  <a:schemeClr val="tx1"/>
                </a:solidFill>
                <a:latin typeface="Microsoft YaHei UI" panose="020B0503020204020204" charset="-122"/>
                <a:ea typeface="Microsoft YaHei UI" panose="020B0503020204020204" charset="-122"/>
              </a:endParaRPr>
            </a:p>
          </p:txBody>
        </p:sp>
      </p:grpSp>
      <p:sp>
        <p:nvSpPr>
          <p:cNvPr id="11" name="文本框 10"/>
          <p:cNvSpPr txBox="1"/>
          <p:nvPr>
            <p:custDataLst>
              <p:tags r:id="rId13"/>
            </p:custDataLst>
          </p:nvPr>
        </p:nvSpPr>
        <p:spPr>
          <a:xfrm>
            <a:off x="9918065" y="2728595"/>
            <a:ext cx="1447800" cy="1334135"/>
          </a:xfrm>
          <a:prstGeom prst="rect">
            <a:avLst/>
          </a:prstGeom>
          <a:noFill/>
        </p:spPr>
        <p:txBody>
          <a:bodyPr wrap="square" lIns="0" tIns="0" rIns="0" bIns="0" rtlCol="0" anchor="ctr">
            <a:noAutofit/>
          </a:bodyPr>
          <a:p>
            <a:pPr algn="ctr">
              <a:lnSpc>
                <a:spcPct val="109000"/>
              </a:lnSpc>
            </a:pPr>
            <a:r>
              <a:rPr lang="en-US" altLang="en-US" sz="8000">
                <a:solidFill>
                  <a:schemeClr val="accent4"/>
                </a:solidFill>
                <a:latin typeface="Microsoft YaHei UI" panose="020B0503020204020204" charset="-122"/>
                <a:ea typeface="Microsoft YaHei UI" panose="020B0503020204020204" charset="-122"/>
              </a:rPr>
              <a:t>04</a:t>
            </a:r>
            <a:endParaRPr lang="en-US" altLang="en-US" sz="8000">
              <a:solidFill>
                <a:schemeClr val="accent4"/>
              </a:solidFill>
              <a:latin typeface="Microsoft YaHei UI" panose="020B0503020204020204" charset="-122"/>
              <a:ea typeface="Microsoft YaHei UI" panose="020B0503020204020204" charset="-122"/>
            </a:endParaRPr>
          </a:p>
        </p:txBody>
      </p:sp>
      <p:sp>
        <p:nvSpPr>
          <p:cNvPr id="15" name="矩形 14"/>
          <p:cNvSpPr/>
          <p:nvPr>
            <p:custDataLst>
              <p:tags r:id="rId14"/>
            </p:custDataLst>
          </p:nvPr>
        </p:nvSpPr>
        <p:spPr>
          <a:xfrm>
            <a:off x="10032365" y="4309110"/>
            <a:ext cx="1828800" cy="12700"/>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sp>
        <p:nvSpPr>
          <p:cNvPr id="16" name="文本框 15"/>
          <p:cNvSpPr txBox="1"/>
          <p:nvPr>
            <p:custDataLst>
              <p:tags r:id="rId15"/>
            </p:custDataLst>
          </p:nvPr>
        </p:nvSpPr>
        <p:spPr>
          <a:xfrm>
            <a:off x="10032365" y="4575810"/>
            <a:ext cx="1905000" cy="91440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总结与展望</a:t>
            </a:r>
            <a:endParaRPr lang="zh-CN" altLang="en-US" sz="2400">
              <a:solidFill>
                <a:schemeClr val="tx1"/>
              </a:solidFill>
              <a:latin typeface="Microsoft YaHei UI" panose="020B0503020204020204" charset="-122"/>
              <a:ea typeface="Microsoft YaHei UI" panose="020B0503020204020204" charset="-122"/>
            </a:endParaRPr>
          </a:p>
        </p:txBody>
      </p:sp>
    </p:spTree>
    <p:custDataLst>
      <p:tags r:id="rId1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idx="13"/>
            <p:custDataLst>
              <p:tags r:id="rId1"/>
            </p:custDataLst>
          </p:nvPr>
        </p:nvSpPr>
        <p:spPr/>
        <p:txBody>
          <a:bodyPr/>
          <a:p>
            <a:r>
              <a:rPr lang="zh-CN" altLang="en-US"/>
              <a:t>研究背景</a:t>
            </a:r>
            <a:endParaRPr lang="zh-CN" altLang="en-US"/>
          </a:p>
        </p:txBody>
      </p:sp>
      <p:sp>
        <p:nvSpPr>
          <p:cNvPr id="4" name="文本占位符 3"/>
          <p:cNvSpPr>
            <a:spLocks noGrp="1"/>
          </p:cNvSpPr>
          <p:nvPr>
            <p:ph type="body" idx="14"/>
            <p:custDataLst>
              <p:tags r:id="rId2"/>
            </p:custDataLst>
          </p:nvPr>
        </p:nvSpPr>
        <p:spPr/>
        <p:txBody>
          <a:bodyPr/>
          <a:p>
            <a:r>
              <a:rPr lang="en-US" altLang="en-US"/>
              <a:t>01</a:t>
            </a:r>
            <a:endParaRPr lang="en-US"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p:nvPr>
            <p:custDataLst>
              <p:tags r:id="rId1"/>
            </p:custDataLst>
          </p:nvPr>
        </p:nvPicPr>
        <p:blipFill>
          <a:blip r:embed="rId2"/>
          <a:stretch>
            <a:fillRect/>
          </a:stretch>
        </p:blipFill>
        <p:spPr>
          <a:xfrm>
            <a:off x="0" y="0"/>
            <a:ext cx="12191365" cy="685800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pic>
      <p:sp>
        <p:nvSpPr>
          <p:cNvPr id="2" name="标题 1"/>
          <p:cNvSpPr>
            <a:spLocks noGrp="1"/>
          </p:cNvSpPr>
          <p:nvPr>
            <p:ph type="title"/>
            <p:custDataLst>
              <p:tags r:id="rId3"/>
            </p:custDataLst>
          </p:nvPr>
        </p:nvSpPr>
        <p:spPr>
          <a:xfrm>
            <a:off x="539752" y="609603"/>
            <a:ext cx="11112502" cy="761997"/>
          </a:xfrm>
          <a:noFill/>
        </p:spPr>
        <p:txBody>
          <a:bodyPr lIns="0" tIns="0" rIns="0" bIns="0" anchor="t">
            <a:noAutofit/>
          </a:bodyPr>
          <a:p>
            <a:pPr algn="ctr">
              <a:lnSpc>
                <a:spcPct val="114000"/>
              </a:lnSpc>
            </a:pPr>
            <a:r>
              <a:rPr lang="zh-CN" altLang="en-US" sz="4400" b="1">
                <a:solidFill>
                  <a:schemeClr val="bg1"/>
                </a:solidFill>
                <a:latin typeface="Microsoft YaHei UI" panose="020B0503020204020204" charset="-122"/>
                <a:ea typeface="Microsoft YaHei UI" panose="020B0503020204020204" charset="-122"/>
              </a:rPr>
              <a:t>研究背景</a:t>
            </a:r>
            <a:endParaRPr lang="zh-CN" altLang="en-US" sz="4400" b="1">
              <a:solidFill>
                <a:schemeClr val="bg1"/>
              </a:solidFill>
              <a:latin typeface="Microsoft YaHei UI" panose="020B0503020204020204" charset="-122"/>
              <a:ea typeface="Microsoft YaHei UI" panose="020B0503020204020204" charset="-122"/>
            </a:endParaRPr>
          </a:p>
        </p:txBody>
      </p:sp>
      <p:grpSp>
        <p:nvGrpSpPr>
          <p:cNvPr id="20" name="组合 19"/>
          <p:cNvGrpSpPr/>
          <p:nvPr/>
        </p:nvGrpSpPr>
        <p:grpSpPr>
          <a:xfrm>
            <a:off x="609600" y="2311400"/>
            <a:ext cx="11049000" cy="3454400"/>
            <a:chOff x="960" y="3640"/>
            <a:chExt cx="17400" cy="5440"/>
          </a:xfrm>
        </p:grpSpPr>
        <p:sp>
          <p:nvSpPr>
            <p:cNvPr id="4" name="任意多边形 3"/>
            <p:cNvSpPr/>
            <p:nvPr>
              <p:custDataLst>
                <p:tags r:id="rId4"/>
              </p:custDataLst>
            </p:nvPr>
          </p:nvSpPr>
          <p:spPr>
            <a:xfrm>
              <a:off x="960" y="4040"/>
              <a:ext cx="1440" cy="1440"/>
            </a:xfrm>
            <a:custGeom>
              <a:avLst/>
              <a:gdLst>
                <a:gd name="connisteX0" fmla="*/ 0 w 12700"/>
                <a:gd name="connsiteY0" fmla="*/ 121916 h 12700"/>
                <a:gd name="connisteX1" fmla="*/ 121916 w 12700"/>
                <a:gd name="connsiteY1" fmla="*/ 0 h 12700"/>
                <a:gd name="connisteX2" fmla="*/ 792483 w 12700"/>
                <a:gd name="connsiteY2" fmla="*/ 0 h 12700"/>
                <a:gd name="connisteX3" fmla="*/ 914400 w 12700"/>
                <a:gd name="connsiteY3" fmla="*/ 121916 h 12700"/>
                <a:gd name="connisteX4" fmla="*/ 914400 w 12700"/>
                <a:gd name="connsiteY4" fmla="*/ 792483 h 12700"/>
                <a:gd name="connisteX5" fmla="*/ 792483 w 12700"/>
                <a:gd name="connsiteY5" fmla="*/ 914400 h 12700"/>
                <a:gd name="connisteX6" fmla="*/ 121916 w 12700"/>
                <a:gd name="connsiteY6" fmla="*/ 914400 h 12700"/>
                <a:gd name="connisteX7" fmla="*/ 0 w 12700"/>
                <a:gd name="connsiteY7" fmla="*/ 792483 h 12700"/>
                <a:gd name="connisteX8" fmla="*/ 0 w 12700"/>
                <a:gd name="connsiteY8" fmla="*/ 121916 h 127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121917"/>
                  </a:moveTo>
                  <a:cubicBezTo>
                    <a:pt x="0" y="54590"/>
                    <a:pt x="54590" y="0"/>
                    <a:pt x="121917" y="0"/>
                  </a:cubicBezTo>
                  <a:lnTo>
                    <a:pt x="792483" y="0"/>
                  </a:lnTo>
                  <a:cubicBezTo>
                    <a:pt x="859810" y="0"/>
                    <a:pt x="914400" y="54590"/>
                    <a:pt x="914400" y="121917"/>
                  </a:cubicBezTo>
                  <a:lnTo>
                    <a:pt x="914400" y="792483"/>
                  </a:lnTo>
                  <a:cubicBezTo>
                    <a:pt x="914400" y="859810"/>
                    <a:pt x="859810" y="914400"/>
                    <a:pt x="792483" y="914400"/>
                  </a:cubicBezTo>
                  <a:lnTo>
                    <a:pt x="121917" y="914400"/>
                  </a:lnTo>
                  <a:cubicBezTo>
                    <a:pt x="54590" y="914400"/>
                    <a:pt x="0" y="859810"/>
                    <a:pt x="0" y="792483"/>
                  </a:cubicBezTo>
                  <a:lnTo>
                    <a:pt x="0" y="12191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5"/>
              </p:custDataLst>
            </p:nvPr>
          </p:nvSpPr>
          <p:spPr>
            <a:xfrm>
              <a:off x="1160" y="4252"/>
              <a:ext cx="1040" cy="945"/>
            </a:xfrm>
            <a:prstGeom prst="rect">
              <a:avLst/>
            </a:prstGeom>
            <a:noFill/>
          </p:spPr>
          <p:txBody>
            <a:bodyPr wrap="square" lIns="0" tIns="0" rIns="0" bIns="0" rtlCol="0" anchor="ctr">
              <a:noAutofit/>
            </a:bodyPr>
            <a:p>
              <a:pPr algn="ctr">
                <a:lnSpc>
                  <a:spcPct val="109000"/>
                </a:lnSpc>
              </a:pPr>
              <a:r>
                <a:rPr lang="en-US" altLang="en-US" sz="3600">
                  <a:solidFill>
                    <a:schemeClr val="bg1"/>
                  </a:solidFill>
                  <a:latin typeface="Microsoft YaHei UI" panose="020B0503020204020204" charset="-122"/>
                  <a:ea typeface="Microsoft YaHei UI" panose="020B0503020204020204" charset="-122"/>
                </a:rPr>
                <a:t>01</a:t>
              </a:r>
              <a:endParaRPr lang="en-US" altLang="en-US" sz="3600">
                <a:solidFill>
                  <a:schemeClr val="bg1"/>
                </a:solidFill>
                <a:latin typeface="Microsoft YaHei UI" panose="020B0503020204020204" charset="-122"/>
                <a:ea typeface="Microsoft YaHei UI" panose="020B0503020204020204" charset="-122"/>
              </a:endParaRPr>
            </a:p>
          </p:txBody>
        </p:sp>
        <p:sp>
          <p:nvSpPr>
            <p:cNvPr id="6" name="文本框 5"/>
            <p:cNvSpPr txBox="1"/>
            <p:nvPr>
              <p:custDataLst>
                <p:tags r:id="rId6"/>
              </p:custDataLst>
            </p:nvPr>
          </p:nvSpPr>
          <p:spPr>
            <a:xfrm>
              <a:off x="2800" y="3640"/>
              <a:ext cx="644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数据增长与信息技术革新</a:t>
              </a:r>
              <a:endParaRPr lang="zh-CN" altLang="en-US" sz="2400">
                <a:solidFill>
                  <a:schemeClr val="bg1"/>
                </a:solidFill>
                <a:latin typeface="Microsoft YaHei UI" panose="020B0503020204020204" charset="-122"/>
                <a:ea typeface="Microsoft YaHei UI" panose="020B0503020204020204" charset="-122"/>
              </a:endParaRPr>
            </a:p>
          </p:txBody>
        </p:sp>
        <p:sp>
          <p:nvSpPr>
            <p:cNvPr id="7" name="文本框 6"/>
            <p:cNvSpPr txBox="1"/>
            <p:nvPr>
              <p:custDataLst>
                <p:tags r:id="rId7"/>
              </p:custDataLst>
            </p:nvPr>
          </p:nvSpPr>
          <p:spPr>
            <a:xfrm>
              <a:off x="2800" y="4440"/>
              <a:ext cx="640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数据爆炸式增长和信息技术的快速发展导致传统单机数据库面临性能和稳定性瓶颈。</a:t>
              </a:r>
              <a:endParaRPr lang="zh-CN" altLang="en-US" sz="1600">
                <a:solidFill>
                  <a:schemeClr val="bg1"/>
                </a:solidFill>
                <a:latin typeface="Microsoft YaHei UI" panose="020B0503020204020204" charset="-122"/>
                <a:ea typeface="Microsoft YaHei UI" panose="020B0503020204020204" charset="-122"/>
              </a:endParaRPr>
            </a:p>
          </p:txBody>
        </p:sp>
        <p:sp>
          <p:nvSpPr>
            <p:cNvPr id="8" name="任意多边形 7"/>
            <p:cNvSpPr/>
            <p:nvPr>
              <p:custDataLst>
                <p:tags r:id="rId8"/>
              </p:custDataLst>
            </p:nvPr>
          </p:nvSpPr>
          <p:spPr>
            <a:xfrm>
              <a:off x="960" y="7240"/>
              <a:ext cx="1440" cy="1440"/>
            </a:xfrm>
            <a:custGeom>
              <a:avLst/>
              <a:gdLst>
                <a:gd name="connisteX0" fmla="*/ 0 w 12700"/>
                <a:gd name="connsiteY0" fmla="*/ 121916 h 12700"/>
                <a:gd name="connisteX1" fmla="*/ 121916 w 12700"/>
                <a:gd name="connsiteY1" fmla="*/ 0 h 12700"/>
                <a:gd name="connisteX2" fmla="*/ 792483 w 12700"/>
                <a:gd name="connsiteY2" fmla="*/ 0 h 12700"/>
                <a:gd name="connisteX3" fmla="*/ 914400 w 12700"/>
                <a:gd name="connsiteY3" fmla="*/ 121916 h 12700"/>
                <a:gd name="connisteX4" fmla="*/ 914400 w 12700"/>
                <a:gd name="connsiteY4" fmla="*/ 792483 h 12700"/>
                <a:gd name="connisteX5" fmla="*/ 792483 w 12700"/>
                <a:gd name="connsiteY5" fmla="*/ 914400 h 12700"/>
                <a:gd name="connisteX6" fmla="*/ 121916 w 12700"/>
                <a:gd name="connsiteY6" fmla="*/ 914400 h 12700"/>
                <a:gd name="connisteX7" fmla="*/ 0 w 12700"/>
                <a:gd name="connsiteY7" fmla="*/ 792483 h 12700"/>
                <a:gd name="connisteX8" fmla="*/ 0 w 12700"/>
                <a:gd name="connsiteY8" fmla="*/ 121916 h 127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121917"/>
                  </a:moveTo>
                  <a:cubicBezTo>
                    <a:pt x="0" y="54590"/>
                    <a:pt x="54590" y="0"/>
                    <a:pt x="121917" y="0"/>
                  </a:cubicBezTo>
                  <a:lnTo>
                    <a:pt x="792483" y="0"/>
                  </a:lnTo>
                  <a:cubicBezTo>
                    <a:pt x="859810" y="0"/>
                    <a:pt x="914400" y="54590"/>
                    <a:pt x="914400" y="121917"/>
                  </a:cubicBezTo>
                  <a:lnTo>
                    <a:pt x="914400" y="792483"/>
                  </a:lnTo>
                  <a:cubicBezTo>
                    <a:pt x="914400" y="859810"/>
                    <a:pt x="859810" y="914400"/>
                    <a:pt x="792483" y="914400"/>
                  </a:cubicBezTo>
                  <a:lnTo>
                    <a:pt x="121917" y="914400"/>
                  </a:lnTo>
                  <a:cubicBezTo>
                    <a:pt x="54590" y="914400"/>
                    <a:pt x="0" y="859810"/>
                    <a:pt x="0" y="792483"/>
                  </a:cubicBezTo>
                  <a:lnTo>
                    <a:pt x="0" y="12191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9"/>
              </p:custDataLst>
            </p:nvPr>
          </p:nvSpPr>
          <p:spPr>
            <a:xfrm>
              <a:off x="1160" y="7452"/>
              <a:ext cx="1040" cy="945"/>
            </a:xfrm>
            <a:prstGeom prst="rect">
              <a:avLst/>
            </a:prstGeom>
            <a:noFill/>
          </p:spPr>
          <p:txBody>
            <a:bodyPr wrap="square" lIns="0" tIns="0" rIns="0" bIns="0" rtlCol="0" anchor="ctr">
              <a:noAutofit/>
            </a:bodyPr>
            <a:p>
              <a:pPr algn="ctr">
                <a:lnSpc>
                  <a:spcPct val="109000"/>
                </a:lnSpc>
              </a:pPr>
              <a:r>
                <a:rPr lang="en-US" altLang="en-US" sz="3600">
                  <a:solidFill>
                    <a:schemeClr val="bg1"/>
                  </a:solidFill>
                  <a:latin typeface="Microsoft YaHei UI" panose="020B0503020204020204" charset="-122"/>
                  <a:ea typeface="Microsoft YaHei UI" panose="020B0503020204020204" charset="-122"/>
                </a:rPr>
                <a:t>03</a:t>
              </a:r>
              <a:endParaRPr lang="en-US" altLang="en-US" sz="3600">
                <a:solidFill>
                  <a:schemeClr val="bg1"/>
                </a:solidFill>
                <a:latin typeface="Microsoft YaHei UI" panose="020B0503020204020204" charset="-122"/>
                <a:ea typeface="Microsoft YaHei UI" panose="020B0503020204020204" charset="-122"/>
              </a:endParaRPr>
            </a:p>
          </p:txBody>
        </p:sp>
        <p:sp>
          <p:nvSpPr>
            <p:cNvPr id="10" name="文本框 9"/>
            <p:cNvSpPr txBox="1"/>
            <p:nvPr>
              <p:custDataLst>
                <p:tags r:id="rId10"/>
              </p:custDataLst>
            </p:nvPr>
          </p:nvSpPr>
          <p:spPr>
            <a:xfrm>
              <a:off x="2800" y="6840"/>
              <a:ext cx="6440" cy="640"/>
            </a:xfrm>
            <a:prstGeom prst="rect">
              <a:avLst/>
            </a:prstGeom>
            <a:noFill/>
          </p:spPr>
          <p:txBody>
            <a:bodyPr wrap="square" lIns="0" tIns="0" rIns="0" bIns="0" rtlCol="0" anchor="t">
              <a:noAutofit/>
            </a:bodyPr>
            <a:p>
              <a:pPr algn="l">
                <a:lnSpc>
                  <a:spcPct val="111000"/>
                </a:lnSpc>
              </a:pPr>
              <a:r>
                <a:rPr lang="en-US" altLang="en-US" sz="2400">
                  <a:solidFill>
                    <a:schemeClr val="bg1"/>
                  </a:solidFill>
                  <a:latin typeface="Microsoft YaHei UI" panose="020B0503020204020204" charset="-122"/>
                  <a:ea typeface="Microsoft YaHei UI" panose="020B0503020204020204" charset="-122"/>
                </a:rPr>
                <a:t>CAP</a:t>
              </a:r>
              <a:r>
                <a:rPr lang="zh-CN" altLang="en-US" sz="2400">
                  <a:solidFill>
                    <a:schemeClr val="bg1"/>
                  </a:solidFill>
                  <a:latin typeface="Microsoft YaHei UI" panose="020B0503020204020204" charset="-122"/>
                  <a:ea typeface="Microsoft YaHei UI" panose="020B0503020204020204" charset="-122"/>
                </a:rPr>
                <a:t>原则与分布式数据管理</a:t>
              </a:r>
              <a:endParaRPr lang="zh-CN" altLang="en-US" sz="2400">
                <a:solidFill>
                  <a:schemeClr val="bg1"/>
                </a:solidFill>
                <a:latin typeface="Microsoft YaHei UI" panose="020B0503020204020204" charset="-122"/>
                <a:ea typeface="Microsoft YaHei UI" panose="020B0503020204020204" charset="-122"/>
              </a:endParaRPr>
            </a:p>
          </p:txBody>
        </p:sp>
        <p:sp>
          <p:nvSpPr>
            <p:cNvPr id="11" name="文本框 10"/>
            <p:cNvSpPr txBox="1"/>
            <p:nvPr>
              <p:custDataLst>
                <p:tags r:id="rId11"/>
              </p:custDataLst>
            </p:nvPr>
          </p:nvSpPr>
          <p:spPr>
            <a:xfrm>
              <a:off x="2800" y="7640"/>
              <a:ext cx="640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分布式理论中的</a:t>
              </a:r>
              <a:r>
                <a:rPr lang="en-US" altLang="zh-CN" sz="1600">
                  <a:solidFill>
                    <a:schemeClr val="bg1"/>
                  </a:solidFill>
                  <a:latin typeface="Microsoft YaHei UI" panose="020B0503020204020204" charset="-122"/>
                  <a:ea typeface="Microsoft YaHei UI" panose="020B0503020204020204" charset="-122"/>
                </a:rPr>
                <a:t>CAP</a:t>
              </a:r>
              <a:r>
                <a:rPr lang="zh-CN" altLang="en-US" sz="1600">
                  <a:solidFill>
                    <a:schemeClr val="bg1"/>
                  </a:solidFill>
                  <a:latin typeface="Microsoft YaHei UI" panose="020B0503020204020204" charset="-122"/>
                  <a:ea typeface="Microsoft YaHei UI" panose="020B0503020204020204" charset="-122"/>
                </a:rPr>
                <a:t>原则指出一致性、可用性和分区容忍性无法同时满足，成为分布式系统设计的核心挑战。</a:t>
              </a:r>
              <a:endParaRPr lang="zh-CN" altLang="en-US" sz="1600">
                <a:solidFill>
                  <a:schemeClr val="bg1"/>
                </a:solidFill>
                <a:latin typeface="Microsoft YaHei UI" panose="020B0503020204020204" charset="-122"/>
                <a:ea typeface="Microsoft YaHei UI" panose="020B0503020204020204" charset="-122"/>
              </a:endParaRPr>
            </a:p>
          </p:txBody>
        </p:sp>
        <p:sp>
          <p:nvSpPr>
            <p:cNvPr id="12" name="任意多边形 11"/>
            <p:cNvSpPr/>
            <p:nvPr>
              <p:custDataLst>
                <p:tags r:id="rId12"/>
              </p:custDataLst>
            </p:nvPr>
          </p:nvSpPr>
          <p:spPr>
            <a:xfrm>
              <a:off x="10080" y="4040"/>
              <a:ext cx="1440" cy="1440"/>
            </a:xfrm>
            <a:custGeom>
              <a:avLst/>
              <a:gdLst>
                <a:gd name="connisteX0" fmla="*/ 0 w 12700"/>
                <a:gd name="connsiteY0" fmla="*/ 121916 h 12700"/>
                <a:gd name="connisteX1" fmla="*/ 121916 w 12700"/>
                <a:gd name="connsiteY1" fmla="*/ 0 h 12700"/>
                <a:gd name="connisteX2" fmla="*/ 792483 w 12700"/>
                <a:gd name="connsiteY2" fmla="*/ 0 h 12700"/>
                <a:gd name="connisteX3" fmla="*/ 914400 w 12700"/>
                <a:gd name="connsiteY3" fmla="*/ 121916 h 12700"/>
                <a:gd name="connisteX4" fmla="*/ 914400 w 12700"/>
                <a:gd name="connsiteY4" fmla="*/ 792483 h 12700"/>
                <a:gd name="connisteX5" fmla="*/ 792483 w 12700"/>
                <a:gd name="connsiteY5" fmla="*/ 914400 h 12700"/>
                <a:gd name="connisteX6" fmla="*/ 121916 w 12700"/>
                <a:gd name="connsiteY6" fmla="*/ 914400 h 12700"/>
                <a:gd name="connisteX7" fmla="*/ 0 w 12700"/>
                <a:gd name="connsiteY7" fmla="*/ 792483 h 12700"/>
                <a:gd name="connisteX8" fmla="*/ 0 w 12700"/>
                <a:gd name="connsiteY8" fmla="*/ 121916 h 127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121917"/>
                  </a:moveTo>
                  <a:cubicBezTo>
                    <a:pt x="0" y="54590"/>
                    <a:pt x="54590" y="0"/>
                    <a:pt x="121917" y="0"/>
                  </a:cubicBezTo>
                  <a:lnTo>
                    <a:pt x="792483" y="0"/>
                  </a:lnTo>
                  <a:cubicBezTo>
                    <a:pt x="859810" y="0"/>
                    <a:pt x="914400" y="54590"/>
                    <a:pt x="914400" y="121917"/>
                  </a:cubicBezTo>
                  <a:lnTo>
                    <a:pt x="914400" y="792483"/>
                  </a:lnTo>
                  <a:cubicBezTo>
                    <a:pt x="914400" y="859810"/>
                    <a:pt x="859810" y="914400"/>
                    <a:pt x="792483" y="914400"/>
                  </a:cubicBezTo>
                  <a:lnTo>
                    <a:pt x="121917" y="914400"/>
                  </a:lnTo>
                  <a:cubicBezTo>
                    <a:pt x="54590" y="914400"/>
                    <a:pt x="0" y="859810"/>
                    <a:pt x="0" y="792483"/>
                  </a:cubicBezTo>
                  <a:lnTo>
                    <a:pt x="0" y="12191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custDataLst>
                <p:tags r:id="rId13"/>
              </p:custDataLst>
            </p:nvPr>
          </p:nvSpPr>
          <p:spPr>
            <a:xfrm>
              <a:off x="10280" y="4252"/>
              <a:ext cx="1040" cy="945"/>
            </a:xfrm>
            <a:prstGeom prst="rect">
              <a:avLst/>
            </a:prstGeom>
            <a:noFill/>
          </p:spPr>
          <p:txBody>
            <a:bodyPr wrap="square" lIns="0" tIns="0" rIns="0" bIns="0" rtlCol="0" anchor="ctr">
              <a:noAutofit/>
            </a:bodyPr>
            <a:p>
              <a:pPr algn="ctr">
                <a:lnSpc>
                  <a:spcPct val="109000"/>
                </a:lnSpc>
              </a:pPr>
              <a:r>
                <a:rPr lang="en-US" altLang="en-US" sz="3600">
                  <a:solidFill>
                    <a:schemeClr val="bg1"/>
                  </a:solidFill>
                  <a:latin typeface="Microsoft YaHei UI" panose="020B0503020204020204" charset="-122"/>
                  <a:ea typeface="Microsoft YaHei UI" panose="020B0503020204020204" charset="-122"/>
                </a:rPr>
                <a:t>02</a:t>
              </a:r>
              <a:endParaRPr lang="en-US" altLang="en-US" sz="3600">
                <a:solidFill>
                  <a:schemeClr val="bg1"/>
                </a:solidFill>
                <a:latin typeface="Microsoft YaHei UI" panose="020B0503020204020204" charset="-122"/>
                <a:ea typeface="Microsoft YaHei UI" panose="020B0503020204020204" charset="-122"/>
              </a:endParaRPr>
            </a:p>
          </p:txBody>
        </p:sp>
        <p:sp>
          <p:nvSpPr>
            <p:cNvPr id="14" name="文本框 13"/>
            <p:cNvSpPr txBox="1"/>
            <p:nvPr>
              <p:custDataLst>
                <p:tags r:id="rId14"/>
              </p:custDataLst>
            </p:nvPr>
          </p:nvSpPr>
          <p:spPr>
            <a:xfrm>
              <a:off x="11920" y="3640"/>
              <a:ext cx="6440" cy="640"/>
            </a:xfrm>
            <a:prstGeom prst="rect">
              <a:avLst/>
            </a:prstGeom>
            <a:noFill/>
          </p:spPr>
          <p:txBody>
            <a:bodyPr wrap="square" lIns="0" tIns="0" rIns="0" bIns="0" rtlCol="0" anchor="t">
              <a:noAutofit/>
            </a:bodyPr>
            <a:p>
              <a:pPr algn="l">
                <a:lnSpc>
                  <a:spcPct val="111000"/>
                </a:lnSpc>
              </a:pPr>
              <a:r>
                <a:rPr lang="zh-CN" altLang="en-US" sz="2400">
                  <a:solidFill>
                    <a:schemeClr val="bg1"/>
                  </a:solidFill>
                  <a:latin typeface="Microsoft YaHei UI" panose="020B0503020204020204" charset="-122"/>
                  <a:ea typeface="Microsoft YaHei UI" panose="020B0503020204020204" charset="-122"/>
                </a:rPr>
                <a:t>分布式存储的兴起</a:t>
              </a:r>
              <a:endParaRPr lang="zh-CN" altLang="en-US" sz="2400">
                <a:solidFill>
                  <a:schemeClr val="bg1"/>
                </a:solidFill>
                <a:latin typeface="Microsoft YaHei UI" panose="020B0503020204020204" charset="-122"/>
                <a:ea typeface="Microsoft YaHei UI" panose="020B0503020204020204" charset="-122"/>
              </a:endParaRPr>
            </a:p>
          </p:txBody>
        </p:sp>
        <p:sp>
          <p:nvSpPr>
            <p:cNvPr id="15" name="文本框 14"/>
            <p:cNvSpPr txBox="1"/>
            <p:nvPr>
              <p:custDataLst>
                <p:tags r:id="rId15"/>
              </p:custDataLst>
            </p:nvPr>
          </p:nvSpPr>
          <p:spPr>
            <a:xfrm>
              <a:off x="11920" y="4440"/>
              <a:ext cx="6400" cy="1440"/>
            </a:xfrm>
            <a:prstGeom prst="rect">
              <a:avLst/>
            </a:prstGeom>
            <a:noFill/>
          </p:spPr>
          <p:txBody>
            <a:bodyPr wrap="square" lIns="0" tIns="0" rIns="0" bIns="0" rtlCol="0" anchor="t">
              <a:noAutofit/>
            </a:bodyPr>
            <a:p>
              <a:pPr algn="l">
                <a:lnSpc>
                  <a:spcPct val="125000"/>
                </a:lnSpc>
              </a:pPr>
              <a:r>
                <a:rPr lang="zh-CN" altLang="en-US" sz="1600">
                  <a:solidFill>
                    <a:schemeClr val="bg1"/>
                  </a:solidFill>
                  <a:latin typeface="Microsoft YaHei UI" panose="020B0503020204020204" charset="-122"/>
                  <a:ea typeface="Microsoft YaHei UI" panose="020B0503020204020204" charset="-122"/>
                </a:rPr>
                <a:t>分布式存储因其水平扩展优势成为大规模数据管理的主流选择。</a:t>
              </a:r>
              <a:endParaRPr lang="zh-CN" altLang="en-US" sz="1600">
                <a:solidFill>
                  <a:schemeClr val="bg1"/>
                </a:solidFill>
                <a:latin typeface="Microsoft YaHei UI" panose="020B0503020204020204" charset="-122"/>
                <a:ea typeface="Microsoft YaHei UI" panose="020B0503020204020204" charset="-122"/>
              </a:endParaRPr>
            </a:p>
          </p:txBody>
        </p:sp>
        <p:sp>
          <p:nvSpPr>
            <p:cNvPr id="16" name="任意多边形 15"/>
            <p:cNvSpPr/>
            <p:nvPr>
              <p:custDataLst>
                <p:tags r:id="rId16"/>
              </p:custDataLst>
            </p:nvPr>
          </p:nvSpPr>
          <p:spPr>
            <a:xfrm>
              <a:off x="10080" y="7240"/>
              <a:ext cx="1440" cy="1440"/>
            </a:xfrm>
            <a:custGeom>
              <a:avLst/>
              <a:gdLst>
                <a:gd name="connisteX0" fmla="*/ 0 w 12700"/>
                <a:gd name="connsiteY0" fmla="*/ 121916 h 12700"/>
                <a:gd name="connisteX1" fmla="*/ 121916 w 12700"/>
                <a:gd name="connsiteY1" fmla="*/ 0 h 12700"/>
                <a:gd name="connisteX2" fmla="*/ 792483 w 12700"/>
                <a:gd name="connsiteY2" fmla="*/ 0 h 12700"/>
                <a:gd name="connisteX3" fmla="*/ 914400 w 12700"/>
                <a:gd name="connsiteY3" fmla="*/ 121916 h 12700"/>
                <a:gd name="connisteX4" fmla="*/ 914400 w 12700"/>
                <a:gd name="connsiteY4" fmla="*/ 792483 h 12700"/>
                <a:gd name="connisteX5" fmla="*/ 792483 w 12700"/>
                <a:gd name="connsiteY5" fmla="*/ 914400 h 12700"/>
                <a:gd name="connisteX6" fmla="*/ 121916 w 12700"/>
                <a:gd name="connsiteY6" fmla="*/ 914400 h 12700"/>
                <a:gd name="connisteX7" fmla="*/ 0 w 12700"/>
                <a:gd name="connsiteY7" fmla="*/ 792483 h 12700"/>
                <a:gd name="connisteX8" fmla="*/ 0 w 12700"/>
                <a:gd name="connsiteY8" fmla="*/ 121916 h 127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 h="914400">
                  <a:moveTo>
                    <a:pt x="0" y="121917"/>
                  </a:moveTo>
                  <a:cubicBezTo>
                    <a:pt x="0" y="54590"/>
                    <a:pt x="54590" y="0"/>
                    <a:pt x="121917" y="0"/>
                  </a:cubicBezTo>
                  <a:lnTo>
                    <a:pt x="792483" y="0"/>
                  </a:lnTo>
                  <a:cubicBezTo>
                    <a:pt x="859810" y="0"/>
                    <a:pt x="914400" y="54590"/>
                    <a:pt x="914400" y="121917"/>
                  </a:cubicBezTo>
                  <a:lnTo>
                    <a:pt x="914400" y="792483"/>
                  </a:lnTo>
                  <a:cubicBezTo>
                    <a:pt x="914400" y="859810"/>
                    <a:pt x="859810" y="914400"/>
                    <a:pt x="792483" y="914400"/>
                  </a:cubicBezTo>
                  <a:lnTo>
                    <a:pt x="121917" y="914400"/>
                  </a:lnTo>
                  <a:cubicBezTo>
                    <a:pt x="54590" y="914400"/>
                    <a:pt x="0" y="859810"/>
                    <a:pt x="0" y="792483"/>
                  </a:cubicBezTo>
                  <a:lnTo>
                    <a:pt x="0" y="12191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custDataLst>
                <p:tags r:id="rId17"/>
              </p:custDataLst>
            </p:nvPr>
          </p:nvSpPr>
          <p:spPr>
            <a:xfrm>
              <a:off x="10280" y="7452"/>
              <a:ext cx="1040" cy="945"/>
            </a:xfrm>
            <a:prstGeom prst="rect">
              <a:avLst/>
            </a:prstGeom>
            <a:noFill/>
          </p:spPr>
          <p:txBody>
            <a:bodyPr wrap="square" lIns="0" tIns="0" rIns="0" bIns="0" rtlCol="0" anchor="ctr">
              <a:noAutofit/>
            </a:bodyPr>
            <a:p>
              <a:pPr algn="ctr">
                <a:lnSpc>
                  <a:spcPct val="109000"/>
                </a:lnSpc>
              </a:pPr>
              <a:r>
                <a:rPr lang="en-US" altLang="en-US" sz="3600">
                  <a:solidFill>
                    <a:schemeClr val="bg1"/>
                  </a:solidFill>
                  <a:latin typeface="Microsoft YaHei UI" panose="020B0503020204020204" charset="-122"/>
                  <a:ea typeface="Microsoft YaHei UI" panose="020B0503020204020204" charset="-122"/>
                </a:rPr>
                <a:t>04</a:t>
              </a:r>
              <a:endParaRPr lang="en-US" altLang="en-US" sz="3600">
                <a:solidFill>
                  <a:schemeClr val="bg1"/>
                </a:solidFill>
                <a:latin typeface="Microsoft YaHei UI" panose="020B0503020204020204" charset="-122"/>
                <a:ea typeface="Microsoft YaHei UI" panose="020B0503020204020204" charset="-122"/>
              </a:endParaRPr>
            </a:p>
          </p:txBody>
        </p:sp>
        <p:sp>
          <p:nvSpPr>
            <p:cNvPr id="18" name="文本框 17"/>
            <p:cNvSpPr txBox="1"/>
            <p:nvPr>
              <p:custDataLst>
                <p:tags r:id="rId18"/>
              </p:custDataLst>
            </p:nvPr>
          </p:nvSpPr>
          <p:spPr>
            <a:xfrm>
              <a:off x="11920" y="6840"/>
              <a:ext cx="6440" cy="640"/>
            </a:xfrm>
            <a:prstGeom prst="rect">
              <a:avLst/>
            </a:prstGeom>
            <a:noFill/>
          </p:spPr>
          <p:txBody>
            <a:bodyPr wrap="square" lIns="0" tIns="0" rIns="0" bIns="0" rtlCol="0" anchor="t">
              <a:noAutofit/>
            </a:bodyPr>
            <a:p>
              <a:pPr algn="l">
                <a:lnSpc>
                  <a:spcPct val="111000"/>
                </a:lnSpc>
              </a:pPr>
              <a:r>
                <a:rPr lang="en-US" altLang="en-US" sz="2400">
                  <a:solidFill>
                    <a:schemeClr val="bg1"/>
                  </a:solidFill>
                  <a:latin typeface="Microsoft YaHei UI" panose="020B0503020204020204" charset="-122"/>
                  <a:ea typeface="Microsoft YaHei UI" panose="020B0503020204020204" charset="-122"/>
                </a:rPr>
                <a:t>Raft</a:t>
              </a:r>
              <a:r>
                <a:rPr lang="zh-CN" altLang="en-US" sz="2400">
                  <a:solidFill>
                    <a:schemeClr val="bg1"/>
                  </a:solidFill>
                  <a:latin typeface="Microsoft YaHei UI" panose="020B0503020204020204" charset="-122"/>
                  <a:ea typeface="Microsoft YaHei UI" panose="020B0503020204020204" charset="-122"/>
                </a:rPr>
                <a:t>算法的提出</a:t>
              </a:r>
              <a:endParaRPr lang="zh-CN" altLang="en-US" sz="2400">
                <a:solidFill>
                  <a:schemeClr val="bg1"/>
                </a:solidFill>
                <a:latin typeface="Microsoft YaHei UI" panose="020B0503020204020204" charset="-122"/>
                <a:ea typeface="Microsoft YaHei UI" panose="020B0503020204020204" charset="-122"/>
              </a:endParaRPr>
            </a:p>
          </p:txBody>
        </p:sp>
        <p:sp>
          <p:nvSpPr>
            <p:cNvPr id="19" name="文本框 18"/>
            <p:cNvSpPr txBox="1"/>
            <p:nvPr>
              <p:custDataLst>
                <p:tags r:id="rId19"/>
              </p:custDataLst>
            </p:nvPr>
          </p:nvSpPr>
          <p:spPr>
            <a:xfrm>
              <a:off x="11920" y="7640"/>
              <a:ext cx="6400" cy="1440"/>
            </a:xfrm>
            <a:prstGeom prst="rect">
              <a:avLst/>
            </a:prstGeom>
            <a:noFill/>
          </p:spPr>
          <p:txBody>
            <a:bodyPr wrap="square" lIns="0" tIns="0" rIns="0" bIns="0" rtlCol="0" anchor="t">
              <a:noAutofit/>
            </a:bodyPr>
            <a:p>
              <a:pPr algn="l">
                <a:lnSpc>
                  <a:spcPct val="125000"/>
                </a:lnSpc>
              </a:pPr>
              <a:r>
                <a:rPr lang="en-US" altLang="en-US" sz="1600">
                  <a:solidFill>
                    <a:schemeClr val="bg1"/>
                  </a:solidFill>
                  <a:latin typeface="Microsoft YaHei UI" panose="020B0503020204020204" charset="-122"/>
                  <a:ea typeface="Microsoft YaHei UI" panose="020B0503020204020204" charset="-122"/>
                </a:rPr>
                <a:t>Raft</a:t>
              </a:r>
              <a:r>
                <a:rPr lang="zh-CN" altLang="en-US" sz="1600">
                  <a:solidFill>
                    <a:schemeClr val="bg1"/>
                  </a:solidFill>
                  <a:latin typeface="Microsoft YaHei UI" panose="020B0503020204020204" charset="-122"/>
                  <a:ea typeface="Microsoft YaHei UI" panose="020B0503020204020204" charset="-122"/>
                </a:rPr>
                <a:t>算法因其易于理解和实现，成为共识机制中的新宠，尤其在分布式键值存储领域具有潜在应用价值。</a:t>
              </a:r>
              <a:endParaRPr lang="zh-CN" altLang="en-US" sz="1600">
                <a:solidFill>
                  <a:schemeClr val="bg1"/>
                </a:solidFill>
                <a:latin typeface="Microsoft YaHei UI" panose="020B0503020204020204" charset="-122"/>
                <a:ea typeface="Microsoft YaHei UI" panose="020B0503020204020204" charset="-122"/>
              </a:endParaRPr>
            </a:p>
          </p:txBody>
        </p:sp>
      </p:grpSp>
    </p:spTree>
    <p:custDataLst>
      <p:tags r:id="rId20"/>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C:/Users/梦月/AppData/Roaming/Kingsoft/office6/wppai/generateppt/86445f210c5b2bb16924146706816d38.jpg86445f210c5b2bb16924146706816d38"/>
          <p:cNvPicPr preferRelativeResize="0">
            <a:picLocks noChangeAspect="1"/>
          </p:cNvPicPr>
          <p:nvPr>
            <p:custDataLst>
              <p:tags r:id="rId1"/>
            </p:custDataLst>
          </p:nvPr>
        </p:nvPicPr>
        <p:blipFill>
          <a:blip r:embed="rId2"/>
          <a:srcRect l="23889" r="23889"/>
          <a:stretch>
            <a:fillRect/>
          </a:stretch>
        </p:blipFill>
        <p:spPr>
          <a:xfrm>
            <a:off x="0" y="0"/>
            <a:ext cx="3581400" cy="6858000"/>
          </a:xfrm>
          <a:prstGeom prst="rect">
            <a:avLst/>
          </a:prstGeom>
          <a:blipFill rotWithShape="1">
            <a:blip r:embed="rId3"/>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2" name="标题 1"/>
          <p:cNvSpPr>
            <a:spLocks noGrp="1"/>
          </p:cNvSpPr>
          <p:nvPr>
            <p:ph type="title"/>
            <p:custDataLst>
              <p:tags r:id="rId4"/>
            </p:custDataLst>
          </p:nvPr>
        </p:nvSpPr>
        <p:spPr>
          <a:xfrm>
            <a:off x="4190997" y="609603"/>
            <a:ext cx="7531099" cy="761997"/>
          </a:xfrm>
          <a:noFill/>
        </p:spPr>
        <p:txBody>
          <a:bodyPr lIns="0" tIns="0" rIns="0" bIns="0" anchor="t">
            <a:noAutofit/>
          </a:bodyPr>
          <a:p>
            <a:pPr algn="l">
              <a:lnSpc>
                <a:spcPct val="114000"/>
              </a:lnSpc>
            </a:pPr>
            <a:r>
              <a:rPr lang="zh-CN" altLang="en-US" sz="4400" b="1">
                <a:solidFill>
                  <a:schemeClr val="tx1"/>
                </a:solidFill>
                <a:latin typeface="Microsoft YaHei UI" panose="020B0503020204020204" charset="-122"/>
                <a:ea typeface="Microsoft YaHei UI" panose="020B0503020204020204" charset="-122"/>
              </a:rPr>
              <a:t>研究的意义与价值</a:t>
            </a:r>
            <a:endParaRPr lang="zh-CN" altLang="en-US" sz="4400" b="1">
              <a:solidFill>
                <a:schemeClr val="tx1"/>
              </a:solidFill>
              <a:latin typeface="Microsoft YaHei UI" panose="020B0503020204020204" charset="-122"/>
              <a:ea typeface="Microsoft YaHei UI" panose="020B0503020204020204" charset="-122"/>
            </a:endParaRPr>
          </a:p>
        </p:txBody>
      </p:sp>
      <p:grpSp>
        <p:nvGrpSpPr>
          <p:cNvPr id="18" name="组合 17"/>
          <p:cNvGrpSpPr/>
          <p:nvPr/>
        </p:nvGrpSpPr>
        <p:grpSpPr>
          <a:xfrm>
            <a:off x="4191000" y="2336800"/>
            <a:ext cx="7467600" cy="3911600"/>
            <a:chOff x="6600" y="3680"/>
            <a:chExt cx="11760" cy="6160"/>
          </a:xfrm>
        </p:grpSpPr>
        <p:sp>
          <p:nvSpPr>
            <p:cNvPr id="6" name="任意多边形 5"/>
            <p:cNvSpPr/>
            <p:nvPr>
              <p:custDataLst>
                <p:tags r:id="rId5"/>
              </p:custDataLst>
            </p:nvPr>
          </p:nvSpPr>
          <p:spPr>
            <a:xfrm>
              <a:off x="6600" y="3680"/>
              <a:ext cx="81"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任意多边形 8"/>
            <p:cNvSpPr/>
            <p:nvPr>
              <p:custDataLst>
                <p:tags r:id="rId6"/>
              </p:custDataLst>
            </p:nvPr>
          </p:nvSpPr>
          <p:spPr>
            <a:xfrm>
              <a:off x="6600" y="7120"/>
              <a:ext cx="81"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custDataLst>
                <p:tags r:id="rId7"/>
              </p:custDataLst>
            </p:nvPr>
          </p:nvSpPr>
          <p:spPr>
            <a:xfrm>
              <a:off x="6840" y="3680"/>
              <a:ext cx="54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分布式键值存储的挑战</a:t>
              </a:r>
              <a:endParaRPr lang="zh-CN" altLang="en-US" sz="2400">
                <a:solidFill>
                  <a:schemeClr val="tx1"/>
                </a:solidFill>
                <a:latin typeface="Microsoft YaHei UI" panose="020B0503020204020204" charset="-122"/>
                <a:ea typeface="Microsoft YaHei UI" panose="020B0503020204020204" charset="-122"/>
              </a:endParaRPr>
            </a:p>
          </p:txBody>
        </p:sp>
        <p:sp>
          <p:nvSpPr>
            <p:cNvPr id="8" name="文本框 7"/>
            <p:cNvSpPr txBox="1"/>
            <p:nvPr>
              <p:custDataLst>
                <p:tags r:id="rId8"/>
              </p:custDataLst>
            </p:nvPr>
          </p:nvSpPr>
          <p:spPr>
            <a:xfrm>
              <a:off x="6840" y="4480"/>
              <a:ext cx="5420" cy="1920"/>
            </a:xfrm>
            <a:prstGeom prst="rect">
              <a:avLst/>
            </a:prstGeom>
            <a:noFill/>
          </p:spPr>
          <p:txBody>
            <a:bodyPr wrap="square" lIns="0" tIns="0" rIns="0" bIns="0" rtlCol="0" anchor="t">
              <a:noAutofit/>
            </a:bodyPr>
            <a:p>
              <a:pPr algn="l">
                <a:lnSpc>
                  <a:spcPct val="125000"/>
                </a:lnSpc>
              </a:pPr>
              <a:r>
                <a:rPr lang="zh-CN" altLang="en-US" sz="1400">
                  <a:solidFill>
                    <a:schemeClr val="tx1"/>
                  </a:solidFill>
                  <a:latin typeface="Microsoft YaHei UI" panose="020B0503020204020204" charset="-122"/>
                  <a:ea typeface="Microsoft YaHei UI" panose="020B0503020204020204" charset="-122"/>
                </a:rPr>
                <a:t>在去中心化环境中维护数据一致性是关键挑战，尤其是在网络波动和节点崩溃时如何平衡数据一致性和系统服务能力。</a:t>
              </a:r>
              <a:endParaRPr lang="zh-CN" altLang="en-US" sz="1400">
                <a:solidFill>
                  <a:schemeClr val="tx1"/>
                </a:solidFill>
                <a:latin typeface="Microsoft YaHei UI" panose="020B0503020204020204" charset="-122"/>
                <a:ea typeface="Microsoft YaHei UI" panose="020B0503020204020204" charset="-122"/>
              </a:endParaRPr>
            </a:p>
          </p:txBody>
        </p:sp>
        <p:sp>
          <p:nvSpPr>
            <p:cNvPr id="12" name="任意多边形 11"/>
            <p:cNvSpPr/>
            <p:nvPr>
              <p:custDataLst>
                <p:tags r:id="rId9"/>
              </p:custDataLst>
            </p:nvPr>
          </p:nvSpPr>
          <p:spPr>
            <a:xfrm>
              <a:off x="12660" y="368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custDataLst>
                <p:tags r:id="rId10"/>
              </p:custDataLst>
            </p:nvPr>
          </p:nvSpPr>
          <p:spPr>
            <a:xfrm>
              <a:off x="6840" y="7120"/>
              <a:ext cx="54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研究内容与目标</a:t>
              </a:r>
              <a:endParaRPr lang="zh-CN" altLang="en-US" sz="2400">
                <a:solidFill>
                  <a:schemeClr val="tx1"/>
                </a:solidFill>
                <a:latin typeface="Microsoft YaHei UI" panose="020B0503020204020204" charset="-122"/>
                <a:ea typeface="Microsoft YaHei UI" panose="020B0503020204020204" charset="-122"/>
              </a:endParaRPr>
            </a:p>
          </p:txBody>
        </p:sp>
        <p:sp>
          <p:nvSpPr>
            <p:cNvPr id="11" name="文本框 10"/>
            <p:cNvSpPr txBox="1"/>
            <p:nvPr>
              <p:custDataLst>
                <p:tags r:id="rId11"/>
              </p:custDataLst>
            </p:nvPr>
          </p:nvSpPr>
          <p:spPr>
            <a:xfrm>
              <a:off x="6840" y="7920"/>
              <a:ext cx="5420" cy="1920"/>
            </a:xfrm>
            <a:prstGeom prst="rect">
              <a:avLst/>
            </a:prstGeom>
            <a:noFill/>
          </p:spPr>
          <p:txBody>
            <a:bodyPr wrap="square" lIns="0" tIns="0" rIns="0" bIns="0" rtlCol="0" anchor="t">
              <a:noAutofit/>
            </a:bodyPr>
            <a:p>
              <a:pPr algn="l">
                <a:lnSpc>
                  <a:spcPct val="125000"/>
                </a:lnSpc>
              </a:pPr>
              <a:r>
                <a:rPr lang="zh-CN" altLang="en-US" sz="1400">
                  <a:solidFill>
                    <a:schemeClr val="tx1"/>
                  </a:solidFill>
                  <a:latin typeface="Microsoft YaHei UI" panose="020B0503020204020204" charset="-122"/>
                  <a:ea typeface="Microsoft YaHei UI" panose="020B0503020204020204" charset="-122"/>
                </a:rPr>
                <a:t>解构</a:t>
              </a:r>
              <a:r>
                <a:rPr lang="zh-CN" altLang="en-US" sz="1400">
                  <a:solidFill>
                    <a:schemeClr val="tx1"/>
                  </a:solidFill>
                  <a:latin typeface="Microsoft YaHei UI" panose="020B0503020204020204" charset="-122"/>
                  <a:ea typeface="Microsoft YaHei UI" panose="020B0503020204020204" charset="-122"/>
                </a:rPr>
                <a:t>Raft工作原理，设计并构建基于</a:t>
              </a:r>
              <a:r>
                <a:rPr lang="zh-CN" altLang="en-US" sz="1400">
                  <a:solidFill>
                    <a:schemeClr val="tx1"/>
                  </a:solidFill>
                  <a:latin typeface="Microsoft YaHei UI" panose="020B0503020204020204" charset="-122"/>
                  <a:ea typeface="Microsoft YaHei UI" panose="020B0503020204020204" charset="-122"/>
                </a:rPr>
                <a:t>Raft的键值存储原型系统，通过多维度测试评估系统性能，为构建可靠高效的分布式存储架构提供实践参考和技术支持。</a:t>
              </a:r>
              <a:endParaRPr lang="zh-CN" altLang="en-US" sz="1400">
                <a:solidFill>
                  <a:schemeClr val="tx1"/>
                </a:solidFill>
                <a:latin typeface="Microsoft YaHei UI" panose="020B0503020204020204" charset="-122"/>
                <a:ea typeface="Microsoft YaHei UI" panose="020B0503020204020204" charset="-122"/>
              </a:endParaRPr>
            </a:p>
          </p:txBody>
        </p:sp>
        <p:sp>
          <p:nvSpPr>
            <p:cNvPr id="15" name="任意多边形 14"/>
            <p:cNvSpPr/>
            <p:nvPr>
              <p:custDataLst>
                <p:tags r:id="rId12"/>
              </p:custDataLst>
            </p:nvPr>
          </p:nvSpPr>
          <p:spPr>
            <a:xfrm>
              <a:off x="12660" y="712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custDataLst>
                <p:tags r:id="rId13"/>
              </p:custDataLst>
            </p:nvPr>
          </p:nvSpPr>
          <p:spPr>
            <a:xfrm>
              <a:off x="12900" y="3680"/>
              <a:ext cx="5460" cy="640"/>
            </a:xfrm>
            <a:prstGeom prst="rect">
              <a:avLst/>
            </a:prstGeom>
            <a:noFill/>
          </p:spPr>
          <p:txBody>
            <a:bodyPr wrap="square" lIns="0" tIns="0" rIns="0" bIns="0" rtlCol="0" anchor="t">
              <a:noAutofit/>
            </a:bodyPr>
            <a:p>
              <a:pPr algn="l">
                <a:lnSpc>
                  <a:spcPct val="111000"/>
                </a:lnSpc>
              </a:pPr>
              <a:r>
                <a:rPr lang="en-US" altLang="en-US" sz="2400">
                  <a:solidFill>
                    <a:schemeClr val="tx1"/>
                  </a:solidFill>
                  <a:latin typeface="Microsoft YaHei UI" panose="020B0503020204020204" charset="-122"/>
                  <a:ea typeface="Microsoft YaHei UI" panose="020B0503020204020204" charset="-122"/>
                </a:rPr>
                <a:t>Raft</a:t>
              </a:r>
              <a:r>
                <a:rPr lang="zh-CN" altLang="en-US" sz="2400">
                  <a:solidFill>
                    <a:schemeClr val="tx1"/>
                  </a:solidFill>
                  <a:latin typeface="Microsoft YaHei UI" panose="020B0503020204020204" charset="-122"/>
                  <a:ea typeface="Microsoft YaHei UI" panose="020B0503020204020204" charset="-122"/>
                </a:rPr>
                <a:t>算法的工程实践</a:t>
              </a:r>
              <a:endParaRPr lang="zh-CN" altLang="en-US" sz="2400">
                <a:solidFill>
                  <a:schemeClr val="tx1"/>
                </a:solidFill>
                <a:latin typeface="Microsoft YaHei UI" panose="020B0503020204020204" charset="-122"/>
                <a:ea typeface="Microsoft YaHei UI" panose="020B0503020204020204" charset="-122"/>
              </a:endParaRPr>
            </a:p>
          </p:txBody>
        </p:sp>
        <p:sp>
          <p:nvSpPr>
            <p:cNvPr id="14" name="文本框 13"/>
            <p:cNvSpPr txBox="1"/>
            <p:nvPr>
              <p:custDataLst>
                <p:tags r:id="rId14"/>
              </p:custDataLst>
            </p:nvPr>
          </p:nvSpPr>
          <p:spPr>
            <a:xfrm>
              <a:off x="12900" y="4480"/>
              <a:ext cx="5420" cy="1920"/>
            </a:xfrm>
            <a:prstGeom prst="rect">
              <a:avLst/>
            </a:prstGeom>
            <a:noFill/>
          </p:spPr>
          <p:txBody>
            <a:bodyPr wrap="square" lIns="0" tIns="0" rIns="0" bIns="0" rtlCol="0" anchor="t">
              <a:noAutofit/>
            </a:bodyPr>
            <a:p>
              <a:pPr algn="l">
                <a:lnSpc>
                  <a:spcPct val="125000"/>
                </a:lnSpc>
              </a:pPr>
              <a:r>
                <a:rPr lang="zh-CN" altLang="en-US" sz="1400">
                  <a:solidFill>
                    <a:schemeClr val="tx1"/>
                  </a:solidFill>
                  <a:latin typeface="Microsoft YaHei UI" panose="020B0503020204020204" charset="-122"/>
                  <a:ea typeface="Microsoft YaHei UI" panose="020B0503020204020204" charset="-122"/>
                </a:rPr>
                <a:t>本项目旨在深入分析</a:t>
              </a:r>
              <a:r>
                <a:rPr lang="zh-CN" altLang="en-US" sz="1400">
                  <a:solidFill>
                    <a:schemeClr val="tx1"/>
                  </a:solidFill>
                  <a:latin typeface="Microsoft YaHei UI" panose="020B0503020204020204" charset="-122"/>
                  <a:ea typeface="Microsoft YaHei UI" panose="020B0503020204020204" charset="-122"/>
                </a:rPr>
                <a:t>Raft算法在分布式键值存储领域的实际应用价值，构建基于</a:t>
              </a:r>
              <a:r>
                <a:rPr lang="zh-CN" altLang="en-US" sz="1400">
                  <a:solidFill>
                    <a:schemeClr val="tx1"/>
                  </a:solidFill>
                  <a:latin typeface="Microsoft YaHei UI" panose="020B0503020204020204" charset="-122"/>
                  <a:ea typeface="Microsoft YaHei UI" panose="020B0503020204020204" charset="-122"/>
                </a:rPr>
                <a:t>Raft的分布式数据管理框架，寻找数据一致性和高可用性服务之间的最佳平衡点。</a:t>
              </a:r>
              <a:endParaRPr lang="zh-CN" altLang="en-US" sz="1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15"/>
              </p:custDataLst>
            </p:nvPr>
          </p:nvSpPr>
          <p:spPr>
            <a:xfrm>
              <a:off x="12900" y="7120"/>
              <a:ext cx="546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国内外研究现状与趋势</a:t>
              </a:r>
              <a:endParaRPr lang="zh-CN" altLang="en-US" sz="2400">
                <a:solidFill>
                  <a:schemeClr val="tx1"/>
                </a:solidFill>
                <a:latin typeface="Microsoft YaHei UI" panose="020B0503020204020204" charset="-122"/>
                <a:ea typeface="Microsoft YaHei UI" panose="020B0503020204020204" charset="-122"/>
              </a:endParaRPr>
            </a:p>
          </p:txBody>
        </p:sp>
        <p:sp>
          <p:nvSpPr>
            <p:cNvPr id="17" name="文本框 16"/>
            <p:cNvSpPr txBox="1"/>
            <p:nvPr>
              <p:custDataLst>
                <p:tags r:id="rId16"/>
              </p:custDataLst>
            </p:nvPr>
          </p:nvSpPr>
          <p:spPr>
            <a:xfrm>
              <a:off x="12900" y="7920"/>
              <a:ext cx="5420" cy="1920"/>
            </a:xfrm>
            <a:prstGeom prst="rect">
              <a:avLst/>
            </a:prstGeom>
            <a:noFill/>
          </p:spPr>
          <p:txBody>
            <a:bodyPr wrap="square" lIns="0" tIns="0" rIns="0" bIns="0" rtlCol="0" anchor="t">
              <a:noAutofit/>
            </a:bodyPr>
            <a:p>
              <a:pPr algn="l">
                <a:lnSpc>
                  <a:spcPct val="125000"/>
                </a:lnSpc>
              </a:pPr>
              <a:r>
                <a:rPr lang="zh-CN" altLang="en-US" sz="1400">
                  <a:solidFill>
                    <a:schemeClr val="tx1"/>
                  </a:solidFill>
                  <a:latin typeface="Microsoft YaHei UI" panose="020B0503020204020204" charset="-122"/>
                  <a:ea typeface="Microsoft YaHei UI" panose="020B0503020204020204" charset="-122"/>
                </a:rPr>
                <a:t>国内外在分布式键值存储技术领域取得重大成果，</a:t>
              </a:r>
              <a:r>
                <a:rPr lang="en-US" altLang="zh-CN" sz="1400">
                  <a:solidFill>
                    <a:schemeClr val="tx1"/>
                  </a:solidFill>
                  <a:latin typeface="Microsoft YaHei UI" panose="020B0503020204020204" charset="-122"/>
                  <a:ea typeface="Microsoft YaHei UI" panose="020B0503020204020204" charset="-122"/>
                </a:rPr>
                <a:t>Raft</a:t>
              </a:r>
              <a:r>
                <a:rPr lang="zh-CN" altLang="en-US" sz="1400">
                  <a:solidFill>
                    <a:schemeClr val="tx1"/>
                  </a:solidFill>
                  <a:latin typeface="Microsoft YaHei UI" panose="020B0503020204020204" charset="-122"/>
                  <a:ea typeface="Microsoft YaHei UI" panose="020B0503020204020204" charset="-122"/>
                </a:rPr>
                <a:t>算法在商业应用中得到广泛应用，同时研究趋势显示硬件协同、跨地域部署、弹性一致性架构设计等方向正成为研究热点。</a:t>
              </a:r>
              <a:endParaRPr lang="zh-CN" altLang="en-US" sz="1400">
                <a:solidFill>
                  <a:schemeClr val="tx1"/>
                </a:solidFill>
                <a:latin typeface="Microsoft YaHei UI" panose="020B0503020204020204" charset="-122"/>
                <a:ea typeface="Microsoft YaHei UI" panose="020B0503020204020204" charset="-122"/>
              </a:endParaRPr>
            </a:p>
          </p:txBody>
        </p:sp>
      </p:grpSp>
    </p:spTree>
    <p:custDataLst>
      <p:tags r:id="rId17"/>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3"/>
            <p:custDataLst>
              <p:tags r:id="rId1"/>
            </p:custDataLst>
          </p:nvPr>
        </p:nvSpPr>
        <p:spPr/>
        <p:txBody>
          <a:bodyPr/>
          <a:p>
            <a:r>
              <a:rPr lang="zh-CN" altLang="en-US">
                <a:sym typeface="+mn-ea"/>
              </a:rPr>
              <a:t>分布式数据库理论和</a:t>
            </a:r>
            <a:r>
              <a:rPr lang="en-US" altLang="zh-CN">
                <a:sym typeface="+mn-ea"/>
              </a:rPr>
              <a:t>raft</a:t>
            </a:r>
            <a:r>
              <a:rPr lang="zh-CN" altLang="en-US">
                <a:sym typeface="+mn-ea"/>
              </a:rPr>
              <a:t>算法研究</a:t>
            </a:r>
            <a:endParaRPr lang="zh-CN" altLang="en-US"/>
          </a:p>
        </p:txBody>
      </p:sp>
      <p:sp>
        <p:nvSpPr>
          <p:cNvPr id="3" name="文本占位符 2"/>
          <p:cNvSpPr>
            <a:spLocks noGrp="1"/>
          </p:cNvSpPr>
          <p:nvPr>
            <p:ph type="body" idx="14"/>
            <p:custDataLst>
              <p:tags r:id="rId2"/>
            </p:custDataLst>
          </p:nvPr>
        </p:nvSpPr>
        <p:spPr/>
        <p:txBody>
          <a:bodyPr/>
          <a:p>
            <a:r>
              <a:rPr lang="en-US" altLang="en-US"/>
              <a:t>02</a:t>
            </a:r>
            <a:endParaRPr lang="en-US"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任意多边形 2"/>
          <p:cNvSpPr/>
          <p:nvPr>
            <p:custDataLst>
              <p:tags r:id="rId1"/>
            </p:custDataLst>
          </p:nvPr>
        </p:nvSpPr>
        <p:spPr>
          <a:xfrm rot="10800000" flipV="1">
            <a:off x="0" y="0"/>
            <a:ext cx="1371600" cy="6858000"/>
          </a:xfrm>
          <a:custGeom>
            <a:avLst/>
            <a:gdLst>
              <a:gd name="connisteX0" fmla="*/ 0 w 19050"/>
              <a:gd name="connsiteY0" fmla="*/ 0 h 95250"/>
              <a:gd name="connisteX1" fmla="*/ 1371600 w 19050"/>
              <a:gd name="connsiteY1" fmla="*/ 0 h 95250"/>
              <a:gd name="connisteX2" fmla="*/ 1371600 w 19050"/>
              <a:gd name="connsiteY2" fmla="*/ 6858000 h 95250"/>
              <a:gd name="connisteX3" fmla="*/ 1066803 w 19050"/>
              <a:gd name="connsiteY3" fmla="*/ 6858000 h 95250"/>
              <a:gd name="connisteX4" fmla="*/ 65909 w 19050"/>
              <a:gd name="connsiteY4" fmla="*/ 5594975 h 95250"/>
              <a:gd name="connisteX5" fmla="*/ 0 w 19050"/>
              <a:gd name="connsiteY5" fmla="*/ 5405667 h 95250"/>
              <a:gd name="connisteX6" fmla="*/ 0 w 19050"/>
              <a:gd name="connsiteY6" fmla="*/ 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371600" h="6858000">
                <a:moveTo>
                  <a:pt x="0" y="0"/>
                </a:moveTo>
                <a:lnTo>
                  <a:pt x="1371600" y="0"/>
                </a:lnTo>
                <a:lnTo>
                  <a:pt x="1371600" y="6858000"/>
                </a:lnTo>
                <a:lnTo>
                  <a:pt x="1066803" y="6858000"/>
                </a:lnTo>
                <a:lnTo>
                  <a:pt x="65910" y="5594976"/>
                </a:lnTo>
                <a:cubicBezTo>
                  <a:pt x="23226" y="5541109"/>
                  <a:pt x="0" y="5474403"/>
                  <a:pt x="0" y="5405668"/>
                </a:cubicBezTo>
                <a:lnTo>
                  <a:pt x="0" y="0"/>
                </a:lnTo>
                <a:close/>
              </a:path>
            </a:pathLst>
          </a:custGeom>
          <a:solidFill>
            <a:schemeClr val="tx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a:off x="0" y="3086100"/>
            <a:ext cx="1746250" cy="3771265"/>
          </a:xfrm>
          <a:custGeom>
            <a:avLst/>
            <a:gdLst>
              <a:gd name="connisteX0" fmla="*/ 0 w 24261"/>
              <a:gd name="connsiteY0" fmla="*/ 3771890 h 52387"/>
              <a:gd name="connisteX1" fmla="*/ 734372 w 24261"/>
              <a:gd name="connsiteY1" fmla="*/ 3771890 h 52387"/>
              <a:gd name="connisteX2" fmla="*/ 1679405 w 24261"/>
              <a:gd name="connsiteY2" fmla="*/ 2598468 h 52387"/>
              <a:gd name="connisteX3" fmla="*/ 1684937 w 24261"/>
              <a:gd name="connsiteY3" fmla="*/ 2223189 h 52387"/>
              <a:gd name="connisteX4" fmla="*/ 0 w 24261"/>
              <a:gd name="connsiteY4" fmla="*/ 0 h 52387"/>
              <a:gd name="connisteX5" fmla="*/ 0 w 24261"/>
              <a:gd name="connsiteY5" fmla="*/ 3771890 h 5238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1746824" h="3771882">
                <a:moveTo>
                  <a:pt x="0" y="3771891"/>
                </a:moveTo>
                <a:lnTo>
                  <a:pt x="734373" y="3771891"/>
                </a:lnTo>
                <a:lnTo>
                  <a:pt x="1679405" y="2598469"/>
                </a:lnTo>
                <a:cubicBezTo>
                  <a:pt x="1767179" y="2489481"/>
                  <a:pt x="1769465" y="2334719"/>
                  <a:pt x="1684937" y="2223190"/>
                </a:cubicBezTo>
                <a:lnTo>
                  <a:pt x="0" y="0"/>
                </a:lnTo>
                <a:lnTo>
                  <a:pt x="0" y="3771891"/>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descr="C:/Users/梦月/AppData/Roaming/Kingsoft/office6/wppai/generateppt/d8573a0d32172fd35671656a34eb5847.jpgd8573a0d32172fd35671656a34eb5847"/>
          <p:cNvPicPr preferRelativeResize="0">
            <a:picLocks noChangeAspect="1"/>
          </p:cNvPicPr>
          <p:nvPr>
            <p:custDataLst>
              <p:tags r:id="rId3"/>
            </p:custDataLst>
          </p:nvPr>
        </p:nvPicPr>
        <p:blipFill>
          <a:blip r:embed="rId4"/>
          <a:srcRect l="4213" r="4213"/>
          <a:stretch>
            <a:fillRect/>
          </a:stretch>
        </p:blipFill>
        <p:spPr>
          <a:xfrm>
            <a:off x="2438403" y="609603"/>
            <a:ext cx="9144000" cy="1879600"/>
          </a:xfrm>
          <a:custGeom>
            <a:avLst/>
            <a:gdLst>
              <a:gd name="connisteX0" fmla="*/ 0 w 127000"/>
              <a:gd name="connsiteY0" fmla="*/ 203197 h 26105"/>
              <a:gd name="connisteX1" fmla="*/ 203197 w 127000"/>
              <a:gd name="connsiteY1" fmla="*/ 0 h 26105"/>
              <a:gd name="connisteX2" fmla="*/ 8940802 w 127000"/>
              <a:gd name="connsiteY2" fmla="*/ 0 h 26105"/>
              <a:gd name="connisteX3" fmla="*/ 9144000 w 127000"/>
              <a:gd name="connsiteY3" fmla="*/ 203197 h 26105"/>
              <a:gd name="connisteX4" fmla="*/ 9144000 w 127000"/>
              <a:gd name="connsiteY4" fmla="*/ 1676396 h 26105"/>
              <a:gd name="connisteX5" fmla="*/ 8940802 w 127000"/>
              <a:gd name="connsiteY5" fmla="*/ 1879604 h 26105"/>
              <a:gd name="connisteX6" fmla="*/ 203197 w 127000"/>
              <a:gd name="connsiteY6" fmla="*/ 1879604 h 26105"/>
              <a:gd name="connisteX7" fmla="*/ 0 w 127000"/>
              <a:gd name="connsiteY7" fmla="*/ 1676396 h 26105"/>
              <a:gd name="connisteX8" fmla="*/ 0 w 127000"/>
              <a:gd name="connsiteY8" fmla="*/ 203197 h 2610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9144000" h="1879604">
                <a:moveTo>
                  <a:pt x="0" y="203198"/>
                </a:moveTo>
                <a:cubicBezTo>
                  <a:pt x="0" y="90974"/>
                  <a:pt x="90974" y="0"/>
                  <a:pt x="203198" y="0"/>
                </a:cubicBezTo>
                <a:lnTo>
                  <a:pt x="8940802" y="0"/>
                </a:lnTo>
                <a:cubicBezTo>
                  <a:pt x="9053026" y="0"/>
                  <a:pt x="9144000" y="90974"/>
                  <a:pt x="9144000" y="203198"/>
                </a:cubicBezTo>
                <a:lnTo>
                  <a:pt x="9144000" y="1676397"/>
                </a:lnTo>
                <a:cubicBezTo>
                  <a:pt x="9144000" y="1788630"/>
                  <a:pt x="9053026" y="1879604"/>
                  <a:pt x="8940802" y="1879604"/>
                </a:cubicBezTo>
                <a:lnTo>
                  <a:pt x="203198" y="1879604"/>
                </a:lnTo>
                <a:cubicBezTo>
                  <a:pt x="90974" y="1879604"/>
                  <a:pt x="0" y="1788630"/>
                  <a:pt x="0" y="1676397"/>
                </a:cubicBezTo>
                <a:lnTo>
                  <a:pt x="0" y="203198"/>
                </a:lnTo>
                <a:close/>
              </a:path>
            </a:pathLst>
          </a:custGeom>
          <a:blipFill rotWithShape="1">
            <a:blip r:embed="rId5"/>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2" name="标题 1"/>
          <p:cNvSpPr>
            <a:spLocks noGrp="1"/>
          </p:cNvSpPr>
          <p:nvPr>
            <p:ph type="title"/>
            <p:custDataLst>
              <p:tags r:id="rId6"/>
            </p:custDataLst>
          </p:nvPr>
        </p:nvSpPr>
        <p:spPr>
          <a:xfrm>
            <a:off x="2438403" y="2946398"/>
            <a:ext cx="9283702" cy="761997"/>
          </a:xfrm>
          <a:noFill/>
        </p:spPr>
        <p:txBody>
          <a:bodyPr lIns="0" tIns="0" rIns="0" bIns="0" anchor="t">
            <a:noAutofit/>
          </a:bodyPr>
          <a:p>
            <a:pPr algn="l">
              <a:lnSpc>
                <a:spcPct val="114000"/>
              </a:lnSpc>
            </a:pPr>
            <a:r>
              <a:rPr lang="zh-CN" altLang="en-US" sz="4400" b="1">
                <a:solidFill>
                  <a:schemeClr val="tx1"/>
                </a:solidFill>
                <a:latin typeface="Microsoft YaHei UI" panose="020B0503020204020204" charset="-122"/>
                <a:ea typeface="Microsoft YaHei UI" panose="020B0503020204020204" charset="-122"/>
              </a:rPr>
              <a:t>数据和材料</a:t>
            </a:r>
            <a:endParaRPr lang="zh-CN" altLang="en-US" sz="4400" b="1">
              <a:solidFill>
                <a:schemeClr val="tx1"/>
              </a:solidFill>
              <a:latin typeface="Microsoft YaHei UI" panose="020B0503020204020204" charset="-122"/>
              <a:ea typeface="Microsoft YaHei UI" panose="020B0503020204020204" charset="-122"/>
            </a:endParaRPr>
          </a:p>
        </p:txBody>
      </p:sp>
      <p:grpSp>
        <p:nvGrpSpPr>
          <p:cNvPr id="14" name="组合 13"/>
          <p:cNvGrpSpPr/>
          <p:nvPr/>
        </p:nvGrpSpPr>
        <p:grpSpPr>
          <a:xfrm>
            <a:off x="2438400" y="4165600"/>
            <a:ext cx="9220200" cy="2082800"/>
            <a:chOff x="3840" y="6560"/>
            <a:chExt cx="14520" cy="3280"/>
          </a:xfrm>
        </p:grpSpPr>
        <p:sp>
          <p:nvSpPr>
            <p:cNvPr id="8" name="文本框 7"/>
            <p:cNvSpPr txBox="1"/>
            <p:nvPr>
              <p:custDataLst>
                <p:tags r:id="rId7"/>
              </p:custDataLst>
            </p:nvPr>
          </p:nvSpPr>
          <p:spPr>
            <a:xfrm>
              <a:off x="3840" y="6560"/>
              <a:ext cx="44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分布式系统基础理论</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8"/>
              </p:custDataLst>
            </p:nvPr>
          </p:nvSpPr>
          <p:spPr>
            <a:xfrm>
              <a:off x="3840" y="7440"/>
              <a:ext cx="4400" cy="240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多节点计算网络构成分布式架构基础，节点间通过信息交换机制实现协同运行，具有独立性、并发性、异构性和分布式透明性等特点。</a:t>
              </a:r>
              <a:endParaRPr lang="zh-CN" altLang="en-US" sz="1600">
                <a:solidFill>
                  <a:schemeClr val="tx1"/>
                </a:solidFill>
                <a:latin typeface="Microsoft YaHei UI" panose="020B0503020204020204" charset="-122"/>
                <a:ea typeface="Microsoft YaHei UI" panose="020B0503020204020204" charset="-122"/>
              </a:endParaRPr>
            </a:p>
          </p:txBody>
        </p:sp>
        <p:sp>
          <p:nvSpPr>
            <p:cNvPr id="10" name="文本框 9"/>
            <p:cNvSpPr txBox="1"/>
            <p:nvPr>
              <p:custDataLst>
                <p:tags r:id="rId9"/>
              </p:custDataLst>
            </p:nvPr>
          </p:nvSpPr>
          <p:spPr>
            <a:xfrm>
              <a:off x="8880" y="6560"/>
              <a:ext cx="4440" cy="640"/>
            </a:xfrm>
            <a:prstGeom prst="rect">
              <a:avLst/>
            </a:prstGeom>
            <a:noFill/>
          </p:spPr>
          <p:txBody>
            <a:bodyPr wrap="square" lIns="0" tIns="0" rIns="0" bIns="0" rtlCol="0" anchor="t">
              <a:noAutofit/>
            </a:bodyPr>
            <a:p>
              <a:pPr algn="l">
                <a:lnSpc>
                  <a:spcPct val="111000"/>
                </a:lnSpc>
              </a:pPr>
              <a:r>
                <a:rPr lang="en-US" altLang="en-US" sz="2400">
                  <a:solidFill>
                    <a:schemeClr val="tx1"/>
                  </a:solidFill>
                  <a:latin typeface="Microsoft YaHei UI" panose="020B0503020204020204" charset="-122"/>
                  <a:ea typeface="Microsoft YaHei UI" panose="020B0503020204020204" charset="-122"/>
                </a:rPr>
                <a:t>CAP</a:t>
              </a:r>
              <a:r>
                <a:rPr lang="zh-CN" altLang="en-US" sz="2400">
                  <a:solidFill>
                    <a:schemeClr val="tx1"/>
                  </a:solidFill>
                  <a:latin typeface="Microsoft YaHei UI" panose="020B0503020204020204" charset="-122"/>
                  <a:ea typeface="Microsoft YaHei UI" panose="020B0503020204020204" charset="-122"/>
                </a:rPr>
                <a:t>理论详解</a:t>
              </a:r>
              <a:endParaRPr lang="zh-CN" altLang="en-US" sz="2400">
                <a:solidFill>
                  <a:schemeClr val="tx1"/>
                </a:solidFill>
                <a:latin typeface="Microsoft YaHei UI" panose="020B0503020204020204" charset="-122"/>
                <a:ea typeface="Microsoft YaHei UI" panose="020B0503020204020204" charset="-122"/>
              </a:endParaRPr>
            </a:p>
          </p:txBody>
        </p:sp>
        <p:sp>
          <p:nvSpPr>
            <p:cNvPr id="11" name="文本框 10"/>
            <p:cNvSpPr txBox="1"/>
            <p:nvPr>
              <p:custDataLst>
                <p:tags r:id="rId10"/>
              </p:custDataLst>
            </p:nvPr>
          </p:nvSpPr>
          <p:spPr>
            <a:xfrm>
              <a:off x="8880" y="7440"/>
              <a:ext cx="4400" cy="240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CAP</a:t>
              </a:r>
              <a:r>
                <a:rPr lang="zh-CN" altLang="en-US" sz="1600">
                  <a:solidFill>
                    <a:schemeClr val="tx1"/>
                  </a:solidFill>
                  <a:latin typeface="Microsoft YaHei UI" panose="020B0503020204020204" charset="-122"/>
                  <a:ea typeface="Microsoft YaHei UI" panose="020B0503020204020204" charset="-122"/>
                </a:rPr>
                <a:t>理论揭示分布式数据管理平台的根本限制，包括一致性、可用性和分区容忍性，系统架构师需在数据一致性和服务可用性之间权衡。</a:t>
              </a:r>
              <a:endParaRPr lang="zh-CN" altLang="en-US" sz="1600">
                <a:solidFill>
                  <a:schemeClr val="tx1"/>
                </a:solidFill>
                <a:latin typeface="Microsoft YaHei UI" panose="020B0503020204020204" charset="-122"/>
                <a:ea typeface="Microsoft YaHei UI" panose="020B0503020204020204" charset="-122"/>
              </a:endParaRPr>
            </a:p>
          </p:txBody>
        </p:sp>
        <p:sp>
          <p:nvSpPr>
            <p:cNvPr id="12" name="文本框 11"/>
            <p:cNvSpPr txBox="1"/>
            <p:nvPr>
              <p:custDataLst>
                <p:tags r:id="rId11"/>
              </p:custDataLst>
            </p:nvPr>
          </p:nvSpPr>
          <p:spPr>
            <a:xfrm>
              <a:off x="13920" y="6560"/>
              <a:ext cx="4440" cy="640"/>
            </a:xfrm>
            <a:prstGeom prst="rect">
              <a:avLst/>
            </a:prstGeom>
            <a:noFill/>
          </p:spPr>
          <p:txBody>
            <a:bodyPr wrap="square" lIns="0" tIns="0" rIns="0" bIns="0" rtlCol="0" anchor="t">
              <a:noAutofit/>
            </a:bodyPr>
            <a:p>
              <a:pPr algn="l">
                <a:lnSpc>
                  <a:spcPct val="111000"/>
                </a:lnSpc>
              </a:pPr>
              <a:r>
                <a:rPr lang="en-US" altLang="en-US" sz="2400">
                  <a:solidFill>
                    <a:schemeClr val="tx1"/>
                  </a:solidFill>
                  <a:latin typeface="Microsoft YaHei UI" panose="020B0503020204020204" charset="-122"/>
                  <a:ea typeface="Microsoft YaHei UI" panose="020B0503020204020204" charset="-122"/>
                </a:rPr>
                <a:t>BASE</a:t>
              </a:r>
              <a:r>
                <a:rPr lang="zh-CN" altLang="en-US" sz="2400">
                  <a:solidFill>
                    <a:schemeClr val="tx1"/>
                  </a:solidFill>
                  <a:latin typeface="Microsoft YaHei UI" panose="020B0503020204020204" charset="-122"/>
                  <a:ea typeface="Microsoft YaHei UI" panose="020B0503020204020204" charset="-122"/>
                </a:rPr>
                <a:t>理论详解</a:t>
              </a:r>
              <a:endParaRPr lang="zh-CN" altLang="en-US" sz="2400">
                <a:solidFill>
                  <a:schemeClr val="tx1"/>
                </a:solidFill>
                <a:latin typeface="Microsoft YaHei UI" panose="020B0503020204020204" charset="-122"/>
                <a:ea typeface="Microsoft YaHei UI" panose="020B0503020204020204" charset="-122"/>
              </a:endParaRPr>
            </a:p>
          </p:txBody>
        </p:sp>
        <p:sp>
          <p:nvSpPr>
            <p:cNvPr id="13" name="文本框 12"/>
            <p:cNvSpPr txBox="1"/>
            <p:nvPr>
              <p:custDataLst>
                <p:tags r:id="rId12"/>
              </p:custDataLst>
            </p:nvPr>
          </p:nvSpPr>
          <p:spPr>
            <a:xfrm>
              <a:off x="13920" y="7440"/>
              <a:ext cx="4400" cy="240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BASE</a:t>
              </a:r>
              <a:r>
                <a:rPr lang="zh-CN" altLang="en-US" sz="1600">
                  <a:solidFill>
                    <a:schemeClr val="tx1"/>
                  </a:solidFill>
                  <a:latin typeface="Microsoft YaHei UI" panose="020B0503020204020204" charset="-122"/>
                  <a:ea typeface="Microsoft YaHei UI" panose="020B0503020204020204" charset="-122"/>
                </a:rPr>
                <a:t>理论为侧重可用性的分布式架构提供设计指引，强调基本可用性、状态灵活性和最终数据同步。</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8855" y="226765"/>
            <a:ext cx="10969200" cy="705600"/>
          </a:xfrm>
        </p:spPr>
        <p:txBody>
          <a:bodyPr/>
          <a:p>
            <a:r>
              <a:rPr lang="en-US" altLang="zh-CN"/>
              <a:t>CAP</a:t>
            </a:r>
            <a:r>
              <a:rPr lang="zh-CN" altLang="en-US"/>
              <a:t>理论</a:t>
            </a:r>
            <a:endParaRPr lang="zh-CN" altLang="en-US"/>
          </a:p>
        </p:txBody>
      </p:sp>
      <p:pic>
        <p:nvPicPr>
          <p:cNvPr id="3" name="图片 2" descr="Temp\paperppt\{d4eb803d-9a4d-40d0-94d6-825a01befb91}"/>
          <p:cNvPicPr>
            <a:picLocks noChangeAspect="1"/>
          </p:cNvPicPr>
          <p:nvPr/>
        </p:nvPicPr>
        <p:blipFill>
          <a:blip r:embed="rId1"/>
          <a:stretch>
            <a:fillRect/>
          </a:stretch>
        </p:blipFill>
        <p:spPr>
          <a:xfrm>
            <a:off x="511175" y="1186180"/>
            <a:ext cx="4788535" cy="3632200"/>
          </a:xfrm>
          <a:prstGeom prst="rect">
            <a:avLst/>
          </a:prstGeom>
        </p:spPr>
      </p:pic>
      <p:sp>
        <p:nvSpPr>
          <p:cNvPr id="4" name="文本框 3"/>
          <p:cNvSpPr txBox="1"/>
          <p:nvPr/>
        </p:nvSpPr>
        <p:spPr>
          <a:xfrm>
            <a:off x="511175" y="5072380"/>
            <a:ext cx="4192905" cy="306705"/>
          </a:xfrm>
          <a:prstGeom prst="rect">
            <a:avLst/>
          </a:prstGeom>
          <a:noFill/>
        </p:spPr>
        <p:txBody>
          <a:bodyPr wrap="square" rtlCol="0" anchor="t">
            <a:spAutoFit/>
          </a:bodyPr>
          <a:p>
            <a:pPr algn="ctr"/>
            <a:r>
              <a:rPr lang="zh-CN" altLang="en-US" sz="1400"/>
              <a:t>图</a:t>
            </a:r>
            <a:r>
              <a:rPr lang="en-US" altLang="zh-CN" sz="1400"/>
              <a:t>2.1 CAP</a:t>
            </a:r>
            <a:r>
              <a:rPr lang="zh-CN" altLang="en-US" sz="1400"/>
              <a:t>理论</a:t>
            </a:r>
            <a:endParaRPr lang="zh-CN" altLang="en-US" sz="1400"/>
          </a:p>
        </p:txBody>
      </p:sp>
      <p:sp>
        <p:nvSpPr>
          <p:cNvPr id="6" name="文本框 5"/>
          <p:cNvSpPr txBox="1"/>
          <p:nvPr/>
        </p:nvSpPr>
        <p:spPr>
          <a:xfrm>
            <a:off x="5871210" y="492125"/>
            <a:ext cx="5715000" cy="5643245"/>
          </a:xfrm>
          <a:prstGeom prst="rect">
            <a:avLst/>
          </a:prstGeom>
          <a:noFill/>
        </p:spPr>
        <p:txBody>
          <a:bodyPr wrap="square" rtlCol="0">
            <a:noAutofit/>
          </a:bodyPr>
          <a:p>
            <a:endParaRPr lang="en-US" altLang="zh-CN"/>
          </a:p>
          <a:p>
            <a:r>
              <a:rPr lang="en-US" altLang="zh-CN"/>
              <a:t>CAP </a:t>
            </a:r>
            <a:r>
              <a:rPr lang="zh-CN" altLang="en-US"/>
              <a:t>理论（也称</a:t>
            </a:r>
            <a:r>
              <a:rPr lang="en-US" altLang="zh-CN"/>
              <a:t> CAP </a:t>
            </a:r>
            <a:r>
              <a:rPr lang="zh-CN" altLang="en-US"/>
              <a:t>定理）是</a:t>
            </a:r>
            <a:r>
              <a:rPr lang="en-US" altLang="zh-CN"/>
              <a:t> Eric Brewer </a:t>
            </a:r>
            <a:r>
              <a:rPr lang="zh-CN" altLang="en-US"/>
              <a:t>在</a:t>
            </a:r>
            <a:r>
              <a:rPr lang="en-US" altLang="zh-CN"/>
              <a:t> 2000 </a:t>
            </a:r>
            <a:r>
              <a:rPr lang="zh-CN" altLang="en-US"/>
              <a:t>年提出并随后由</a:t>
            </a:r>
            <a:r>
              <a:rPr lang="en-US" altLang="zh-CN"/>
              <a:t> Seth Gilbert </a:t>
            </a:r>
            <a:r>
              <a:rPr lang="zh-CN" altLang="en-US"/>
              <a:t>与</a:t>
            </a:r>
            <a:r>
              <a:rPr lang="en-US" altLang="zh-CN"/>
              <a:t> Nancy Lynch </a:t>
            </a:r>
            <a:r>
              <a:rPr lang="zh-CN" altLang="en-US"/>
              <a:t>形式化证明的分布式系统基本定理。它指出，在一个由多个节点组成且允许网络分区（</a:t>
            </a:r>
            <a:r>
              <a:rPr lang="en-US" altLang="zh-CN"/>
              <a:t>Partition Tolerance, P</a:t>
            </a:r>
            <a:r>
              <a:rPr lang="zh-CN" altLang="en-US"/>
              <a:t>）的分布式系统中，无法同时完全满足一致性（</a:t>
            </a:r>
            <a:r>
              <a:rPr lang="en-US" altLang="zh-CN"/>
              <a:t>Consistency, C</a:t>
            </a:r>
            <a:r>
              <a:rPr lang="zh-CN" altLang="en-US"/>
              <a:t>）与可用性（</a:t>
            </a:r>
            <a:r>
              <a:rPr lang="en-US" altLang="zh-CN"/>
              <a:t>Availability, A</a:t>
            </a:r>
            <a:r>
              <a:rPr lang="zh-CN" altLang="en-US"/>
              <a:t>）这三项特性。具体来说：</a:t>
            </a:r>
            <a:endParaRPr lang="zh-CN" altLang="en-US"/>
          </a:p>
          <a:p>
            <a:endParaRPr lang="en-US" altLang="zh-CN"/>
          </a:p>
          <a:p>
            <a:r>
              <a:rPr lang="en-US" altLang="zh-CN"/>
              <a:t>1. </a:t>
            </a:r>
            <a:r>
              <a:rPr lang="zh-CN" altLang="en-US"/>
              <a:t>一致性（</a:t>
            </a:r>
            <a:r>
              <a:rPr lang="en-US" altLang="zh-CN"/>
              <a:t>C</a:t>
            </a:r>
            <a:r>
              <a:rPr lang="zh-CN" altLang="en-US"/>
              <a:t>）</a:t>
            </a:r>
            <a:r>
              <a:rPr lang="en-US" altLang="zh-CN"/>
              <a:t>  </a:t>
            </a:r>
            <a:endParaRPr lang="en-US" altLang="zh-CN"/>
          </a:p>
          <a:p>
            <a:r>
              <a:rPr lang="en-US" altLang="zh-CN"/>
              <a:t>   </a:t>
            </a:r>
            <a:r>
              <a:rPr lang="zh-CN" altLang="en-US"/>
              <a:t>所有节点在同一时间看到相同的数据更新结果，即任何读操作都能读取到最近一次成功写入的值。</a:t>
            </a:r>
            <a:endParaRPr lang="zh-CN" altLang="en-US"/>
          </a:p>
          <a:p>
            <a:endParaRPr lang="en-US" altLang="zh-CN"/>
          </a:p>
          <a:p>
            <a:r>
              <a:rPr lang="en-US" altLang="zh-CN"/>
              <a:t>2. </a:t>
            </a:r>
            <a:r>
              <a:rPr lang="zh-CN" altLang="en-US"/>
              <a:t>可用性（</a:t>
            </a:r>
            <a:r>
              <a:rPr lang="en-US" altLang="zh-CN"/>
              <a:t>A</a:t>
            </a:r>
            <a:r>
              <a:rPr lang="zh-CN" altLang="en-US"/>
              <a:t>）</a:t>
            </a:r>
            <a:r>
              <a:rPr lang="en-US" altLang="zh-CN"/>
              <a:t>  </a:t>
            </a:r>
            <a:endParaRPr lang="en-US" altLang="zh-CN"/>
          </a:p>
          <a:p>
            <a:r>
              <a:rPr lang="en-US" altLang="zh-CN"/>
              <a:t>   </a:t>
            </a:r>
            <a:r>
              <a:rPr lang="zh-CN" altLang="en-US"/>
              <a:t>每一次请求都能在有限时间内获得非错误的响应，即系统持续对外提供服务，不发生全局停机。</a:t>
            </a:r>
            <a:endParaRPr lang="zh-CN" altLang="en-US"/>
          </a:p>
          <a:p>
            <a:endParaRPr lang="en-US" altLang="zh-CN"/>
          </a:p>
          <a:p>
            <a:r>
              <a:rPr lang="en-US" altLang="zh-CN"/>
              <a:t>3. </a:t>
            </a:r>
            <a:r>
              <a:rPr lang="zh-CN" altLang="en-US"/>
              <a:t>分区容忍性（</a:t>
            </a:r>
            <a:r>
              <a:rPr lang="en-US" altLang="zh-CN"/>
              <a:t>P</a:t>
            </a:r>
            <a:r>
              <a:rPr lang="zh-CN" altLang="en-US"/>
              <a:t>）</a:t>
            </a:r>
            <a:r>
              <a:rPr lang="en-US" altLang="zh-CN"/>
              <a:t>  </a:t>
            </a:r>
            <a:endParaRPr lang="en-US" altLang="zh-CN"/>
          </a:p>
          <a:p>
            <a:r>
              <a:rPr lang="en-US" altLang="zh-CN"/>
              <a:t>   </a:t>
            </a:r>
            <a:r>
              <a:rPr lang="zh-CN" altLang="en-US"/>
              <a:t>当通信链路发生故障导致集群被切分成多个分区时，系统依然能够继续运作，而不是整体失效。</a:t>
            </a:r>
            <a:endParaRPr lang="zh-CN" altLang="en-US"/>
          </a:p>
          <a:p>
            <a:endParaRPr lang="en-US" altLang="zh-CN"/>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539752" y="609603"/>
            <a:ext cx="11112502" cy="761997"/>
          </a:xfrm>
          <a:noFill/>
        </p:spPr>
        <p:txBody>
          <a:bodyPr lIns="0" tIns="0" rIns="0" bIns="0" anchor="t">
            <a:noAutofit/>
          </a:bodyPr>
          <a:p>
            <a:pPr algn="ctr">
              <a:lnSpc>
                <a:spcPct val="114000"/>
              </a:lnSpc>
            </a:pPr>
            <a:r>
              <a:rPr lang="zh-CN" altLang="en-US" sz="4400" b="1">
                <a:solidFill>
                  <a:schemeClr val="tx1"/>
                </a:solidFill>
                <a:latin typeface="Microsoft YaHei UI" panose="020B0503020204020204" charset="-122"/>
                <a:ea typeface="Microsoft YaHei UI" panose="020B0503020204020204" charset="-122"/>
              </a:rPr>
              <a:t>研究方法与技术路线</a:t>
            </a:r>
            <a:endParaRPr lang="zh-CN" altLang="en-US" sz="4400" b="1">
              <a:solidFill>
                <a:schemeClr val="tx1"/>
              </a:solidFill>
              <a:latin typeface="Microsoft YaHei UI" panose="020B0503020204020204" charset="-122"/>
              <a:ea typeface="Microsoft YaHei UI" panose="020B0503020204020204" charset="-122"/>
            </a:endParaRPr>
          </a:p>
        </p:txBody>
      </p:sp>
      <p:sp>
        <p:nvSpPr>
          <p:cNvPr id="3" name="矩形 2"/>
          <p:cNvSpPr/>
          <p:nvPr>
            <p:custDataLst>
              <p:tags r:id="rId2"/>
            </p:custDataLst>
          </p:nvPr>
        </p:nvSpPr>
        <p:spPr>
          <a:xfrm>
            <a:off x="5194304" y="0"/>
            <a:ext cx="1803400" cy="100965"/>
          </a:xfrm>
          <a:prstGeom prst="rect">
            <a:avLst/>
          </a:pr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
          </a:p>
        </p:txBody>
      </p:sp>
      <p:grpSp>
        <p:nvGrpSpPr>
          <p:cNvPr id="28" name="组合 27"/>
          <p:cNvGrpSpPr/>
          <p:nvPr/>
        </p:nvGrpSpPr>
        <p:grpSpPr>
          <a:xfrm>
            <a:off x="609600" y="2209800"/>
            <a:ext cx="11049000" cy="3657600"/>
            <a:chOff x="960" y="3480"/>
            <a:chExt cx="17400" cy="5760"/>
          </a:xfrm>
        </p:grpSpPr>
        <p:sp>
          <p:nvSpPr>
            <p:cNvPr id="4" name="任意多边形 3"/>
            <p:cNvSpPr/>
            <p:nvPr>
              <p:custDataLst>
                <p:tags r:id="rId3"/>
              </p:custDataLst>
            </p:nvPr>
          </p:nvSpPr>
          <p:spPr>
            <a:xfrm>
              <a:off x="960" y="3480"/>
              <a:ext cx="960" cy="960"/>
            </a:xfrm>
            <a:custGeom>
              <a:avLst/>
              <a:gdLst>
                <a:gd name="connisteX0" fmla="*/ 0 w 8466"/>
                <a:gd name="connsiteY0" fmla="*/ 304796 h 8466"/>
                <a:gd name="connisteX1" fmla="*/ 304796 w 8466"/>
                <a:gd name="connsiteY1" fmla="*/ 0 h 8466"/>
                <a:gd name="connisteX2" fmla="*/ 304796 w 8466"/>
                <a:gd name="connsiteY2" fmla="*/ 0 h 8466"/>
                <a:gd name="connisteX3" fmla="*/ 609603 w 8466"/>
                <a:gd name="connsiteY3" fmla="*/ 304796 h 8466"/>
                <a:gd name="connisteX4" fmla="*/ 609603 w 8466"/>
                <a:gd name="connsiteY4" fmla="*/ 304796 h 8466"/>
                <a:gd name="connisteX5" fmla="*/ 304796 w 8466"/>
                <a:gd name="connsiteY5" fmla="*/ 609603 h 8466"/>
                <a:gd name="connisteX6" fmla="*/ 304796 w 8466"/>
                <a:gd name="connsiteY6" fmla="*/ 609603 h 8466"/>
                <a:gd name="connisteX7" fmla="*/ 0 w 8466"/>
                <a:gd name="connsiteY7" fmla="*/ 304796 h 8466"/>
                <a:gd name="connisteX8" fmla="*/ 0 w 8466"/>
                <a:gd name="connsiteY8" fmla="*/ 304796 h 846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3" h="609603">
                  <a:moveTo>
                    <a:pt x="0" y="304797"/>
                  </a:moveTo>
                  <a:cubicBezTo>
                    <a:pt x="0" y="136465"/>
                    <a:pt x="136465" y="0"/>
                    <a:pt x="304797" y="0"/>
                  </a:cubicBezTo>
                  <a:lnTo>
                    <a:pt x="304797" y="0"/>
                  </a:lnTo>
                  <a:cubicBezTo>
                    <a:pt x="473138" y="0"/>
                    <a:pt x="609603" y="136465"/>
                    <a:pt x="609603" y="304797"/>
                  </a:cubicBezTo>
                  <a:lnTo>
                    <a:pt x="609603" y="304797"/>
                  </a:lnTo>
                  <a:cubicBezTo>
                    <a:pt x="609603" y="473138"/>
                    <a:pt x="473138" y="609603"/>
                    <a:pt x="304797" y="609603"/>
                  </a:cubicBezTo>
                  <a:lnTo>
                    <a:pt x="304797" y="609603"/>
                  </a:lnTo>
                  <a:cubicBezTo>
                    <a:pt x="136465" y="609603"/>
                    <a:pt x="0" y="473138"/>
                    <a:pt x="0" y="304797"/>
                  </a:cubicBezTo>
                  <a:lnTo>
                    <a:pt x="0" y="30479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1183" y="3703"/>
              <a:ext cx="512" cy="513"/>
            </a:xfrm>
            <a:prstGeom prst="rect">
              <a:avLst/>
            </a:prstGeom>
            <a:noFill/>
          </p:spPr>
        </p:pic>
        <p:sp>
          <p:nvSpPr>
            <p:cNvPr id="6" name="文本框 5"/>
            <p:cNvSpPr txBox="1"/>
            <p:nvPr>
              <p:custDataLst>
                <p:tags r:id="rId7"/>
              </p:custDataLst>
            </p:nvPr>
          </p:nvSpPr>
          <p:spPr>
            <a:xfrm>
              <a:off x="2240" y="3480"/>
              <a:ext cx="4280" cy="640"/>
            </a:xfrm>
            <a:prstGeom prst="rect">
              <a:avLst/>
            </a:prstGeom>
            <a:noFill/>
          </p:spPr>
          <p:txBody>
            <a:bodyPr wrap="square" lIns="0" tIns="0" rIns="0" bIns="0" rtlCol="0" anchor="t">
              <a:noAutofit/>
            </a:bodyPr>
            <a:p>
              <a:pPr algn="l">
                <a:lnSpc>
                  <a:spcPct val="111000"/>
                </a:lnSpc>
              </a:pPr>
              <a:r>
                <a:rPr lang="en-US" altLang="en-US" sz="2400">
                  <a:solidFill>
                    <a:schemeClr val="tx1"/>
                  </a:solidFill>
                  <a:latin typeface="Microsoft YaHei UI" panose="020B0503020204020204" charset="-122"/>
                  <a:ea typeface="Microsoft YaHei UI" panose="020B0503020204020204" charset="-122"/>
                </a:rPr>
                <a:t>Raft</a:t>
              </a:r>
              <a:r>
                <a:rPr lang="zh-CN" altLang="en-US" sz="2400">
                  <a:solidFill>
                    <a:schemeClr val="tx1"/>
                  </a:solidFill>
                  <a:latin typeface="Microsoft YaHei UI" panose="020B0503020204020204" charset="-122"/>
                  <a:ea typeface="Microsoft YaHei UI" panose="020B0503020204020204" charset="-122"/>
                </a:rPr>
                <a:t>算法研究</a:t>
              </a:r>
              <a:endParaRPr lang="zh-CN" altLang="en-US" sz="2400">
                <a:solidFill>
                  <a:schemeClr val="tx1"/>
                </a:solidFill>
                <a:latin typeface="Microsoft YaHei UI" panose="020B0503020204020204" charset="-122"/>
                <a:ea typeface="Microsoft YaHei UI" panose="020B0503020204020204" charset="-122"/>
              </a:endParaRPr>
            </a:p>
          </p:txBody>
        </p:sp>
        <p:sp>
          <p:nvSpPr>
            <p:cNvPr id="7" name="文本框 6"/>
            <p:cNvSpPr txBox="1"/>
            <p:nvPr>
              <p:custDataLst>
                <p:tags r:id="rId8"/>
              </p:custDataLst>
            </p:nvPr>
          </p:nvSpPr>
          <p:spPr>
            <a:xfrm>
              <a:off x="2240" y="4200"/>
              <a:ext cx="4240" cy="192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算法是一种易于理解的分布式决策机制，通过分解复杂问题为多个子模块，提高框架透明度。</a:t>
              </a:r>
              <a:endParaRPr lang="zh-CN" altLang="en-US" sz="1600">
                <a:solidFill>
                  <a:schemeClr val="tx1"/>
                </a:solidFill>
                <a:latin typeface="Microsoft YaHei UI" panose="020B0503020204020204" charset="-122"/>
                <a:ea typeface="Microsoft YaHei UI" panose="020B0503020204020204" charset="-122"/>
              </a:endParaRPr>
            </a:p>
          </p:txBody>
        </p:sp>
        <p:sp>
          <p:nvSpPr>
            <p:cNvPr id="8" name="任意多边形 7"/>
            <p:cNvSpPr/>
            <p:nvPr>
              <p:custDataLst>
                <p:tags r:id="rId9"/>
              </p:custDataLst>
            </p:nvPr>
          </p:nvSpPr>
          <p:spPr>
            <a:xfrm>
              <a:off x="960" y="6600"/>
              <a:ext cx="960" cy="960"/>
            </a:xfrm>
            <a:custGeom>
              <a:avLst/>
              <a:gdLst>
                <a:gd name="connisteX0" fmla="*/ 0 w 8466"/>
                <a:gd name="connsiteY0" fmla="*/ 304796 h 8466"/>
                <a:gd name="connisteX1" fmla="*/ 304796 w 8466"/>
                <a:gd name="connsiteY1" fmla="*/ 0 h 8466"/>
                <a:gd name="connisteX2" fmla="*/ 304796 w 8466"/>
                <a:gd name="connsiteY2" fmla="*/ 0 h 8466"/>
                <a:gd name="connisteX3" fmla="*/ 609603 w 8466"/>
                <a:gd name="connsiteY3" fmla="*/ 304796 h 8466"/>
                <a:gd name="connisteX4" fmla="*/ 609603 w 8466"/>
                <a:gd name="connsiteY4" fmla="*/ 304796 h 8466"/>
                <a:gd name="connisteX5" fmla="*/ 304796 w 8466"/>
                <a:gd name="connsiteY5" fmla="*/ 609603 h 8466"/>
                <a:gd name="connisteX6" fmla="*/ 304796 w 8466"/>
                <a:gd name="connsiteY6" fmla="*/ 609603 h 8466"/>
                <a:gd name="connisteX7" fmla="*/ 0 w 8466"/>
                <a:gd name="connsiteY7" fmla="*/ 304796 h 8466"/>
                <a:gd name="connisteX8" fmla="*/ 0 w 8466"/>
                <a:gd name="connsiteY8" fmla="*/ 304796 h 846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3" h="609603">
                  <a:moveTo>
                    <a:pt x="0" y="304797"/>
                  </a:moveTo>
                  <a:cubicBezTo>
                    <a:pt x="0" y="136465"/>
                    <a:pt x="136465" y="0"/>
                    <a:pt x="304797" y="0"/>
                  </a:cubicBezTo>
                  <a:lnTo>
                    <a:pt x="304797" y="0"/>
                  </a:lnTo>
                  <a:cubicBezTo>
                    <a:pt x="473138" y="0"/>
                    <a:pt x="609603" y="136465"/>
                    <a:pt x="609603" y="304797"/>
                  </a:cubicBezTo>
                  <a:lnTo>
                    <a:pt x="609603" y="304797"/>
                  </a:lnTo>
                  <a:cubicBezTo>
                    <a:pt x="609603" y="473138"/>
                    <a:pt x="473138" y="609603"/>
                    <a:pt x="304797" y="609603"/>
                  </a:cubicBezTo>
                  <a:lnTo>
                    <a:pt x="304797" y="609603"/>
                  </a:lnTo>
                  <a:cubicBezTo>
                    <a:pt x="136465" y="609603"/>
                    <a:pt x="0" y="473138"/>
                    <a:pt x="0" y="304797"/>
                  </a:cubicBezTo>
                  <a:lnTo>
                    <a:pt x="0" y="30479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183" y="6824"/>
              <a:ext cx="512" cy="512"/>
            </a:xfrm>
            <a:prstGeom prst="rect">
              <a:avLst/>
            </a:prstGeom>
            <a:noFill/>
          </p:spPr>
        </p:pic>
        <p:sp>
          <p:nvSpPr>
            <p:cNvPr id="10" name="文本框 9"/>
            <p:cNvSpPr txBox="1"/>
            <p:nvPr>
              <p:custDataLst>
                <p:tags r:id="rId13"/>
              </p:custDataLst>
            </p:nvPr>
          </p:nvSpPr>
          <p:spPr>
            <a:xfrm>
              <a:off x="2240" y="6600"/>
              <a:ext cx="4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日志复制</a:t>
              </a:r>
              <a:endParaRPr lang="zh-CN" altLang="en-US" sz="2400">
                <a:solidFill>
                  <a:schemeClr val="tx1"/>
                </a:solidFill>
                <a:latin typeface="Microsoft YaHei UI" panose="020B0503020204020204" charset="-122"/>
                <a:ea typeface="Microsoft YaHei UI" panose="020B0503020204020204" charset="-122"/>
              </a:endParaRPr>
            </a:p>
          </p:txBody>
        </p:sp>
        <p:sp>
          <p:nvSpPr>
            <p:cNvPr id="11" name="文本框 10"/>
            <p:cNvSpPr txBox="1"/>
            <p:nvPr>
              <p:custDataLst>
                <p:tags r:id="rId14"/>
              </p:custDataLst>
            </p:nvPr>
          </p:nvSpPr>
          <p:spPr>
            <a:xfrm>
              <a:off x="2240" y="7320"/>
              <a:ext cx="424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日志复制是</a:t>
              </a:r>
              <a:r>
                <a:rPr lang="en-US" altLang="zh-CN"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共识算法核心，确保集群状态同步，采用多种机制保障日志一致性。</a:t>
              </a:r>
              <a:endParaRPr lang="zh-CN" altLang="en-US" sz="1600">
                <a:solidFill>
                  <a:schemeClr val="tx1"/>
                </a:solidFill>
                <a:latin typeface="Microsoft YaHei UI" panose="020B0503020204020204" charset="-122"/>
                <a:ea typeface="Microsoft YaHei UI" panose="020B0503020204020204" charset="-122"/>
              </a:endParaRPr>
            </a:p>
          </p:txBody>
        </p:sp>
        <p:sp>
          <p:nvSpPr>
            <p:cNvPr id="12" name="任意多边形 11"/>
            <p:cNvSpPr/>
            <p:nvPr>
              <p:custDataLst>
                <p:tags r:id="rId15"/>
              </p:custDataLst>
            </p:nvPr>
          </p:nvSpPr>
          <p:spPr>
            <a:xfrm>
              <a:off x="6880" y="3480"/>
              <a:ext cx="960" cy="960"/>
            </a:xfrm>
            <a:custGeom>
              <a:avLst/>
              <a:gdLst>
                <a:gd name="connisteX0" fmla="*/ 0 w 8466"/>
                <a:gd name="connsiteY0" fmla="*/ 304796 h 8466"/>
                <a:gd name="connisteX1" fmla="*/ 304796 w 8466"/>
                <a:gd name="connsiteY1" fmla="*/ 0 h 8466"/>
                <a:gd name="connisteX2" fmla="*/ 304796 w 8466"/>
                <a:gd name="connsiteY2" fmla="*/ 0 h 8466"/>
                <a:gd name="connisteX3" fmla="*/ 609603 w 8466"/>
                <a:gd name="connsiteY3" fmla="*/ 304796 h 8466"/>
                <a:gd name="connisteX4" fmla="*/ 609603 w 8466"/>
                <a:gd name="connsiteY4" fmla="*/ 304796 h 8466"/>
                <a:gd name="connisteX5" fmla="*/ 304796 w 8466"/>
                <a:gd name="connsiteY5" fmla="*/ 609603 h 8466"/>
                <a:gd name="connisteX6" fmla="*/ 304796 w 8466"/>
                <a:gd name="connsiteY6" fmla="*/ 609603 h 8466"/>
                <a:gd name="connisteX7" fmla="*/ 0 w 8466"/>
                <a:gd name="connsiteY7" fmla="*/ 304796 h 8466"/>
                <a:gd name="connisteX8" fmla="*/ 0 w 8466"/>
                <a:gd name="connsiteY8" fmla="*/ 304796 h 846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3" h="609603">
                  <a:moveTo>
                    <a:pt x="0" y="304797"/>
                  </a:moveTo>
                  <a:cubicBezTo>
                    <a:pt x="0" y="136465"/>
                    <a:pt x="136465" y="0"/>
                    <a:pt x="304797" y="0"/>
                  </a:cubicBezTo>
                  <a:lnTo>
                    <a:pt x="304797" y="0"/>
                  </a:lnTo>
                  <a:cubicBezTo>
                    <a:pt x="473138" y="0"/>
                    <a:pt x="609603" y="136465"/>
                    <a:pt x="609603" y="304797"/>
                  </a:cubicBezTo>
                  <a:lnTo>
                    <a:pt x="609603" y="304797"/>
                  </a:lnTo>
                  <a:cubicBezTo>
                    <a:pt x="609603" y="473138"/>
                    <a:pt x="473138" y="609603"/>
                    <a:pt x="304797" y="609603"/>
                  </a:cubicBezTo>
                  <a:lnTo>
                    <a:pt x="304797" y="609603"/>
                  </a:lnTo>
                  <a:cubicBezTo>
                    <a:pt x="136465" y="609603"/>
                    <a:pt x="0" y="473138"/>
                    <a:pt x="0" y="304797"/>
                  </a:cubicBezTo>
                  <a:lnTo>
                    <a:pt x="0" y="30479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3" name="图片 12"/>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7104" y="3703"/>
              <a:ext cx="512" cy="513"/>
            </a:xfrm>
            <a:prstGeom prst="rect">
              <a:avLst/>
            </a:prstGeom>
            <a:noFill/>
          </p:spPr>
        </p:pic>
        <p:sp>
          <p:nvSpPr>
            <p:cNvPr id="14" name="文本框 13"/>
            <p:cNvSpPr txBox="1"/>
            <p:nvPr>
              <p:custDataLst>
                <p:tags r:id="rId19"/>
              </p:custDataLst>
            </p:nvPr>
          </p:nvSpPr>
          <p:spPr>
            <a:xfrm>
              <a:off x="8160" y="3480"/>
              <a:ext cx="4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集群启动</a:t>
              </a:r>
              <a:endParaRPr lang="zh-CN" altLang="en-US" sz="24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20"/>
              </p:custDataLst>
            </p:nvPr>
          </p:nvSpPr>
          <p:spPr>
            <a:xfrm>
              <a:off x="8160" y="4200"/>
              <a:ext cx="4240" cy="192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集群初始化流程关键，支持预配置和动态构建模式，确保集群正确构建并启动。</a:t>
              </a:r>
              <a:endParaRPr lang="zh-CN" altLang="en-US" sz="1600">
                <a:solidFill>
                  <a:schemeClr val="tx1"/>
                </a:solidFill>
                <a:latin typeface="Microsoft YaHei UI" panose="020B0503020204020204" charset="-122"/>
                <a:ea typeface="Microsoft YaHei UI" panose="020B0503020204020204" charset="-122"/>
              </a:endParaRPr>
            </a:p>
          </p:txBody>
        </p:sp>
        <p:sp>
          <p:nvSpPr>
            <p:cNvPr id="16" name="任意多边形 15"/>
            <p:cNvSpPr/>
            <p:nvPr>
              <p:custDataLst>
                <p:tags r:id="rId21"/>
              </p:custDataLst>
            </p:nvPr>
          </p:nvSpPr>
          <p:spPr>
            <a:xfrm>
              <a:off x="6880" y="6600"/>
              <a:ext cx="960" cy="960"/>
            </a:xfrm>
            <a:custGeom>
              <a:avLst/>
              <a:gdLst>
                <a:gd name="connisteX0" fmla="*/ 0 w 8466"/>
                <a:gd name="connsiteY0" fmla="*/ 304796 h 8466"/>
                <a:gd name="connisteX1" fmla="*/ 304796 w 8466"/>
                <a:gd name="connsiteY1" fmla="*/ 0 h 8466"/>
                <a:gd name="connisteX2" fmla="*/ 304796 w 8466"/>
                <a:gd name="connsiteY2" fmla="*/ 0 h 8466"/>
                <a:gd name="connisteX3" fmla="*/ 609603 w 8466"/>
                <a:gd name="connsiteY3" fmla="*/ 304796 h 8466"/>
                <a:gd name="connisteX4" fmla="*/ 609603 w 8466"/>
                <a:gd name="connsiteY4" fmla="*/ 304796 h 8466"/>
                <a:gd name="connisteX5" fmla="*/ 304796 w 8466"/>
                <a:gd name="connsiteY5" fmla="*/ 609603 h 8466"/>
                <a:gd name="connisteX6" fmla="*/ 304796 w 8466"/>
                <a:gd name="connsiteY6" fmla="*/ 609603 h 8466"/>
                <a:gd name="connisteX7" fmla="*/ 0 w 8466"/>
                <a:gd name="connsiteY7" fmla="*/ 304796 h 8466"/>
                <a:gd name="connisteX8" fmla="*/ 0 w 8466"/>
                <a:gd name="connsiteY8" fmla="*/ 304796 h 846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3" h="609603">
                  <a:moveTo>
                    <a:pt x="0" y="304797"/>
                  </a:moveTo>
                  <a:cubicBezTo>
                    <a:pt x="0" y="136465"/>
                    <a:pt x="136465" y="0"/>
                    <a:pt x="304797" y="0"/>
                  </a:cubicBezTo>
                  <a:lnTo>
                    <a:pt x="304797" y="0"/>
                  </a:lnTo>
                  <a:cubicBezTo>
                    <a:pt x="473138" y="0"/>
                    <a:pt x="609603" y="136465"/>
                    <a:pt x="609603" y="304797"/>
                  </a:cubicBezTo>
                  <a:lnTo>
                    <a:pt x="609603" y="304797"/>
                  </a:lnTo>
                  <a:cubicBezTo>
                    <a:pt x="609603" y="473138"/>
                    <a:pt x="473138" y="609603"/>
                    <a:pt x="304797" y="609603"/>
                  </a:cubicBezTo>
                  <a:lnTo>
                    <a:pt x="304797" y="609603"/>
                  </a:lnTo>
                  <a:cubicBezTo>
                    <a:pt x="136465" y="609603"/>
                    <a:pt x="0" y="473138"/>
                    <a:pt x="0" y="304797"/>
                  </a:cubicBezTo>
                  <a:lnTo>
                    <a:pt x="0" y="30479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7" name="图片 16"/>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7104" y="6824"/>
              <a:ext cx="512" cy="512"/>
            </a:xfrm>
            <a:prstGeom prst="rect">
              <a:avLst/>
            </a:prstGeom>
            <a:noFill/>
          </p:spPr>
        </p:pic>
        <p:sp>
          <p:nvSpPr>
            <p:cNvPr id="18" name="文本框 17"/>
            <p:cNvSpPr txBox="1"/>
            <p:nvPr>
              <p:custDataLst>
                <p:tags r:id="rId25"/>
              </p:custDataLst>
            </p:nvPr>
          </p:nvSpPr>
          <p:spPr>
            <a:xfrm>
              <a:off x="8160" y="6600"/>
              <a:ext cx="4280" cy="640"/>
            </a:xfrm>
            <a:prstGeom prst="rect">
              <a:avLst/>
            </a:prstGeom>
            <a:noFill/>
          </p:spPr>
          <p:txBody>
            <a:bodyPr wrap="square" lIns="0" tIns="0" rIns="0" bIns="0" rtlCol="0" anchor="t">
              <a:noAutofit/>
            </a:bodyPr>
            <a:p>
              <a:pPr algn="l">
                <a:lnSpc>
                  <a:spcPct val="111000"/>
                </a:lnSpc>
              </a:pPr>
              <a:r>
                <a:rPr lang="en-US" altLang="en-US" sz="2400">
                  <a:solidFill>
                    <a:schemeClr val="tx1"/>
                  </a:solidFill>
                  <a:latin typeface="Microsoft YaHei UI" panose="020B0503020204020204" charset="-122"/>
                  <a:ea typeface="Microsoft YaHei UI" panose="020B0503020204020204" charset="-122"/>
                </a:rPr>
                <a:t>Leader</a:t>
              </a:r>
              <a:r>
                <a:rPr lang="zh-CN" altLang="en-US" sz="2400">
                  <a:solidFill>
                    <a:schemeClr val="tx1"/>
                  </a:solidFill>
                  <a:latin typeface="Microsoft YaHei UI" panose="020B0503020204020204" charset="-122"/>
                  <a:ea typeface="Microsoft YaHei UI" panose="020B0503020204020204" charset="-122"/>
                </a:rPr>
                <a:t>选举</a:t>
              </a:r>
              <a:endParaRPr lang="zh-CN" altLang="en-US" sz="2400">
                <a:solidFill>
                  <a:schemeClr val="tx1"/>
                </a:solidFill>
                <a:latin typeface="Microsoft YaHei UI" panose="020B0503020204020204" charset="-122"/>
                <a:ea typeface="Microsoft YaHei UI" panose="020B0503020204020204" charset="-122"/>
              </a:endParaRPr>
            </a:p>
          </p:txBody>
        </p:sp>
        <p:sp>
          <p:nvSpPr>
            <p:cNvPr id="19" name="文本框 18"/>
            <p:cNvSpPr txBox="1"/>
            <p:nvPr>
              <p:custDataLst>
                <p:tags r:id="rId26"/>
              </p:custDataLst>
            </p:nvPr>
          </p:nvSpPr>
          <p:spPr>
            <a:xfrm>
              <a:off x="8160" y="7320"/>
              <a:ext cx="4240" cy="192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Leader</a:t>
              </a:r>
              <a:r>
                <a:rPr lang="zh-CN" altLang="en-US" sz="1600">
                  <a:solidFill>
                    <a:schemeClr val="tx1"/>
                  </a:solidFill>
                  <a:latin typeface="Microsoft YaHei UI" panose="020B0503020204020204" charset="-122"/>
                  <a:ea typeface="Microsoft YaHei UI" panose="020B0503020204020204" charset="-122"/>
                </a:rPr>
                <a:t>选举对系统可用性和数据一致性有直接影响，</a:t>
              </a:r>
              <a:r>
                <a:rPr lang="en-US" altLang="zh-CN"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通过多种机制确保选举的安全性和正确性。</a:t>
              </a:r>
              <a:endParaRPr lang="zh-CN" altLang="en-US" sz="1600">
                <a:solidFill>
                  <a:schemeClr val="tx1"/>
                </a:solidFill>
                <a:latin typeface="Microsoft YaHei UI" panose="020B0503020204020204" charset="-122"/>
                <a:ea typeface="Microsoft YaHei UI" panose="020B0503020204020204" charset="-122"/>
              </a:endParaRPr>
            </a:p>
          </p:txBody>
        </p:sp>
        <p:sp>
          <p:nvSpPr>
            <p:cNvPr id="20" name="任意多边形 19"/>
            <p:cNvSpPr/>
            <p:nvPr>
              <p:custDataLst>
                <p:tags r:id="rId27"/>
              </p:custDataLst>
            </p:nvPr>
          </p:nvSpPr>
          <p:spPr>
            <a:xfrm>
              <a:off x="12800" y="3480"/>
              <a:ext cx="960" cy="960"/>
            </a:xfrm>
            <a:custGeom>
              <a:avLst/>
              <a:gdLst>
                <a:gd name="connisteX0" fmla="*/ 0 w 8466"/>
                <a:gd name="connsiteY0" fmla="*/ 304796 h 8466"/>
                <a:gd name="connisteX1" fmla="*/ 304796 w 8466"/>
                <a:gd name="connsiteY1" fmla="*/ 0 h 8466"/>
                <a:gd name="connisteX2" fmla="*/ 304796 w 8466"/>
                <a:gd name="connsiteY2" fmla="*/ 0 h 8466"/>
                <a:gd name="connisteX3" fmla="*/ 609603 w 8466"/>
                <a:gd name="connsiteY3" fmla="*/ 304796 h 8466"/>
                <a:gd name="connisteX4" fmla="*/ 609603 w 8466"/>
                <a:gd name="connsiteY4" fmla="*/ 304796 h 8466"/>
                <a:gd name="connisteX5" fmla="*/ 304796 w 8466"/>
                <a:gd name="connsiteY5" fmla="*/ 609603 h 8466"/>
                <a:gd name="connisteX6" fmla="*/ 304796 w 8466"/>
                <a:gd name="connsiteY6" fmla="*/ 609603 h 8466"/>
                <a:gd name="connisteX7" fmla="*/ 0 w 8466"/>
                <a:gd name="connsiteY7" fmla="*/ 304796 h 8466"/>
                <a:gd name="connisteX8" fmla="*/ 0 w 8466"/>
                <a:gd name="connsiteY8" fmla="*/ 304796 h 846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3" h="609603">
                  <a:moveTo>
                    <a:pt x="0" y="304797"/>
                  </a:moveTo>
                  <a:cubicBezTo>
                    <a:pt x="0" y="136465"/>
                    <a:pt x="136465" y="0"/>
                    <a:pt x="304797" y="0"/>
                  </a:cubicBezTo>
                  <a:lnTo>
                    <a:pt x="304797" y="0"/>
                  </a:lnTo>
                  <a:cubicBezTo>
                    <a:pt x="473138" y="0"/>
                    <a:pt x="609603" y="136465"/>
                    <a:pt x="609603" y="304797"/>
                  </a:cubicBezTo>
                  <a:lnTo>
                    <a:pt x="609603" y="304797"/>
                  </a:lnTo>
                  <a:cubicBezTo>
                    <a:pt x="609603" y="473138"/>
                    <a:pt x="473138" y="609603"/>
                    <a:pt x="304797" y="609603"/>
                  </a:cubicBezTo>
                  <a:lnTo>
                    <a:pt x="304797" y="609603"/>
                  </a:lnTo>
                  <a:cubicBezTo>
                    <a:pt x="136465" y="609603"/>
                    <a:pt x="0" y="473138"/>
                    <a:pt x="0" y="304797"/>
                  </a:cubicBezTo>
                  <a:lnTo>
                    <a:pt x="0" y="30479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1" name="图片 20"/>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13024" y="3703"/>
              <a:ext cx="511" cy="513"/>
            </a:xfrm>
            <a:prstGeom prst="rect">
              <a:avLst/>
            </a:prstGeom>
            <a:noFill/>
          </p:spPr>
        </p:pic>
        <p:sp>
          <p:nvSpPr>
            <p:cNvPr id="22" name="文本框 21"/>
            <p:cNvSpPr txBox="1"/>
            <p:nvPr>
              <p:custDataLst>
                <p:tags r:id="rId31"/>
              </p:custDataLst>
            </p:nvPr>
          </p:nvSpPr>
          <p:spPr>
            <a:xfrm>
              <a:off x="14080" y="3480"/>
              <a:ext cx="4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新节点加入集群</a:t>
              </a:r>
              <a:endParaRPr lang="zh-CN" altLang="en-US" sz="2400">
                <a:solidFill>
                  <a:schemeClr val="tx1"/>
                </a:solidFill>
                <a:latin typeface="Microsoft YaHei UI" panose="020B0503020204020204" charset="-122"/>
                <a:ea typeface="Microsoft YaHei UI" panose="020B0503020204020204" charset="-122"/>
              </a:endParaRPr>
            </a:p>
          </p:txBody>
        </p:sp>
        <p:sp>
          <p:nvSpPr>
            <p:cNvPr id="23" name="文本框 22"/>
            <p:cNvSpPr txBox="1"/>
            <p:nvPr>
              <p:custDataLst>
                <p:tags r:id="rId32"/>
              </p:custDataLst>
            </p:nvPr>
          </p:nvSpPr>
          <p:spPr>
            <a:xfrm>
              <a:off x="14080" y="4200"/>
              <a:ext cx="4240" cy="1920"/>
            </a:xfrm>
            <a:prstGeom prst="rect">
              <a:avLst/>
            </a:prstGeom>
            <a:noFill/>
          </p:spPr>
          <p:txBody>
            <a:bodyPr wrap="square" lIns="0" tIns="0" rIns="0" bIns="0" rtlCol="0" anchor="t">
              <a:noAutofit/>
            </a:bodyPr>
            <a:p>
              <a:pPr algn="l">
                <a:lnSpc>
                  <a:spcPct val="125000"/>
                </a:lnSpc>
              </a:pPr>
              <a:r>
                <a:rPr lang="en-US" altLang="en-US"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为集群成员动态调整提供严谨可靠的技术方案，采用联合决策机制，保证系统稳定运行和数据一致性。</a:t>
              </a:r>
              <a:endParaRPr lang="zh-CN" altLang="en-US" sz="1600">
                <a:solidFill>
                  <a:schemeClr val="tx1"/>
                </a:solidFill>
                <a:latin typeface="Microsoft YaHei UI" panose="020B0503020204020204" charset="-122"/>
                <a:ea typeface="Microsoft YaHei UI" panose="020B0503020204020204" charset="-122"/>
              </a:endParaRPr>
            </a:p>
          </p:txBody>
        </p:sp>
        <p:sp>
          <p:nvSpPr>
            <p:cNvPr id="24" name="任意多边形 23"/>
            <p:cNvSpPr/>
            <p:nvPr>
              <p:custDataLst>
                <p:tags r:id="rId33"/>
              </p:custDataLst>
            </p:nvPr>
          </p:nvSpPr>
          <p:spPr>
            <a:xfrm>
              <a:off x="12800" y="6600"/>
              <a:ext cx="960" cy="960"/>
            </a:xfrm>
            <a:custGeom>
              <a:avLst/>
              <a:gdLst>
                <a:gd name="connisteX0" fmla="*/ 0 w 8466"/>
                <a:gd name="connsiteY0" fmla="*/ 304796 h 8466"/>
                <a:gd name="connisteX1" fmla="*/ 304796 w 8466"/>
                <a:gd name="connsiteY1" fmla="*/ 0 h 8466"/>
                <a:gd name="connisteX2" fmla="*/ 304796 w 8466"/>
                <a:gd name="connsiteY2" fmla="*/ 0 h 8466"/>
                <a:gd name="connisteX3" fmla="*/ 609603 w 8466"/>
                <a:gd name="connsiteY3" fmla="*/ 304796 h 8466"/>
                <a:gd name="connisteX4" fmla="*/ 609603 w 8466"/>
                <a:gd name="connsiteY4" fmla="*/ 304796 h 8466"/>
                <a:gd name="connisteX5" fmla="*/ 304796 w 8466"/>
                <a:gd name="connsiteY5" fmla="*/ 609603 h 8466"/>
                <a:gd name="connisteX6" fmla="*/ 304796 w 8466"/>
                <a:gd name="connsiteY6" fmla="*/ 609603 h 8466"/>
                <a:gd name="connisteX7" fmla="*/ 0 w 8466"/>
                <a:gd name="connsiteY7" fmla="*/ 304796 h 8466"/>
                <a:gd name="connisteX8" fmla="*/ 0 w 8466"/>
                <a:gd name="connsiteY8" fmla="*/ 304796 h 846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609603" h="609603">
                  <a:moveTo>
                    <a:pt x="0" y="304797"/>
                  </a:moveTo>
                  <a:cubicBezTo>
                    <a:pt x="0" y="136465"/>
                    <a:pt x="136465" y="0"/>
                    <a:pt x="304797" y="0"/>
                  </a:cubicBezTo>
                  <a:lnTo>
                    <a:pt x="304797" y="0"/>
                  </a:lnTo>
                  <a:cubicBezTo>
                    <a:pt x="473138" y="0"/>
                    <a:pt x="609603" y="136465"/>
                    <a:pt x="609603" y="304797"/>
                  </a:cubicBezTo>
                  <a:lnTo>
                    <a:pt x="609603" y="304797"/>
                  </a:lnTo>
                  <a:cubicBezTo>
                    <a:pt x="609603" y="473138"/>
                    <a:pt x="473138" y="609603"/>
                    <a:pt x="304797" y="609603"/>
                  </a:cubicBezTo>
                  <a:lnTo>
                    <a:pt x="304797" y="609603"/>
                  </a:lnTo>
                  <a:cubicBezTo>
                    <a:pt x="136465" y="609603"/>
                    <a:pt x="0" y="473138"/>
                    <a:pt x="0" y="304797"/>
                  </a:cubicBezTo>
                  <a:lnTo>
                    <a:pt x="0" y="304797"/>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5" name="图片 24"/>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13024" y="6824"/>
              <a:ext cx="511" cy="512"/>
            </a:xfrm>
            <a:prstGeom prst="rect">
              <a:avLst/>
            </a:prstGeom>
            <a:noFill/>
          </p:spPr>
        </p:pic>
        <p:sp>
          <p:nvSpPr>
            <p:cNvPr id="26" name="文本框 25"/>
            <p:cNvSpPr txBox="1"/>
            <p:nvPr>
              <p:custDataLst>
                <p:tags r:id="rId37"/>
              </p:custDataLst>
            </p:nvPr>
          </p:nvSpPr>
          <p:spPr>
            <a:xfrm>
              <a:off x="14080" y="6600"/>
              <a:ext cx="4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日志状态</a:t>
              </a:r>
              <a:endParaRPr lang="zh-CN" altLang="en-US" sz="2400">
                <a:solidFill>
                  <a:schemeClr val="tx1"/>
                </a:solidFill>
                <a:latin typeface="Microsoft YaHei UI" panose="020B0503020204020204" charset="-122"/>
                <a:ea typeface="Microsoft YaHei UI" panose="020B0503020204020204" charset="-122"/>
              </a:endParaRPr>
            </a:p>
          </p:txBody>
        </p:sp>
        <p:sp>
          <p:nvSpPr>
            <p:cNvPr id="27" name="文本框 26"/>
            <p:cNvSpPr txBox="1"/>
            <p:nvPr>
              <p:custDataLst>
                <p:tags r:id="rId38"/>
              </p:custDataLst>
            </p:nvPr>
          </p:nvSpPr>
          <p:spPr>
            <a:xfrm>
              <a:off x="14080" y="7320"/>
              <a:ext cx="424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日志状态管理是</a:t>
              </a:r>
              <a:r>
                <a:rPr lang="en-US" altLang="zh-CN"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共识算法基础架构的关键部分，确保系统状态一致性和可靠性。</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3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0920" y="329635"/>
            <a:ext cx="10969200" cy="705600"/>
          </a:xfrm>
        </p:spPr>
        <p:txBody>
          <a:bodyPr/>
          <a:p>
            <a:r>
              <a:rPr lang="en-US" altLang="zh-CN"/>
              <a:t>Raft</a:t>
            </a:r>
            <a:r>
              <a:rPr lang="zh-CN" altLang="en-US"/>
              <a:t>算法</a:t>
            </a:r>
            <a:endParaRPr lang="zh-CN" altLang="en-US"/>
          </a:p>
        </p:txBody>
      </p:sp>
      <p:pic>
        <p:nvPicPr>
          <p:cNvPr id="3" name="图片 2" descr="Temp\paperppt\{1debeecb-ad10-4ef1-b502-eb06c36df038}"/>
          <p:cNvPicPr>
            <a:picLocks noChangeAspect="1"/>
          </p:cNvPicPr>
          <p:nvPr/>
        </p:nvPicPr>
        <p:blipFill>
          <a:blip r:embed="rId1"/>
          <a:stretch>
            <a:fillRect/>
          </a:stretch>
        </p:blipFill>
        <p:spPr>
          <a:xfrm>
            <a:off x="293370" y="1035050"/>
            <a:ext cx="4895215" cy="2771140"/>
          </a:xfrm>
          <a:prstGeom prst="rect">
            <a:avLst/>
          </a:prstGeom>
        </p:spPr>
      </p:pic>
      <p:sp>
        <p:nvSpPr>
          <p:cNvPr id="9" name="文本框 8"/>
          <p:cNvSpPr txBox="1"/>
          <p:nvPr/>
        </p:nvSpPr>
        <p:spPr>
          <a:xfrm>
            <a:off x="5188585" y="869315"/>
            <a:ext cx="6659245" cy="5507990"/>
          </a:xfrm>
          <a:prstGeom prst="rect">
            <a:avLst/>
          </a:prstGeom>
          <a:noFill/>
        </p:spPr>
        <p:txBody>
          <a:bodyPr wrap="square" rtlCol="0">
            <a:spAutoFit/>
          </a:bodyPr>
          <a:p>
            <a:r>
              <a:rPr lang="en-US" altLang="zh-CN" sz="1600"/>
              <a:t>Raft </a:t>
            </a:r>
            <a:r>
              <a:rPr lang="zh-CN" altLang="en-US" sz="1600"/>
              <a:t>算法是</a:t>
            </a:r>
            <a:r>
              <a:rPr lang="en-US" altLang="zh-CN" sz="1600"/>
              <a:t> Diego Ongaro </a:t>
            </a:r>
            <a:r>
              <a:rPr lang="zh-CN" altLang="en-US" sz="1600"/>
              <a:t>和</a:t>
            </a:r>
            <a:r>
              <a:rPr lang="en-US" altLang="zh-CN" sz="1600"/>
              <a:t> John Ousterhout </a:t>
            </a:r>
            <a:r>
              <a:rPr lang="zh-CN" altLang="en-US" sz="1600"/>
              <a:t>在</a:t>
            </a:r>
            <a:r>
              <a:rPr lang="en-US" altLang="zh-CN" sz="1600"/>
              <a:t> 2013 </a:t>
            </a:r>
            <a:r>
              <a:rPr lang="zh-CN" altLang="en-US" sz="1600"/>
              <a:t>年提出的分布式共识算法，旨在替代复杂难懂的</a:t>
            </a:r>
            <a:r>
              <a:rPr lang="en-US" altLang="zh-CN" sz="1600"/>
              <a:t> Paxos </a:t>
            </a:r>
            <a:r>
              <a:rPr lang="zh-CN" altLang="en-US" sz="1600"/>
              <a:t>算法，为分布式系统提供更易理解和实现的一致性保证。</a:t>
            </a:r>
            <a:endParaRPr lang="zh-CN" altLang="en-US" sz="1600"/>
          </a:p>
          <a:p>
            <a:r>
              <a:rPr lang="en-US" altLang="zh-CN" sz="1600"/>
              <a:t>Raft </a:t>
            </a:r>
            <a:r>
              <a:rPr lang="zh-CN" altLang="en-US" sz="1600"/>
              <a:t>算法将共识问题分解为三个相对独立的子问题：</a:t>
            </a:r>
            <a:endParaRPr lang="zh-CN" altLang="en-US" sz="1600"/>
          </a:p>
          <a:p>
            <a:r>
              <a:rPr lang="en-US" altLang="zh-CN" sz="1600"/>
              <a:t>1. </a:t>
            </a:r>
            <a:r>
              <a:rPr lang="zh-CN" altLang="en-US" sz="1600"/>
              <a:t>领导者选举（</a:t>
            </a:r>
            <a:r>
              <a:rPr lang="en-US" altLang="zh-CN" sz="1600"/>
              <a:t>Leader Election</a:t>
            </a:r>
            <a:r>
              <a:rPr lang="zh-CN" altLang="en-US" sz="1600"/>
              <a:t>）</a:t>
            </a:r>
            <a:endParaRPr lang="zh-CN" altLang="en-US" sz="1600"/>
          </a:p>
          <a:p>
            <a:r>
              <a:rPr lang="zh-CN" altLang="en-US" sz="1600"/>
              <a:t>集群中的节点分为三种角色：领导者（</a:t>
            </a:r>
            <a:r>
              <a:rPr lang="en-US" altLang="zh-CN" sz="1600"/>
              <a:t>Leader</a:t>
            </a:r>
            <a:r>
              <a:rPr lang="zh-CN" altLang="en-US" sz="1600"/>
              <a:t>）、跟随者（</a:t>
            </a:r>
            <a:r>
              <a:rPr lang="en-US" altLang="zh-CN" sz="1600"/>
              <a:t>Follower</a:t>
            </a:r>
            <a:r>
              <a:rPr lang="zh-CN" altLang="en-US" sz="1600"/>
              <a:t>）和候选者（</a:t>
            </a:r>
            <a:r>
              <a:rPr lang="en-US" altLang="zh-CN" sz="1600"/>
              <a:t>Candidate</a:t>
            </a:r>
            <a:r>
              <a:rPr lang="zh-CN" altLang="en-US" sz="1600"/>
              <a:t>）。系统启动时所有节点都是跟随者，当跟随者在选举超时时间内没有收到领导者心跳时，会转为候选者并发起选举。候选者向其他节点请求投票，获得多数票的候选者成为新领导者。</a:t>
            </a:r>
            <a:endParaRPr lang="zh-CN" altLang="en-US" sz="1600"/>
          </a:p>
          <a:p>
            <a:r>
              <a:rPr lang="en-US" altLang="zh-CN" sz="1600"/>
              <a:t>2. </a:t>
            </a:r>
            <a:r>
              <a:rPr lang="zh-CN" altLang="en-US" sz="1600"/>
              <a:t>日志复制（</a:t>
            </a:r>
            <a:r>
              <a:rPr lang="en-US" altLang="zh-CN" sz="1600"/>
              <a:t>Log Replication</a:t>
            </a:r>
            <a:r>
              <a:rPr lang="zh-CN" altLang="en-US" sz="1600"/>
              <a:t>）</a:t>
            </a:r>
            <a:endParaRPr lang="zh-CN" altLang="en-US" sz="1600"/>
          </a:p>
          <a:p>
            <a:r>
              <a:rPr lang="zh-CN" altLang="en-US" sz="1600"/>
              <a:t>一旦选出领导者，所有客户端请求都由领导者处理。领导者将每个请求作为日志条目追加到本地日志，然后并行地向所有跟随者发送</a:t>
            </a:r>
            <a:r>
              <a:rPr lang="en-US" altLang="zh-CN" sz="1600"/>
              <a:t> AppendEntries RPC </a:t>
            </a:r>
            <a:r>
              <a:rPr lang="zh-CN" altLang="en-US" sz="1600"/>
              <a:t>来复制该条目。当多数节点确认收到后，领导者提交该条目并将结果返回给客户端，随后通知跟随者提交。</a:t>
            </a:r>
            <a:endParaRPr lang="zh-CN" altLang="en-US" sz="1600"/>
          </a:p>
          <a:p>
            <a:r>
              <a:rPr lang="en-US" altLang="zh-CN" sz="1600"/>
              <a:t>3. </a:t>
            </a:r>
            <a:r>
              <a:rPr lang="zh-CN" altLang="en-US" sz="1600"/>
              <a:t>安全性保证（</a:t>
            </a:r>
            <a:r>
              <a:rPr lang="en-US" altLang="zh-CN" sz="1600"/>
              <a:t>Safety</a:t>
            </a:r>
            <a:r>
              <a:rPr lang="zh-CN" altLang="en-US" sz="1600"/>
              <a:t>）</a:t>
            </a:r>
            <a:endParaRPr lang="zh-CN" altLang="en-US" sz="1600"/>
          </a:p>
          <a:p>
            <a:r>
              <a:rPr lang="en-US" altLang="zh-CN" sz="1600"/>
              <a:t>Raft </a:t>
            </a:r>
            <a:r>
              <a:rPr lang="zh-CN" altLang="en-US" sz="1600"/>
              <a:t>通过任期号（</a:t>
            </a:r>
            <a:r>
              <a:rPr lang="en-US" altLang="zh-CN" sz="1600"/>
              <a:t>Term</a:t>
            </a:r>
            <a:r>
              <a:rPr lang="zh-CN" altLang="en-US" sz="1600"/>
              <a:t>）机制和严格的日志匹配规则来保证安全性。每次选举都会增加任期号，确保在同一任期内最多只有一个领导者。同时，</a:t>
            </a:r>
            <a:r>
              <a:rPr lang="en-US" altLang="zh-CN" sz="1600"/>
              <a:t>Raft </a:t>
            </a:r>
            <a:r>
              <a:rPr lang="zh-CN" altLang="en-US" sz="1600"/>
              <a:t>保证已提交的日志条目永远不会被覆盖，新领导者的日志必须包含所有已提交的条目。</a:t>
            </a:r>
            <a:endParaRPr lang="zh-CN" altLang="en-US" sz="1600"/>
          </a:p>
          <a:p>
            <a:r>
              <a:rPr lang="en-US" altLang="zh-CN" sz="1600"/>
              <a:t>Raft </a:t>
            </a:r>
            <a:r>
              <a:rPr lang="zh-CN" altLang="en-US" sz="1600"/>
              <a:t>的优势在于其简洁性和可理解性，通过明确的角色划分和状态转换规则，使得分布式共识的复杂问题变得更容易掌握和正确实现，被广泛应用于</a:t>
            </a:r>
            <a:r>
              <a:rPr lang="en-US" altLang="zh-CN" sz="1600"/>
              <a:t> etcd</a:t>
            </a:r>
            <a:r>
              <a:rPr lang="zh-CN" altLang="en-US" sz="1600"/>
              <a:t>、</a:t>
            </a:r>
            <a:r>
              <a:rPr lang="en-US" altLang="zh-CN" sz="1600"/>
              <a:t>Consul </a:t>
            </a:r>
            <a:r>
              <a:rPr lang="zh-CN" altLang="en-US" sz="1600"/>
              <a:t>等分布式系统中。</a:t>
            </a:r>
            <a:endParaRPr lang="zh-CN" altLang="en-US" sz="1600"/>
          </a:p>
        </p:txBody>
      </p:sp>
      <p:pic>
        <p:nvPicPr>
          <p:cNvPr id="10" name="图片 9"/>
          <p:cNvPicPr>
            <a:picLocks noChangeAspect="1"/>
          </p:cNvPicPr>
          <p:nvPr/>
        </p:nvPicPr>
        <p:blipFill>
          <a:blip r:embed="rId2"/>
          <a:stretch>
            <a:fillRect/>
          </a:stretch>
        </p:blipFill>
        <p:spPr>
          <a:xfrm>
            <a:off x="293370" y="4431665"/>
            <a:ext cx="4998720" cy="1689100"/>
          </a:xfrm>
          <a:prstGeom prst="rect">
            <a:avLst/>
          </a:prstGeom>
        </p:spPr>
      </p:pic>
      <p:sp>
        <p:nvSpPr>
          <p:cNvPr id="11" name="文本框 10"/>
          <p:cNvSpPr txBox="1"/>
          <p:nvPr/>
        </p:nvSpPr>
        <p:spPr>
          <a:xfrm>
            <a:off x="664845" y="6285865"/>
            <a:ext cx="3729355" cy="368300"/>
          </a:xfrm>
          <a:prstGeom prst="rect">
            <a:avLst/>
          </a:prstGeom>
          <a:noFill/>
        </p:spPr>
        <p:txBody>
          <a:bodyPr wrap="square" rtlCol="0">
            <a:spAutoFit/>
          </a:bodyPr>
          <a:p>
            <a:pPr algn="ctr"/>
            <a:r>
              <a:rPr lang="en-US" altLang="zh-CN"/>
              <a:t>Leader</a:t>
            </a:r>
            <a:r>
              <a:rPr lang="zh-CN" altLang="en-US"/>
              <a:t>选举</a:t>
            </a:r>
            <a:endParaRPr lang="zh-CN" altLang="en-US"/>
          </a:p>
        </p:txBody>
      </p:sp>
      <p:sp>
        <p:nvSpPr>
          <p:cNvPr id="12" name="文本框 11"/>
          <p:cNvSpPr txBox="1"/>
          <p:nvPr/>
        </p:nvSpPr>
        <p:spPr>
          <a:xfrm>
            <a:off x="450850" y="3839845"/>
            <a:ext cx="3983355" cy="368300"/>
          </a:xfrm>
          <a:prstGeom prst="rect">
            <a:avLst/>
          </a:prstGeom>
          <a:noFill/>
        </p:spPr>
        <p:txBody>
          <a:bodyPr wrap="square" rtlCol="0">
            <a:spAutoFit/>
          </a:bodyPr>
          <a:p>
            <a:pPr algn="ctr"/>
            <a:r>
              <a:rPr lang="zh-CN" altLang="en-US"/>
              <a:t>日志</a:t>
            </a:r>
            <a:r>
              <a:rPr lang="zh-CN" altLang="en-US"/>
              <a:t>复制</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3"/>
            <p:custDataLst>
              <p:tags r:id="rId1"/>
            </p:custDataLst>
          </p:nvPr>
        </p:nvSpPr>
        <p:spPr/>
        <p:txBody>
          <a:bodyPr/>
          <a:p>
            <a:r>
              <a:rPr lang="zh-CN" altLang="en-US">
                <a:sym typeface="+mn-ea"/>
              </a:rPr>
              <a:t>分布式数据库实现</a:t>
            </a:r>
            <a:endParaRPr lang="zh-CN" altLang="en-US"/>
          </a:p>
        </p:txBody>
      </p:sp>
      <p:sp>
        <p:nvSpPr>
          <p:cNvPr id="3" name="文本占位符 2"/>
          <p:cNvSpPr>
            <a:spLocks noGrp="1"/>
          </p:cNvSpPr>
          <p:nvPr>
            <p:ph type="body" idx="14"/>
            <p:custDataLst>
              <p:tags r:id="rId2"/>
            </p:custDataLst>
          </p:nvPr>
        </p:nvSpPr>
        <p:spPr/>
        <p:txBody>
          <a:bodyPr/>
          <a:p>
            <a:r>
              <a:rPr lang="en-US" altLang="en-US"/>
              <a:t>03</a:t>
            </a:r>
            <a:endParaRPr lang="en-US"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9603" y="609603"/>
            <a:ext cx="11112502" cy="761997"/>
          </a:xfrm>
          <a:noFill/>
        </p:spPr>
        <p:txBody>
          <a:bodyPr lIns="0" tIns="0" rIns="0" bIns="0" anchor="t">
            <a:noAutofit/>
          </a:bodyPr>
          <a:p>
            <a:pPr algn="l">
              <a:lnSpc>
                <a:spcPct val="114000"/>
              </a:lnSpc>
            </a:pPr>
            <a:r>
              <a:rPr lang="zh-CN" altLang="en-US" sz="4400">
                <a:solidFill>
                  <a:schemeClr val="tx1"/>
                </a:solidFill>
                <a:latin typeface="Microsoft YaHei UI" panose="020B0503020204020204" charset="-122"/>
                <a:ea typeface="Microsoft YaHei UI" panose="020B0503020204020204" charset="-122"/>
                <a:sym typeface="+mn-ea"/>
              </a:rPr>
              <a:t>分布式数据库</a:t>
            </a:r>
            <a:r>
              <a:rPr lang="zh-CN" altLang="en-US" sz="4400">
                <a:solidFill>
                  <a:schemeClr val="tx1"/>
                </a:solidFill>
                <a:latin typeface="Microsoft YaHei UI" panose="020B0503020204020204" charset="-122"/>
                <a:ea typeface="Microsoft YaHei UI" panose="020B0503020204020204" charset="-122"/>
                <a:sym typeface="+mn-ea"/>
              </a:rPr>
              <a:t>分析</a:t>
            </a:r>
            <a:endParaRPr lang="zh-CN" altLang="en-US" sz="4400">
              <a:solidFill>
                <a:schemeClr val="tx1"/>
              </a:solidFill>
              <a:latin typeface="Microsoft YaHei UI" panose="020B0503020204020204" charset="-122"/>
              <a:ea typeface="Microsoft YaHei UI" panose="020B0503020204020204" charset="-122"/>
              <a:sym typeface="+mn-ea"/>
            </a:endParaRPr>
          </a:p>
        </p:txBody>
      </p:sp>
      <p:sp>
        <p:nvSpPr>
          <p:cNvPr id="3" name="任意多边形 2"/>
          <p:cNvSpPr/>
          <p:nvPr>
            <p:custDataLst>
              <p:tags r:id="rId2"/>
            </p:custDataLst>
          </p:nvPr>
        </p:nvSpPr>
        <p:spPr>
          <a:xfrm>
            <a:off x="520696" y="0"/>
            <a:ext cx="927100" cy="457200"/>
          </a:xfrm>
          <a:custGeom>
            <a:avLst/>
            <a:gdLst>
              <a:gd name="connisteX0" fmla="*/ 577845 w 12876"/>
              <a:gd name="connsiteY0" fmla="*/ 0 h 6350"/>
              <a:gd name="connisteX1" fmla="*/ 463545 w 12876"/>
              <a:gd name="connsiteY1" fmla="*/ 0 h 6350"/>
              <a:gd name="connisteX2" fmla="*/ 349245 w 12876"/>
              <a:gd name="connsiteY2" fmla="*/ 0 h 6350"/>
              <a:gd name="connisteX3" fmla="*/ 0 w 12876"/>
              <a:gd name="connsiteY3" fmla="*/ 0 h 6350"/>
              <a:gd name="connisteX4" fmla="*/ 392204 w 12876"/>
              <a:gd name="connsiteY4" fmla="*/ 386827 h 6350"/>
              <a:gd name="connisteX5" fmla="*/ 534896 w 12876"/>
              <a:gd name="connsiteY5" fmla="*/ 386827 h 6350"/>
              <a:gd name="connisteX6" fmla="*/ 927101 w 12876"/>
              <a:gd name="connsiteY6" fmla="*/ 0 h 6350"/>
              <a:gd name="connisteX7" fmla="*/ 577845 w 12876"/>
              <a:gd name="connsiteY7" fmla="*/ 0 h 63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pathLst>
              <a:path w="927101" h="457200">
                <a:moveTo>
                  <a:pt x="577846" y="0"/>
                </a:moveTo>
                <a:lnTo>
                  <a:pt x="463546" y="0"/>
                </a:lnTo>
                <a:lnTo>
                  <a:pt x="349246" y="0"/>
                </a:lnTo>
                <a:lnTo>
                  <a:pt x="0" y="0"/>
                </a:lnTo>
                <a:lnTo>
                  <a:pt x="392204" y="386828"/>
                </a:lnTo>
                <a:cubicBezTo>
                  <a:pt x="431761" y="425854"/>
                  <a:pt x="495330" y="425854"/>
                  <a:pt x="534897" y="386828"/>
                </a:cubicBezTo>
                <a:lnTo>
                  <a:pt x="927101" y="0"/>
                </a:lnTo>
                <a:lnTo>
                  <a:pt x="577846" y="0"/>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 name="图片 3" descr="C:/Users/梦月/AppData/Roaming/Kingsoft/office6/wppai/generateppt/1fe2984447b6e35c8ac9a61d7a8f5e76.jpg1fe2984447b6e35c8ac9a61d7a8f5e76"/>
          <p:cNvPicPr preferRelativeResize="0">
            <a:picLocks noChangeAspect="1"/>
          </p:cNvPicPr>
          <p:nvPr>
            <p:custDataLst>
              <p:tags r:id="rId3"/>
            </p:custDataLst>
          </p:nvPr>
        </p:nvPicPr>
        <p:blipFill>
          <a:blip r:embed="rId4"/>
          <a:srcRect t="3285" b="3285"/>
          <a:stretch>
            <a:fillRect/>
          </a:stretch>
        </p:blipFill>
        <p:spPr>
          <a:xfrm>
            <a:off x="609603" y="1828800"/>
            <a:ext cx="10972800" cy="1929765"/>
          </a:xfrm>
          <a:custGeom>
            <a:avLst/>
            <a:gdLst>
              <a:gd name="connisteX0" fmla="*/ 0 w 152400"/>
              <a:gd name="connsiteY0" fmla="*/ 203197 h 26811"/>
              <a:gd name="connisteX1" fmla="*/ 203197 w 152400"/>
              <a:gd name="connsiteY1" fmla="*/ 0 h 26811"/>
              <a:gd name="connisteX2" fmla="*/ 10769602 w 152400"/>
              <a:gd name="connsiteY2" fmla="*/ 0 h 26811"/>
              <a:gd name="connisteX3" fmla="*/ 10972800 w 152400"/>
              <a:gd name="connsiteY3" fmla="*/ 203197 h 26811"/>
              <a:gd name="connisteX4" fmla="*/ 10972800 w 152400"/>
              <a:gd name="connsiteY4" fmla="*/ 1727201 h 26811"/>
              <a:gd name="connisteX5" fmla="*/ 10769602 w 152400"/>
              <a:gd name="connsiteY5" fmla="*/ 1930398 h 26811"/>
              <a:gd name="connisteX6" fmla="*/ 203197 w 152400"/>
              <a:gd name="connsiteY6" fmla="*/ 1930398 h 26811"/>
              <a:gd name="connisteX7" fmla="*/ 0 w 152400"/>
              <a:gd name="connsiteY7" fmla="*/ 1727201 h 26811"/>
              <a:gd name="connisteX8" fmla="*/ 0 w 152400"/>
              <a:gd name="connsiteY8" fmla="*/ 203197 h 2681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1930399">
                <a:moveTo>
                  <a:pt x="0" y="203198"/>
                </a:moveTo>
                <a:cubicBezTo>
                  <a:pt x="0" y="90974"/>
                  <a:pt x="90974" y="0"/>
                  <a:pt x="203198" y="0"/>
                </a:cubicBezTo>
                <a:lnTo>
                  <a:pt x="10769602" y="0"/>
                </a:lnTo>
                <a:cubicBezTo>
                  <a:pt x="10881826" y="0"/>
                  <a:pt x="10972800" y="90974"/>
                  <a:pt x="10972800" y="203198"/>
                </a:cubicBezTo>
                <a:lnTo>
                  <a:pt x="10972800" y="1727201"/>
                </a:lnTo>
                <a:cubicBezTo>
                  <a:pt x="10972800" y="1839425"/>
                  <a:pt x="10881826" y="1930399"/>
                  <a:pt x="10769602" y="1930399"/>
                </a:cubicBezTo>
                <a:lnTo>
                  <a:pt x="203198" y="1930399"/>
                </a:lnTo>
                <a:cubicBezTo>
                  <a:pt x="90974" y="1930399"/>
                  <a:pt x="0" y="1839425"/>
                  <a:pt x="0" y="1727201"/>
                </a:cubicBezTo>
                <a:lnTo>
                  <a:pt x="0" y="203198"/>
                </a:lnTo>
                <a:close/>
              </a:path>
            </a:pathLst>
          </a:custGeom>
          <a:blipFill rotWithShape="1">
            <a:blip r:embed="rId5"/>
            <a:stretch>
              <a:fillRect/>
            </a:stretch>
          </a:blipFill>
          <a:ln w="0">
            <a:noFill/>
          </a:ln>
          <a:extLst>
            <a:ext uri="{91240B29-F687-4F45-9708-019B960494DF}">
              <a14:hiddenLine xmlns:a14="http://schemas.microsoft.com/office/drawing/2010/main" w="0">
                <a:pattFill prst="pct5">
                  <a:fgClr>
                    <a:prstClr val="black"/>
                  </a:fgClr>
                </a:pattFill>
              </a14:hiddenLine>
            </a:ext>
          </a:extLst>
        </p:spPr>
      </p:pic>
      <p:grpSp>
        <p:nvGrpSpPr>
          <p:cNvPr id="19" name="组合 18"/>
          <p:cNvGrpSpPr/>
          <p:nvPr/>
        </p:nvGrpSpPr>
        <p:grpSpPr>
          <a:xfrm>
            <a:off x="609600" y="4216400"/>
            <a:ext cx="11049000" cy="2032000"/>
            <a:chOff x="960" y="6640"/>
            <a:chExt cx="17400" cy="3200"/>
          </a:xfrm>
        </p:grpSpPr>
        <p:sp>
          <p:nvSpPr>
            <p:cNvPr id="7" name="任意多边形 6"/>
            <p:cNvSpPr/>
            <p:nvPr>
              <p:custDataLst>
                <p:tags r:id="rId6"/>
              </p:custDataLst>
            </p:nvPr>
          </p:nvSpPr>
          <p:spPr>
            <a:xfrm>
              <a:off x="960" y="6640"/>
              <a:ext cx="80" cy="3200"/>
            </a:xfrm>
            <a:custGeom>
              <a:avLst/>
              <a:gdLst>
                <a:gd name="connisteX0" fmla="*/ 0 w 705"/>
                <a:gd name="connsiteY0" fmla="*/ 25402 h 28222"/>
                <a:gd name="connisteX1" fmla="*/ 25402 w 705"/>
                <a:gd name="connsiteY1" fmla="*/ 0 h 28222"/>
                <a:gd name="connisteX2" fmla="*/ 25402 w 705"/>
                <a:gd name="connsiteY2" fmla="*/ 0 h 28222"/>
                <a:gd name="connisteX3" fmla="*/ 50804 w 705"/>
                <a:gd name="connsiteY3" fmla="*/ 25402 h 28222"/>
                <a:gd name="connisteX4" fmla="*/ 50804 w 705"/>
                <a:gd name="connsiteY4" fmla="*/ 2006595 h 28222"/>
                <a:gd name="connisteX5" fmla="*/ 25402 w 705"/>
                <a:gd name="connsiteY5" fmla="*/ 2031997 h 28222"/>
                <a:gd name="connisteX6" fmla="*/ 25402 w 705"/>
                <a:gd name="connsiteY6" fmla="*/ 2031997 h 28222"/>
                <a:gd name="connisteX7" fmla="*/ 0 w 705"/>
                <a:gd name="connsiteY7" fmla="*/ 2006595 h 28222"/>
                <a:gd name="connisteX8" fmla="*/ 0 w 705"/>
                <a:gd name="connsiteY8" fmla="*/ 25402 h 282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2031998">
                  <a:moveTo>
                    <a:pt x="0" y="25402"/>
                  </a:moveTo>
                  <a:cubicBezTo>
                    <a:pt x="0" y="11375"/>
                    <a:pt x="11375" y="0"/>
                    <a:pt x="25402" y="0"/>
                  </a:cubicBezTo>
                  <a:lnTo>
                    <a:pt x="25402" y="0"/>
                  </a:lnTo>
                  <a:cubicBezTo>
                    <a:pt x="39429" y="0"/>
                    <a:pt x="50804" y="11375"/>
                    <a:pt x="50804" y="25402"/>
                  </a:cubicBezTo>
                  <a:lnTo>
                    <a:pt x="50804" y="2006596"/>
                  </a:lnTo>
                  <a:cubicBezTo>
                    <a:pt x="50804" y="2020632"/>
                    <a:pt x="39429" y="2031998"/>
                    <a:pt x="25402" y="2031998"/>
                  </a:cubicBezTo>
                  <a:lnTo>
                    <a:pt x="25402" y="2031998"/>
                  </a:lnTo>
                  <a:cubicBezTo>
                    <a:pt x="11375" y="2031998"/>
                    <a:pt x="0" y="2020632"/>
                    <a:pt x="0" y="2006596"/>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p:custDataLst>
                <p:tags r:id="rId7"/>
              </p:custDataLst>
            </p:nvPr>
          </p:nvSpPr>
          <p:spPr>
            <a:xfrm>
              <a:off x="5400" y="6640"/>
              <a:ext cx="80" cy="3200"/>
            </a:xfrm>
            <a:custGeom>
              <a:avLst/>
              <a:gdLst>
                <a:gd name="connisteX0" fmla="*/ 0 w 705"/>
                <a:gd name="connsiteY0" fmla="*/ 25402 h 28222"/>
                <a:gd name="connisteX1" fmla="*/ 25402 w 705"/>
                <a:gd name="connsiteY1" fmla="*/ 0 h 28222"/>
                <a:gd name="connisteX2" fmla="*/ 25402 w 705"/>
                <a:gd name="connsiteY2" fmla="*/ 0 h 28222"/>
                <a:gd name="connisteX3" fmla="*/ 50804 w 705"/>
                <a:gd name="connsiteY3" fmla="*/ 25402 h 28222"/>
                <a:gd name="connisteX4" fmla="*/ 50804 w 705"/>
                <a:gd name="connsiteY4" fmla="*/ 2006595 h 28222"/>
                <a:gd name="connisteX5" fmla="*/ 25402 w 705"/>
                <a:gd name="connsiteY5" fmla="*/ 2031997 h 28222"/>
                <a:gd name="connisteX6" fmla="*/ 25402 w 705"/>
                <a:gd name="connsiteY6" fmla="*/ 2031997 h 28222"/>
                <a:gd name="connisteX7" fmla="*/ 0 w 705"/>
                <a:gd name="connsiteY7" fmla="*/ 2006595 h 28222"/>
                <a:gd name="connisteX8" fmla="*/ 0 w 705"/>
                <a:gd name="connsiteY8" fmla="*/ 25402 h 282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2031998">
                  <a:moveTo>
                    <a:pt x="0" y="25402"/>
                  </a:moveTo>
                  <a:cubicBezTo>
                    <a:pt x="0" y="11375"/>
                    <a:pt x="11375" y="0"/>
                    <a:pt x="25402" y="0"/>
                  </a:cubicBezTo>
                  <a:lnTo>
                    <a:pt x="25402" y="0"/>
                  </a:lnTo>
                  <a:cubicBezTo>
                    <a:pt x="39429" y="0"/>
                    <a:pt x="50804" y="11375"/>
                    <a:pt x="50804" y="25402"/>
                  </a:cubicBezTo>
                  <a:lnTo>
                    <a:pt x="50804" y="2006596"/>
                  </a:lnTo>
                  <a:cubicBezTo>
                    <a:pt x="50804" y="2020632"/>
                    <a:pt x="39429" y="2031998"/>
                    <a:pt x="25402" y="2031998"/>
                  </a:cubicBezTo>
                  <a:lnTo>
                    <a:pt x="25402" y="2031998"/>
                  </a:lnTo>
                  <a:cubicBezTo>
                    <a:pt x="11375" y="2031998"/>
                    <a:pt x="0" y="2020632"/>
                    <a:pt x="0" y="2006596"/>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custDataLst>
                <p:tags r:id="rId8"/>
              </p:custDataLst>
            </p:nvPr>
          </p:nvSpPr>
          <p:spPr>
            <a:xfrm>
              <a:off x="1200" y="6640"/>
              <a:ext cx="38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功能需求分析</a:t>
              </a:r>
              <a:endParaRPr lang="zh-CN" altLang="en-US" sz="2400">
                <a:solidFill>
                  <a:schemeClr val="tx1"/>
                </a:solidFill>
                <a:latin typeface="Microsoft YaHei UI" panose="020B0503020204020204" charset="-122"/>
                <a:ea typeface="Microsoft YaHei UI" panose="020B0503020204020204" charset="-122"/>
              </a:endParaRPr>
            </a:p>
          </p:txBody>
        </p:sp>
        <p:sp>
          <p:nvSpPr>
            <p:cNvPr id="9" name="文本框 8"/>
            <p:cNvSpPr txBox="1"/>
            <p:nvPr>
              <p:custDataLst>
                <p:tags r:id="rId9"/>
              </p:custDataLst>
            </p:nvPr>
          </p:nvSpPr>
          <p:spPr>
            <a:xfrm>
              <a:off x="1200" y="7440"/>
              <a:ext cx="3800" cy="240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分布式键值存储平台需提供稳定高效的键值存储服务，包括键值对设置、值查询和键删除操作。</a:t>
              </a:r>
              <a:endParaRPr lang="zh-CN" altLang="en-US" sz="1600">
                <a:solidFill>
                  <a:schemeClr val="tx1"/>
                </a:solidFill>
                <a:latin typeface="Microsoft YaHei UI" panose="020B0503020204020204" charset="-122"/>
                <a:ea typeface="Microsoft YaHei UI" panose="020B0503020204020204" charset="-122"/>
              </a:endParaRPr>
            </a:p>
          </p:txBody>
        </p:sp>
        <p:sp>
          <p:nvSpPr>
            <p:cNvPr id="13" name="任意多边形 12"/>
            <p:cNvSpPr/>
            <p:nvPr>
              <p:custDataLst>
                <p:tags r:id="rId10"/>
              </p:custDataLst>
            </p:nvPr>
          </p:nvSpPr>
          <p:spPr>
            <a:xfrm>
              <a:off x="9840" y="6640"/>
              <a:ext cx="81" cy="3200"/>
            </a:xfrm>
            <a:custGeom>
              <a:avLst/>
              <a:gdLst>
                <a:gd name="connisteX0" fmla="*/ 0 w 705"/>
                <a:gd name="connsiteY0" fmla="*/ 25402 h 28222"/>
                <a:gd name="connisteX1" fmla="*/ 25402 w 705"/>
                <a:gd name="connsiteY1" fmla="*/ 0 h 28222"/>
                <a:gd name="connisteX2" fmla="*/ 25402 w 705"/>
                <a:gd name="connsiteY2" fmla="*/ 0 h 28222"/>
                <a:gd name="connisteX3" fmla="*/ 50804 w 705"/>
                <a:gd name="connsiteY3" fmla="*/ 25402 h 28222"/>
                <a:gd name="connisteX4" fmla="*/ 50804 w 705"/>
                <a:gd name="connsiteY4" fmla="*/ 2006595 h 28222"/>
                <a:gd name="connisteX5" fmla="*/ 25402 w 705"/>
                <a:gd name="connsiteY5" fmla="*/ 2031997 h 28222"/>
                <a:gd name="connisteX6" fmla="*/ 25402 w 705"/>
                <a:gd name="connsiteY6" fmla="*/ 2031997 h 28222"/>
                <a:gd name="connisteX7" fmla="*/ 0 w 705"/>
                <a:gd name="connsiteY7" fmla="*/ 2006595 h 28222"/>
                <a:gd name="connisteX8" fmla="*/ 0 w 705"/>
                <a:gd name="connsiteY8" fmla="*/ 25402 h 282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2031998">
                  <a:moveTo>
                    <a:pt x="0" y="25402"/>
                  </a:moveTo>
                  <a:cubicBezTo>
                    <a:pt x="0" y="11375"/>
                    <a:pt x="11375" y="0"/>
                    <a:pt x="25402" y="0"/>
                  </a:cubicBezTo>
                  <a:lnTo>
                    <a:pt x="25402" y="0"/>
                  </a:lnTo>
                  <a:cubicBezTo>
                    <a:pt x="39429" y="0"/>
                    <a:pt x="50804" y="11375"/>
                    <a:pt x="50804" y="25402"/>
                  </a:cubicBezTo>
                  <a:lnTo>
                    <a:pt x="50804" y="2006596"/>
                  </a:lnTo>
                  <a:cubicBezTo>
                    <a:pt x="50804" y="2020632"/>
                    <a:pt x="39429" y="2031998"/>
                    <a:pt x="25402" y="2031998"/>
                  </a:cubicBezTo>
                  <a:lnTo>
                    <a:pt x="25402" y="2031998"/>
                  </a:lnTo>
                  <a:cubicBezTo>
                    <a:pt x="11375" y="2031998"/>
                    <a:pt x="0" y="2020632"/>
                    <a:pt x="0" y="2006596"/>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11"/>
              </p:custDataLst>
            </p:nvPr>
          </p:nvSpPr>
          <p:spPr>
            <a:xfrm>
              <a:off x="5640" y="6640"/>
              <a:ext cx="38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可行性分析</a:t>
              </a:r>
              <a:endParaRPr lang="zh-CN" altLang="en-US" sz="2400">
                <a:solidFill>
                  <a:schemeClr val="tx1"/>
                </a:solidFill>
                <a:latin typeface="Microsoft YaHei UI" panose="020B0503020204020204" charset="-122"/>
                <a:ea typeface="Microsoft YaHei UI" panose="020B0503020204020204" charset="-122"/>
              </a:endParaRPr>
            </a:p>
          </p:txBody>
        </p:sp>
        <p:sp>
          <p:nvSpPr>
            <p:cNvPr id="12" name="文本框 11"/>
            <p:cNvSpPr txBox="1"/>
            <p:nvPr>
              <p:custDataLst>
                <p:tags r:id="rId12"/>
              </p:custDataLst>
            </p:nvPr>
          </p:nvSpPr>
          <p:spPr>
            <a:xfrm>
              <a:off x="5640" y="7440"/>
              <a:ext cx="3800" cy="240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基于</a:t>
              </a:r>
              <a:r>
                <a:rPr lang="en-US" altLang="zh-CN"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算法实现分布式键值数据库在技术上可行，尽管存在复杂性和风险，但可通过合理设计和充分测试克服。</a:t>
              </a:r>
              <a:endParaRPr lang="zh-CN" altLang="en-US" sz="1600">
                <a:solidFill>
                  <a:schemeClr val="tx1"/>
                </a:solidFill>
                <a:latin typeface="Microsoft YaHei UI" panose="020B0503020204020204" charset="-122"/>
                <a:ea typeface="Microsoft YaHei UI" panose="020B0503020204020204" charset="-122"/>
              </a:endParaRPr>
            </a:p>
          </p:txBody>
        </p:sp>
        <p:sp>
          <p:nvSpPr>
            <p:cNvPr id="16" name="任意多边形 15"/>
            <p:cNvSpPr/>
            <p:nvPr>
              <p:custDataLst>
                <p:tags r:id="rId13"/>
              </p:custDataLst>
            </p:nvPr>
          </p:nvSpPr>
          <p:spPr>
            <a:xfrm>
              <a:off x="14280" y="6640"/>
              <a:ext cx="80" cy="3200"/>
            </a:xfrm>
            <a:custGeom>
              <a:avLst/>
              <a:gdLst>
                <a:gd name="connisteX0" fmla="*/ 0 w 705"/>
                <a:gd name="connsiteY0" fmla="*/ 25402 h 28222"/>
                <a:gd name="connisteX1" fmla="*/ 25402 w 705"/>
                <a:gd name="connsiteY1" fmla="*/ 0 h 28222"/>
                <a:gd name="connisteX2" fmla="*/ 25402 w 705"/>
                <a:gd name="connsiteY2" fmla="*/ 0 h 28222"/>
                <a:gd name="connisteX3" fmla="*/ 50804 w 705"/>
                <a:gd name="connsiteY3" fmla="*/ 25402 h 28222"/>
                <a:gd name="connisteX4" fmla="*/ 50804 w 705"/>
                <a:gd name="connsiteY4" fmla="*/ 2006595 h 28222"/>
                <a:gd name="connisteX5" fmla="*/ 25402 w 705"/>
                <a:gd name="connsiteY5" fmla="*/ 2031997 h 28222"/>
                <a:gd name="connisteX6" fmla="*/ 25402 w 705"/>
                <a:gd name="connsiteY6" fmla="*/ 2031997 h 28222"/>
                <a:gd name="connisteX7" fmla="*/ 0 w 705"/>
                <a:gd name="connsiteY7" fmla="*/ 2006595 h 28222"/>
                <a:gd name="connisteX8" fmla="*/ 0 w 705"/>
                <a:gd name="connsiteY8" fmla="*/ 25402 h 282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2031998">
                  <a:moveTo>
                    <a:pt x="0" y="25402"/>
                  </a:moveTo>
                  <a:cubicBezTo>
                    <a:pt x="0" y="11375"/>
                    <a:pt x="11375" y="0"/>
                    <a:pt x="25402" y="0"/>
                  </a:cubicBezTo>
                  <a:lnTo>
                    <a:pt x="25402" y="0"/>
                  </a:lnTo>
                  <a:cubicBezTo>
                    <a:pt x="39429" y="0"/>
                    <a:pt x="50804" y="11375"/>
                    <a:pt x="50804" y="25402"/>
                  </a:cubicBezTo>
                  <a:lnTo>
                    <a:pt x="50804" y="2006596"/>
                  </a:lnTo>
                  <a:cubicBezTo>
                    <a:pt x="50804" y="2020632"/>
                    <a:pt x="39429" y="2031998"/>
                    <a:pt x="25402" y="2031998"/>
                  </a:cubicBezTo>
                  <a:lnTo>
                    <a:pt x="25402" y="2031998"/>
                  </a:lnTo>
                  <a:cubicBezTo>
                    <a:pt x="11375" y="2031998"/>
                    <a:pt x="0" y="2020632"/>
                    <a:pt x="0" y="2006596"/>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custDataLst>
                <p:tags r:id="rId14"/>
              </p:custDataLst>
            </p:nvPr>
          </p:nvSpPr>
          <p:spPr>
            <a:xfrm>
              <a:off x="10080" y="6640"/>
              <a:ext cx="38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系统流程分析</a:t>
              </a:r>
              <a:endParaRPr lang="zh-CN" altLang="en-US" sz="2400">
                <a:solidFill>
                  <a:schemeClr val="tx1"/>
                </a:solidFill>
                <a:latin typeface="Microsoft YaHei UI" panose="020B0503020204020204" charset="-122"/>
                <a:ea typeface="Microsoft YaHei UI" panose="020B0503020204020204" charset="-122"/>
              </a:endParaRPr>
            </a:p>
          </p:txBody>
        </p:sp>
        <p:sp>
          <p:nvSpPr>
            <p:cNvPr id="15" name="文本框 14"/>
            <p:cNvSpPr txBox="1"/>
            <p:nvPr>
              <p:custDataLst>
                <p:tags r:id="rId15"/>
              </p:custDataLst>
            </p:nvPr>
          </p:nvSpPr>
          <p:spPr>
            <a:xfrm>
              <a:off x="10080" y="7440"/>
              <a:ext cx="3800" cy="240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系统流程分析关键，包括整体框架设计、命令响应机制、信息同步策略和运行状态控制等。</a:t>
              </a:r>
              <a:endParaRPr lang="zh-CN" altLang="en-US" sz="1600">
                <a:solidFill>
                  <a:schemeClr val="tx1"/>
                </a:solidFill>
                <a:latin typeface="Microsoft YaHei UI" panose="020B0503020204020204" charset="-122"/>
                <a:ea typeface="Microsoft YaHei UI" panose="020B0503020204020204" charset="-122"/>
              </a:endParaRPr>
            </a:p>
          </p:txBody>
        </p:sp>
        <p:sp>
          <p:nvSpPr>
            <p:cNvPr id="17" name="文本框 16"/>
            <p:cNvSpPr txBox="1"/>
            <p:nvPr>
              <p:custDataLst>
                <p:tags r:id="rId16"/>
              </p:custDataLst>
            </p:nvPr>
          </p:nvSpPr>
          <p:spPr>
            <a:xfrm>
              <a:off x="14520" y="6640"/>
              <a:ext cx="38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性能分析</a:t>
              </a:r>
              <a:endParaRPr lang="zh-CN" altLang="en-US" sz="2400">
                <a:solidFill>
                  <a:schemeClr val="tx1"/>
                </a:solidFill>
                <a:latin typeface="Microsoft YaHei UI" panose="020B0503020204020204" charset="-122"/>
                <a:ea typeface="Microsoft YaHei UI" panose="020B0503020204020204" charset="-122"/>
              </a:endParaRPr>
            </a:p>
          </p:txBody>
        </p:sp>
        <p:sp>
          <p:nvSpPr>
            <p:cNvPr id="18" name="文本框 17"/>
            <p:cNvSpPr txBox="1"/>
            <p:nvPr>
              <p:custDataLst>
                <p:tags r:id="rId17"/>
              </p:custDataLst>
            </p:nvPr>
          </p:nvSpPr>
          <p:spPr>
            <a:xfrm>
              <a:off x="14520" y="7440"/>
              <a:ext cx="3800" cy="240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性能分析显示，尽管</a:t>
              </a:r>
              <a:r>
                <a:rPr lang="en-US" altLang="zh-CN"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引入了一定开销，但通过批量处理、异步复制和读操作优化等策略，系统性能可得到提升。</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18"/>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任意多边形 2"/>
          <p:cNvSpPr/>
          <p:nvPr>
            <p:custDataLst>
              <p:tags r:id="rId1"/>
            </p:custDataLst>
          </p:nvPr>
        </p:nvSpPr>
        <p:spPr>
          <a:xfrm>
            <a:off x="10820397" y="0"/>
            <a:ext cx="1371600" cy="6858000"/>
          </a:xfrm>
          <a:custGeom>
            <a:avLst/>
            <a:gdLst>
              <a:gd name="connisteX0" fmla="*/ 0 w 19050"/>
              <a:gd name="connsiteY0" fmla="*/ 0 h 95250"/>
              <a:gd name="connisteX1" fmla="*/ 1371600 w 19050"/>
              <a:gd name="connsiteY1" fmla="*/ 0 h 95250"/>
              <a:gd name="connisteX2" fmla="*/ 1371600 w 19050"/>
              <a:gd name="connsiteY2" fmla="*/ 6858000 h 95250"/>
              <a:gd name="connisteX3" fmla="*/ 1066803 w 19050"/>
              <a:gd name="connsiteY3" fmla="*/ 6858000 h 95250"/>
              <a:gd name="connisteX4" fmla="*/ 65909 w 19050"/>
              <a:gd name="connsiteY4" fmla="*/ 5594975 h 95250"/>
              <a:gd name="connisteX5" fmla="*/ 0 w 19050"/>
              <a:gd name="connsiteY5" fmla="*/ 5405667 h 95250"/>
              <a:gd name="connisteX6" fmla="*/ 0 w 19050"/>
              <a:gd name="connsiteY6" fmla="*/ 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371600" h="6858000">
                <a:moveTo>
                  <a:pt x="0" y="0"/>
                </a:moveTo>
                <a:lnTo>
                  <a:pt x="1371600" y="0"/>
                </a:lnTo>
                <a:lnTo>
                  <a:pt x="1371600" y="6858000"/>
                </a:lnTo>
                <a:lnTo>
                  <a:pt x="1066803" y="6858000"/>
                </a:lnTo>
                <a:lnTo>
                  <a:pt x="65910" y="5594976"/>
                </a:lnTo>
                <a:cubicBezTo>
                  <a:pt x="23226" y="5541109"/>
                  <a:pt x="0" y="5474403"/>
                  <a:pt x="0" y="5405668"/>
                </a:cubicBezTo>
                <a:lnTo>
                  <a:pt x="0" y="0"/>
                </a:lnTo>
                <a:close/>
              </a:path>
            </a:pathLst>
          </a:custGeom>
          <a:solidFill>
            <a:schemeClr val="tx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a:off x="10445182" y="3086100"/>
            <a:ext cx="1746885" cy="3771265"/>
          </a:xfrm>
          <a:custGeom>
            <a:avLst/>
            <a:gdLst>
              <a:gd name="connisteX0" fmla="*/ 1012451 w 24261"/>
              <a:gd name="connsiteY0" fmla="*/ 3771890 h 52387"/>
              <a:gd name="connisteX1" fmla="*/ 1746824 w 24261"/>
              <a:gd name="connsiteY1" fmla="*/ 3771890 h 52387"/>
              <a:gd name="connisteX2" fmla="*/ 1746824 w 24261"/>
              <a:gd name="connsiteY2" fmla="*/ 0 h 52387"/>
              <a:gd name="connisteX3" fmla="*/ 61886 w 24261"/>
              <a:gd name="connsiteY3" fmla="*/ 2223189 h 52387"/>
              <a:gd name="connisteX4" fmla="*/ 67418 w 24261"/>
              <a:gd name="connsiteY4" fmla="*/ 2598468 h 52387"/>
              <a:gd name="connisteX5" fmla="*/ 1012451 w 24261"/>
              <a:gd name="connsiteY5" fmla="*/ 3771890 h 5238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1746824" h="3771882">
                <a:moveTo>
                  <a:pt x="1012451" y="3771891"/>
                </a:moveTo>
                <a:lnTo>
                  <a:pt x="1746824" y="3771891"/>
                </a:lnTo>
                <a:lnTo>
                  <a:pt x="1746824" y="0"/>
                </a:lnTo>
                <a:lnTo>
                  <a:pt x="61887" y="2223190"/>
                </a:lnTo>
                <a:cubicBezTo>
                  <a:pt x="-22650" y="2334719"/>
                  <a:pt x="-20364" y="2489481"/>
                  <a:pt x="67419" y="2598469"/>
                </a:cubicBezTo>
                <a:lnTo>
                  <a:pt x="1012451" y="3771891"/>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p:custDataLst>
              <p:tags r:id="rId3"/>
            </p:custDataLst>
          </p:nvPr>
        </p:nvSpPr>
        <p:spPr>
          <a:xfrm>
            <a:off x="609603" y="609603"/>
            <a:ext cx="9283702" cy="761997"/>
          </a:xfrm>
          <a:noFill/>
        </p:spPr>
        <p:txBody>
          <a:bodyPr lIns="0" tIns="0" rIns="0" bIns="0" anchor="t">
            <a:noAutofit/>
          </a:bodyPr>
          <a:p>
            <a:pPr algn="l">
              <a:lnSpc>
                <a:spcPct val="114000"/>
              </a:lnSpc>
            </a:pPr>
            <a:r>
              <a:rPr lang="zh-CN" altLang="en-US" sz="4400" b="1">
                <a:solidFill>
                  <a:schemeClr val="tx1"/>
                </a:solidFill>
                <a:latin typeface="Microsoft YaHei UI" panose="020B0503020204020204" charset="-122"/>
                <a:ea typeface="Microsoft YaHei UI" panose="020B0503020204020204" charset="-122"/>
              </a:rPr>
              <a:t>分布式数据库设计和实现</a:t>
            </a:r>
            <a:endParaRPr lang="zh-CN" altLang="en-US" sz="4400" b="1">
              <a:solidFill>
                <a:schemeClr val="tx1"/>
              </a:solidFill>
              <a:latin typeface="Microsoft YaHei UI" panose="020B0503020204020204" charset="-122"/>
              <a:ea typeface="Microsoft YaHei UI" panose="020B0503020204020204" charset="-122"/>
            </a:endParaRPr>
          </a:p>
        </p:txBody>
      </p:sp>
      <p:sp>
        <p:nvSpPr>
          <p:cNvPr id="29" name="任意多边形 28"/>
          <p:cNvSpPr/>
          <p:nvPr>
            <p:custDataLst>
              <p:tags r:id="rId4"/>
            </p:custDataLst>
          </p:nvPr>
        </p:nvSpPr>
        <p:spPr>
          <a:xfrm>
            <a:off x="520696" y="0"/>
            <a:ext cx="927100" cy="457200"/>
          </a:xfrm>
          <a:custGeom>
            <a:avLst/>
            <a:gdLst>
              <a:gd name="connisteX0" fmla="*/ 577845 w 12876"/>
              <a:gd name="connsiteY0" fmla="*/ 0 h 6350"/>
              <a:gd name="connisteX1" fmla="*/ 463545 w 12876"/>
              <a:gd name="connsiteY1" fmla="*/ 0 h 6350"/>
              <a:gd name="connisteX2" fmla="*/ 349245 w 12876"/>
              <a:gd name="connsiteY2" fmla="*/ 0 h 6350"/>
              <a:gd name="connisteX3" fmla="*/ 0 w 12876"/>
              <a:gd name="connsiteY3" fmla="*/ 0 h 6350"/>
              <a:gd name="connisteX4" fmla="*/ 392204 w 12876"/>
              <a:gd name="connsiteY4" fmla="*/ 386827 h 6350"/>
              <a:gd name="connisteX5" fmla="*/ 534896 w 12876"/>
              <a:gd name="connsiteY5" fmla="*/ 386827 h 6350"/>
              <a:gd name="connisteX6" fmla="*/ 927101 w 12876"/>
              <a:gd name="connsiteY6" fmla="*/ 0 h 6350"/>
              <a:gd name="connisteX7" fmla="*/ 577845 w 12876"/>
              <a:gd name="connsiteY7" fmla="*/ 0 h 63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pathLst>
              <a:path w="927101" h="457200">
                <a:moveTo>
                  <a:pt x="577846" y="0"/>
                </a:moveTo>
                <a:lnTo>
                  <a:pt x="463546" y="0"/>
                </a:lnTo>
                <a:lnTo>
                  <a:pt x="349246" y="0"/>
                </a:lnTo>
                <a:lnTo>
                  <a:pt x="0" y="0"/>
                </a:lnTo>
                <a:lnTo>
                  <a:pt x="392204" y="386828"/>
                </a:lnTo>
                <a:cubicBezTo>
                  <a:pt x="431761" y="425854"/>
                  <a:pt x="495330" y="425854"/>
                  <a:pt x="534897" y="386828"/>
                </a:cubicBezTo>
                <a:lnTo>
                  <a:pt x="927101" y="0"/>
                </a:lnTo>
                <a:lnTo>
                  <a:pt x="577846" y="0"/>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0" name="组合 29"/>
          <p:cNvGrpSpPr/>
          <p:nvPr/>
        </p:nvGrpSpPr>
        <p:grpSpPr>
          <a:xfrm>
            <a:off x="609600" y="1828800"/>
            <a:ext cx="10972800" cy="4418330"/>
            <a:chOff x="960" y="2880"/>
            <a:chExt cx="17280" cy="6958"/>
          </a:xfrm>
        </p:grpSpPr>
        <p:sp>
          <p:nvSpPr>
            <p:cNvPr id="5" name="任意多边形 4"/>
            <p:cNvSpPr/>
            <p:nvPr>
              <p:custDataLst>
                <p:tags r:id="rId5"/>
              </p:custDataLst>
            </p:nvPr>
          </p:nvSpPr>
          <p:spPr>
            <a:xfrm>
              <a:off x="960" y="2880"/>
              <a:ext cx="8520" cy="3359"/>
            </a:xfrm>
            <a:custGeom>
              <a:avLst/>
              <a:gdLst>
                <a:gd name="connisteX0" fmla="*/ 0 w 75141"/>
                <a:gd name="connsiteY0" fmla="*/ 203197 h 29633"/>
                <a:gd name="connisteX1" fmla="*/ 203197 w 75141"/>
                <a:gd name="connsiteY1" fmla="*/ 0 h 29633"/>
                <a:gd name="connisteX2" fmla="*/ 5206995 w 75141"/>
                <a:gd name="connsiteY2" fmla="*/ 0 h 29633"/>
                <a:gd name="connisteX3" fmla="*/ 5410203 w 75141"/>
                <a:gd name="connsiteY3" fmla="*/ 203197 h 29633"/>
                <a:gd name="connisteX4" fmla="*/ 5410203 w 75141"/>
                <a:gd name="connsiteY4" fmla="*/ 1930398 h 29633"/>
                <a:gd name="connisteX5" fmla="*/ 5206995 w 75141"/>
                <a:gd name="connsiteY5" fmla="*/ 2133596 h 29633"/>
                <a:gd name="connisteX6" fmla="*/ 203197 w 75141"/>
                <a:gd name="connsiteY6" fmla="*/ 2133596 h 29633"/>
                <a:gd name="connisteX7" fmla="*/ 0 w 75141"/>
                <a:gd name="connsiteY7" fmla="*/ 1930398 h 29633"/>
                <a:gd name="connisteX8" fmla="*/ 0 w 75141"/>
                <a:gd name="connsiteY8" fmla="*/ 203197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10203" h="2133597">
                  <a:moveTo>
                    <a:pt x="0" y="203198"/>
                  </a:moveTo>
                  <a:cubicBezTo>
                    <a:pt x="0" y="90974"/>
                    <a:pt x="90974" y="0"/>
                    <a:pt x="203198" y="0"/>
                  </a:cubicBezTo>
                  <a:lnTo>
                    <a:pt x="5206996" y="0"/>
                  </a:lnTo>
                  <a:cubicBezTo>
                    <a:pt x="5319229" y="0"/>
                    <a:pt x="5410203" y="90974"/>
                    <a:pt x="5410203" y="203198"/>
                  </a:cubicBezTo>
                  <a:lnTo>
                    <a:pt x="5410203" y="1930399"/>
                  </a:lnTo>
                  <a:cubicBezTo>
                    <a:pt x="5410203" y="2042632"/>
                    <a:pt x="5319229" y="2133597"/>
                    <a:pt x="5206996" y="2133597"/>
                  </a:cubicBezTo>
                  <a:lnTo>
                    <a:pt x="203198" y="2133597"/>
                  </a:lnTo>
                  <a:cubicBezTo>
                    <a:pt x="90974" y="2133597"/>
                    <a:pt x="0" y="2042632"/>
                    <a:pt x="0" y="1930399"/>
                  </a:cubicBezTo>
                  <a:lnTo>
                    <a:pt x="0" y="203198"/>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descr="C:/Users/梦月/AppData/Roaming/Kingsoft/office6/wppai/generateppt/c54d796a085222b5a2ee93a2c30f21b1.jpgc54d796a085222b5a2ee93a2c30f21b1"/>
            <p:cNvPicPr preferRelativeResize="0">
              <a:picLocks noChangeAspect="1"/>
            </p:cNvPicPr>
            <p:nvPr>
              <p:custDataLst>
                <p:tags r:id="rId6"/>
              </p:custDataLst>
            </p:nvPr>
          </p:nvPicPr>
          <p:blipFill>
            <a:blip r:embed="rId7"/>
            <a:srcRect/>
            <a:stretch>
              <a:fillRect/>
            </a:stretch>
          </p:blipFill>
          <p:spPr>
            <a:xfrm>
              <a:off x="1440" y="3600"/>
              <a:ext cx="1919" cy="1919"/>
            </a:xfrm>
            <a:custGeom>
              <a:avLst/>
              <a:gdLst>
                <a:gd name="connisteX0" fmla="*/ 0 w 16933"/>
                <a:gd name="connsiteY0" fmla="*/ 609603 h 16933"/>
                <a:gd name="connisteX1" fmla="*/ 609603 w 16933"/>
                <a:gd name="connsiteY1" fmla="*/ 0 h 16933"/>
                <a:gd name="connisteX2" fmla="*/ 609603 w 16933"/>
                <a:gd name="connsiteY2" fmla="*/ 0 h 16933"/>
                <a:gd name="connisteX3" fmla="*/ 1219196 w 16933"/>
                <a:gd name="connsiteY3" fmla="*/ 609603 h 16933"/>
                <a:gd name="connisteX4" fmla="*/ 1219196 w 16933"/>
                <a:gd name="connsiteY4" fmla="*/ 609603 h 16933"/>
                <a:gd name="connisteX5" fmla="*/ 609603 w 16933"/>
                <a:gd name="connsiteY5" fmla="*/ 1219196 h 16933"/>
                <a:gd name="connisteX6" fmla="*/ 609603 w 16933"/>
                <a:gd name="connsiteY6" fmla="*/ 1219196 h 16933"/>
                <a:gd name="connisteX7" fmla="*/ 0 w 16933"/>
                <a:gd name="connsiteY7" fmla="*/ 609603 h 16933"/>
                <a:gd name="connisteX8" fmla="*/ 0 w 16933"/>
                <a:gd name="connsiteY8" fmla="*/ 609603 h 169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197" h="1219197">
                  <a:moveTo>
                    <a:pt x="0" y="609603"/>
                  </a:moveTo>
                  <a:cubicBezTo>
                    <a:pt x="0" y="272930"/>
                    <a:pt x="272930" y="0"/>
                    <a:pt x="609603" y="0"/>
                  </a:cubicBezTo>
                  <a:lnTo>
                    <a:pt x="609603" y="0"/>
                  </a:lnTo>
                  <a:cubicBezTo>
                    <a:pt x="946276" y="0"/>
                    <a:pt x="1219197" y="272930"/>
                    <a:pt x="1219197" y="609603"/>
                  </a:cubicBezTo>
                  <a:lnTo>
                    <a:pt x="1219197" y="609603"/>
                  </a:lnTo>
                  <a:cubicBezTo>
                    <a:pt x="1219197" y="946276"/>
                    <a:pt x="946276" y="1219197"/>
                    <a:pt x="609603" y="1219197"/>
                  </a:cubicBezTo>
                  <a:lnTo>
                    <a:pt x="609603" y="1219197"/>
                  </a:lnTo>
                  <a:cubicBezTo>
                    <a:pt x="272930" y="1219197"/>
                    <a:pt x="0" y="946276"/>
                    <a:pt x="0" y="609603"/>
                  </a:cubicBezTo>
                  <a:lnTo>
                    <a:pt x="0" y="609603"/>
                  </a:lnTo>
                  <a:close/>
                </a:path>
              </a:pathLst>
            </a:custGeom>
            <a:blipFill rotWithShape="1">
              <a:blip r:embed="rId8"/>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1" name="任意多边形 10"/>
            <p:cNvSpPr/>
            <p:nvPr>
              <p:custDataLst>
                <p:tags r:id="rId9"/>
              </p:custDataLst>
            </p:nvPr>
          </p:nvSpPr>
          <p:spPr>
            <a:xfrm>
              <a:off x="960" y="6480"/>
              <a:ext cx="8520" cy="3359"/>
            </a:xfrm>
            <a:custGeom>
              <a:avLst/>
              <a:gdLst>
                <a:gd name="connisteX0" fmla="*/ 0 w 75141"/>
                <a:gd name="connsiteY0" fmla="*/ 203197 h 29633"/>
                <a:gd name="connisteX1" fmla="*/ 203197 w 75141"/>
                <a:gd name="connsiteY1" fmla="*/ 0 h 29633"/>
                <a:gd name="connisteX2" fmla="*/ 5206995 w 75141"/>
                <a:gd name="connsiteY2" fmla="*/ 0 h 29633"/>
                <a:gd name="connisteX3" fmla="*/ 5410203 w 75141"/>
                <a:gd name="connsiteY3" fmla="*/ 203197 h 29633"/>
                <a:gd name="connisteX4" fmla="*/ 5410203 w 75141"/>
                <a:gd name="connsiteY4" fmla="*/ 1930398 h 29633"/>
                <a:gd name="connisteX5" fmla="*/ 5206995 w 75141"/>
                <a:gd name="connsiteY5" fmla="*/ 2133596 h 29633"/>
                <a:gd name="connisteX6" fmla="*/ 203197 w 75141"/>
                <a:gd name="connsiteY6" fmla="*/ 2133596 h 29633"/>
                <a:gd name="connisteX7" fmla="*/ 0 w 75141"/>
                <a:gd name="connsiteY7" fmla="*/ 1930398 h 29633"/>
                <a:gd name="connisteX8" fmla="*/ 0 w 75141"/>
                <a:gd name="connsiteY8" fmla="*/ 203197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10203" h="2133597">
                  <a:moveTo>
                    <a:pt x="0" y="203198"/>
                  </a:moveTo>
                  <a:cubicBezTo>
                    <a:pt x="0" y="90974"/>
                    <a:pt x="90974" y="0"/>
                    <a:pt x="203198" y="0"/>
                  </a:cubicBezTo>
                  <a:lnTo>
                    <a:pt x="5206996" y="0"/>
                  </a:lnTo>
                  <a:cubicBezTo>
                    <a:pt x="5319229" y="0"/>
                    <a:pt x="5410203" y="90974"/>
                    <a:pt x="5410203" y="203198"/>
                  </a:cubicBezTo>
                  <a:lnTo>
                    <a:pt x="5410203" y="1930399"/>
                  </a:lnTo>
                  <a:cubicBezTo>
                    <a:pt x="5410203" y="2042632"/>
                    <a:pt x="5319229" y="2133597"/>
                    <a:pt x="5206996" y="2133597"/>
                  </a:cubicBezTo>
                  <a:lnTo>
                    <a:pt x="203198" y="2133597"/>
                  </a:lnTo>
                  <a:cubicBezTo>
                    <a:pt x="90974" y="2133597"/>
                    <a:pt x="0" y="2042632"/>
                    <a:pt x="0" y="1930399"/>
                  </a:cubicBezTo>
                  <a:lnTo>
                    <a:pt x="0" y="203198"/>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descr="C:/Users/梦月/AppData/Roaming/Kingsoft/office6/wppai/generateppt/0f39b59620405126c439d65751d21bb9.jpg0f39b59620405126c439d65751d21bb9"/>
            <p:cNvPicPr preferRelativeResize="0">
              <a:picLocks noChangeAspect="1"/>
            </p:cNvPicPr>
            <p:nvPr>
              <p:custDataLst>
                <p:tags r:id="rId10"/>
              </p:custDataLst>
            </p:nvPr>
          </p:nvPicPr>
          <p:blipFill>
            <a:blip r:embed="rId11"/>
            <a:srcRect/>
            <a:stretch>
              <a:fillRect/>
            </a:stretch>
          </p:blipFill>
          <p:spPr>
            <a:xfrm>
              <a:off x="1440" y="7200"/>
              <a:ext cx="1919" cy="1919"/>
            </a:xfrm>
            <a:custGeom>
              <a:avLst/>
              <a:gdLst>
                <a:gd name="connisteX0" fmla="*/ 0 w 16933"/>
                <a:gd name="connsiteY0" fmla="*/ 609603 h 16933"/>
                <a:gd name="connisteX1" fmla="*/ 609603 w 16933"/>
                <a:gd name="connsiteY1" fmla="*/ 0 h 16933"/>
                <a:gd name="connisteX2" fmla="*/ 609603 w 16933"/>
                <a:gd name="connsiteY2" fmla="*/ 0 h 16933"/>
                <a:gd name="connisteX3" fmla="*/ 1219196 w 16933"/>
                <a:gd name="connsiteY3" fmla="*/ 609603 h 16933"/>
                <a:gd name="connisteX4" fmla="*/ 1219196 w 16933"/>
                <a:gd name="connsiteY4" fmla="*/ 609603 h 16933"/>
                <a:gd name="connisteX5" fmla="*/ 609603 w 16933"/>
                <a:gd name="connsiteY5" fmla="*/ 1219196 h 16933"/>
                <a:gd name="connisteX6" fmla="*/ 609603 w 16933"/>
                <a:gd name="connsiteY6" fmla="*/ 1219196 h 16933"/>
                <a:gd name="connisteX7" fmla="*/ 0 w 16933"/>
                <a:gd name="connsiteY7" fmla="*/ 609603 h 16933"/>
                <a:gd name="connisteX8" fmla="*/ 0 w 16933"/>
                <a:gd name="connsiteY8" fmla="*/ 609603 h 169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197" h="1219197">
                  <a:moveTo>
                    <a:pt x="0" y="609603"/>
                  </a:moveTo>
                  <a:cubicBezTo>
                    <a:pt x="0" y="272930"/>
                    <a:pt x="272930" y="0"/>
                    <a:pt x="609603" y="0"/>
                  </a:cubicBezTo>
                  <a:lnTo>
                    <a:pt x="609603" y="0"/>
                  </a:lnTo>
                  <a:cubicBezTo>
                    <a:pt x="946276" y="0"/>
                    <a:pt x="1219197" y="272930"/>
                    <a:pt x="1219197" y="609603"/>
                  </a:cubicBezTo>
                  <a:lnTo>
                    <a:pt x="1219197" y="609603"/>
                  </a:lnTo>
                  <a:cubicBezTo>
                    <a:pt x="1219197" y="946276"/>
                    <a:pt x="946276" y="1219197"/>
                    <a:pt x="609603" y="1219197"/>
                  </a:cubicBezTo>
                  <a:lnTo>
                    <a:pt x="609603" y="1219197"/>
                  </a:lnTo>
                  <a:cubicBezTo>
                    <a:pt x="272930" y="1219197"/>
                    <a:pt x="0" y="946276"/>
                    <a:pt x="0" y="609603"/>
                  </a:cubicBezTo>
                  <a:lnTo>
                    <a:pt x="0" y="609603"/>
                  </a:lnTo>
                  <a:close/>
                </a:path>
              </a:pathLst>
            </a:custGeom>
            <a:blipFill rotWithShape="1">
              <a:blip r:embed="rId8"/>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9" name="文本框 8"/>
            <p:cNvSpPr txBox="1"/>
            <p:nvPr>
              <p:custDataLst>
                <p:tags r:id="rId12"/>
              </p:custDataLst>
            </p:nvPr>
          </p:nvSpPr>
          <p:spPr>
            <a:xfrm>
              <a:off x="3840" y="3240"/>
              <a:ext cx="5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开发技术介绍</a:t>
              </a:r>
              <a:endParaRPr lang="zh-CN" altLang="en-US" sz="2400">
                <a:solidFill>
                  <a:schemeClr val="tx1"/>
                </a:solidFill>
                <a:latin typeface="Microsoft YaHei UI" panose="020B0503020204020204" charset="-122"/>
                <a:ea typeface="Microsoft YaHei UI" panose="020B0503020204020204" charset="-122"/>
              </a:endParaRPr>
            </a:p>
          </p:txBody>
        </p:sp>
        <p:sp>
          <p:nvSpPr>
            <p:cNvPr id="17" name="任意多边形 16"/>
            <p:cNvSpPr/>
            <p:nvPr>
              <p:custDataLst>
                <p:tags r:id="rId13"/>
              </p:custDataLst>
            </p:nvPr>
          </p:nvSpPr>
          <p:spPr>
            <a:xfrm>
              <a:off x="9720" y="2880"/>
              <a:ext cx="8520" cy="3359"/>
            </a:xfrm>
            <a:custGeom>
              <a:avLst/>
              <a:gdLst>
                <a:gd name="connisteX0" fmla="*/ 0 w 75141"/>
                <a:gd name="connsiteY0" fmla="*/ 203197 h 29633"/>
                <a:gd name="connisteX1" fmla="*/ 203197 w 75141"/>
                <a:gd name="connsiteY1" fmla="*/ 0 h 29633"/>
                <a:gd name="connisteX2" fmla="*/ 5206995 w 75141"/>
                <a:gd name="connsiteY2" fmla="*/ 0 h 29633"/>
                <a:gd name="connisteX3" fmla="*/ 5410203 w 75141"/>
                <a:gd name="connsiteY3" fmla="*/ 203197 h 29633"/>
                <a:gd name="connisteX4" fmla="*/ 5410203 w 75141"/>
                <a:gd name="connsiteY4" fmla="*/ 1930398 h 29633"/>
                <a:gd name="connisteX5" fmla="*/ 5206995 w 75141"/>
                <a:gd name="connsiteY5" fmla="*/ 2133596 h 29633"/>
                <a:gd name="connisteX6" fmla="*/ 203197 w 75141"/>
                <a:gd name="connsiteY6" fmla="*/ 2133596 h 29633"/>
                <a:gd name="connisteX7" fmla="*/ 0 w 75141"/>
                <a:gd name="connsiteY7" fmla="*/ 1930398 h 29633"/>
                <a:gd name="connisteX8" fmla="*/ 0 w 75141"/>
                <a:gd name="connsiteY8" fmla="*/ 203197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10203" h="2133597">
                  <a:moveTo>
                    <a:pt x="0" y="203198"/>
                  </a:moveTo>
                  <a:cubicBezTo>
                    <a:pt x="0" y="90974"/>
                    <a:pt x="90974" y="0"/>
                    <a:pt x="203198" y="0"/>
                  </a:cubicBezTo>
                  <a:lnTo>
                    <a:pt x="5206996" y="0"/>
                  </a:lnTo>
                  <a:cubicBezTo>
                    <a:pt x="5319229" y="0"/>
                    <a:pt x="5410203" y="90974"/>
                    <a:pt x="5410203" y="203198"/>
                  </a:cubicBezTo>
                  <a:lnTo>
                    <a:pt x="5410203" y="1930399"/>
                  </a:lnTo>
                  <a:cubicBezTo>
                    <a:pt x="5410203" y="2042632"/>
                    <a:pt x="5319229" y="2133597"/>
                    <a:pt x="5206996" y="2133597"/>
                  </a:cubicBezTo>
                  <a:lnTo>
                    <a:pt x="203198" y="2133597"/>
                  </a:lnTo>
                  <a:cubicBezTo>
                    <a:pt x="90974" y="2133597"/>
                    <a:pt x="0" y="2042632"/>
                    <a:pt x="0" y="1930399"/>
                  </a:cubicBezTo>
                  <a:lnTo>
                    <a:pt x="0" y="203198"/>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8" name="图片 17" descr="C:/Users/梦月/AppData/Roaming/Kingsoft/office6/wppai/generateppt/a2220107e1063d30a84b564d3cd8f5cb.jpga2220107e1063d30a84b564d3cd8f5cb"/>
            <p:cNvPicPr preferRelativeResize="0">
              <a:picLocks noChangeAspect="1"/>
            </p:cNvPicPr>
            <p:nvPr>
              <p:custDataLst>
                <p:tags r:id="rId14"/>
              </p:custDataLst>
            </p:nvPr>
          </p:nvPicPr>
          <p:blipFill>
            <a:blip r:embed="rId15"/>
            <a:srcRect l="8323" r="8324"/>
            <a:stretch>
              <a:fillRect/>
            </a:stretch>
          </p:blipFill>
          <p:spPr>
            <a:xfrm>
              <a:off x="10200" y="3600"/>
              <a:ext cx="1919" cy="1919"/>
            </a:xfrm>
            <a:custGeom>
              <a:avLst/>
              <a:gdLst>
                <a:gd name="connisteX0" fmla="*/ 0 w 16933"/>
                <a:gd name="connsiteY0" fmla="*/ 609603 h 16933"/>
                <a:gd name="connisteX1" fmla="*/ 609603 w 16933"/>
                <a:gd name="connsiteY1" fmla="*/ 0 h 16933"/>
                <a:gd name="connisteX2" fmla="*/ 609603 w 16933"/>
                <a:gd name="connsiteY2" fmla="*/ 0 h 16933"/>
                <a:gd name="connisteX3" fmla="*/ 1219196 w 16933"/>
                <a:gd name="connsiteY3" fmla="*/ 609603 h 16933"/>
                <a:gd name="connisteX4" fmla="*/ 1219196 w 16933"/>
                <a:gd name="connsiteY4" fmla="*/ 609603 h 16933"/>
                <a:gd name="connisteX5" fmla="*/ 609603 w 16933"/>
                <a:gd name="connsiteY5" fmla="*/ 1219196 h 16933"/>
                <a:gd name="connisteX6" fmla="*/ 609603 w 16933"/>
                <a:gd name="connsiteY6" fmla="*/ 1219196 h 16933"/>
                <a:gd name="connisteX7" fmla="*/ 0 w 16933"/>
                <a:gd name="connsiteY7" fmla="*/ 609603 h 16933"/>
                <a:gd name="connisteX8" fmla="*/ 0 w 16933"/>
                <a:gd name="connsiteY8" fmla="*/ 609603 h 169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197" h="1219197">
                  <a:moveTo>
                    <a:pt x="0" y="609603"/>
                  </a:moveTo>
                  <a:cubicBezTo>
                    <a:pt x="0" y="272930"/>
                    <a:pt x="272930" y="0"/>
                    <a:pt x="609603" y="0"/>
                  </a:cubicBezTo>
                  <a:lnTo>
                    <a:pt x="609603" y="0"/>
                  </a:lnTo>
                  <a:cubicBezTo>
                    <a:pt x="946276" y="0"/>
                    <a:pt x="1219197" y="272930"/>
                    <a:pt x="1219197" y="609603"/>
                  </a:cubicBezTo>
                  <a:lnTo>
                    <a:pt x="1219197" y="609603"/>
                  </a:lnTo>
                  <a:cubicBezTo>
                    <a:pt x="1219197" y="946276"/>
                    <a:pt x="946276" y="1219197"/>
                    <a:pt x="609603" y="1219197"/>
                  </a:cubicBezTo>
                  <a:lnTo>
                    <a:pt x="609603" y="1219197"/>
                  </a:lnTo>
                  <a:cubicBezTo>
                    <a:pt x="272930" y="1219197"/>
                    <a:pt x="0" y="946276"/>
                    <a:pt x="0" y="609603"/>
                  </a:cubicBezTo>
                  <a:lnTo>
                    <a:pt x="0" y="609603"/>
                  </a:lnTo>
                  <a:close/>
                </a:path>
              </a:pathLst>
            </a:custGeom>
            <a:blipFill rotWithShape="1">
              <a:blip r:embed="rId8"/>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0" name="文本框 9"/>
            <p:cNvSpPr txBox="1"/>
            <p:nvPr>
              <p:custDataLst>
                <p:tags r:id="rId16"/>
              </p:custDataLst>
            </p:nvPr>
          </p:nvSpPr>
          <p:spPr>
            <a:xfrm>
              <a:off x="3840" y="3960"/>
              <a:ext cx="524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本论文采用</a:t>
              </a:r>
              <a:r>
                <a:rPr lang="en-US" altLang="zh-CN" sz="1600">
                  <a:solidFill>
                    <a:schemeClr val="tx1"/>
                  </a:solidFill>
                  <a:latin typeface="Microsoft YaHei UI" panose="020B0503020204020204" charset="-122"/>
                  <a:ea typeface="Microsoft YaHei UI" panose="020B0503020204020204" charset="-122"/>
                </a:rPr>
                <a:t>Go</a:t>
              </a:r>
              <a:r>
                <a:rPr lang="zh-CN" altLang="en-US" sz="1600">
                  <a:solidFill>
                    <a:schemeClr val="tx1"/>
                  </a:solidFill>
                  <a:latin typeface="Microsoft YaHei UI" panose="020B0503020204020204" charset="-122"/>
                  <a:ea typeface="Microsoft YaHei UI" panose="020B0503020204020204" charset="-122"/>
                </a:rPr>
                <a:t>语言和</a:t>
              </a:r>
              <a:r>
                <a:rPr lang="en-US" altLang="zh-CN" sz="1600">
                  <a:solidFill>
                    <a:schemeClr val="tx1"/>
                  </a:solidFill>
                  <a:latin typeface="Microsoft YaHei UI" panose="020B0503020204020204" charset="-122"/>
                  <a:ea typeface="Microsoft YaHei UI" panose="020B0503020204020204" charset="-122"/>
                </a:rPr>
                <a:t>KitexRPC</a:t>
              </a:r>
              <a:r>
                <a:rPr lang="zh-CN" altLang="en-US" sz="1600">
                  <a:solidFill>
                    <a:schemeClr val="tx1"/>
                  </a:solidFill>
                  <a:latin typeface="Microsoft YaHei UI" panose="020B0503020204020204" charset="-122"/>
                  <a:ea typeface="Microsoft YaHei UI" panose="020B0503020204020204" charset="-122"/>
                </a:rPr>
                <a:t>框架，结合</a:t>
              </a:r>
              <a:r>
                <a:rPr lang="en-US" altLang="zh-CN" sz="1600">
                  <a:solidFill>
                    <a:schemeClr val="tx1"/>
                  </a:solidFill>
                  <a:latin typeface="Microsoft YaHei UI" panose="020B0503020204020204" charset="-122"/>
                  <a:ea typeface="Microsoft YaHei UI" panose="020B0503020204020204" charset="-122"/>
                </a:rPr>
                <a:t>Thrift</a:t>
              </a:r>
              <a:r>
                <a:rPr lang="zh-CN" altLang="en-US" sz="1600">
                  <a:solidFill>
                    <a:schemeClr val="tx1"/>
                  </a:solidFill>
                  <a:latin typeface="Microsoft YaHei UI" panose="020B0503020204020204" charset="-122"/>
                  <a:ea typeface="Microsoft YaHei UI" panose="020B0503020204020204" charset="-122"/>
                </a:rPr>
                <a:t>序列化协议，构建高性能高可用的分布式数据存储解决方案。</a:t>
              </a:r>
              <a:endParaRPr lang="zh-CN" altLang="en-US" sz="1600">
                <a:solidFill>
                  <a:schemeClr val="tx1"/>
                </a:solidFill>
                <a:latin typeface="Microsoft YaHei UI" panose="020B0503020204020204" charset="-122"/>
                <a:ea typeface="Microsoft YaHei UI" panose="020B0503020204020204" charset="-122"/>
              </a:endParaRPr>
            </a:p>
          </p:txBody>
        </p:sp>
        <p:sp>
          <p:nvSpPr>
            <p:cNvPr id="23" name="任意多边形 22"/>
            <p:cNvSpPr/>
            <p:nvPr>
              <p:custDataLst>
                <p:tags r:id="rId17"/>
              </p:custDataLst>
            </p:nvPr>
          </p:nvSpPr>
          <p:spPr>
            <a:xfrm>
              <a:off x="9720" y="6480"/>
              <a:ext cx="8520" cy="3359"/>
            </a:xfrm>
            <a:custGeom>
              <a:avLst/>
              <a:gdLst>
                <a:gd name="connisteX0" fmla="*/ 0 w 75141"/>
                <a:gd name="connsiteY0" fmla="*/ 203197 h 29633"/>
                <a:gd name="connisteX1" fmla="*/ 203197 w 75141"/>
                <a:gd name="connsiteY1" fmla="*/ 0 h 29633"/>
                <a:gd name="connisteX2" fmla="*/ 5206995 w 75141"/>
                <a:gd name="connsiteY2" fmla="*/ 0 h 29633"/>
                <a:gd name="connisteX3" fmla="*/ 5410203 w 75141"/>
                <a:gd name="connsiteY3" fmla="*/ 203197 h 29633"/>
                <a:gd name="connisteX4" fmla="*/ 5410203 w 75141"/>
                <a:gd name="connsiteY4" fmla="*/ 1930398 h 29633"/>
                <a:gd name="connisteX5" fmla="*/ 5206995 w 75141"/>
                <a:gd name="connsiteY5" fmla="*/ 2133596 h 29633"/>
                <a:gd name="connisteX6" fmla="*/ 203197 w 75141"/>
                <a:gd name="connsiteY6" fmla="*/ 2133596 h 29633"/>
                <a:gd name="connisteX7" fmla="*/ 0 w 75141"/>
                <a:gd name="connsiteY7" fmla="*/ 1930398 h 29633"/>
                <a:gd name="connisteX8" fmla="*/ 0 w 75141"/>
                <a:gd name="connsiteY8" fmla="*/ 203197 h 296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10203" h="2133597">
                  <a:moveTo>
                    <a:pt x="0" y="203198"/>
                  </a:moveTo>
                  <a:cubicBezTo>
                    <a:pt x="0" y="90974"/>
                    <a:pt x="90974" y="0"/>
                    <a:pt x="203198" y="0"/>
                  </a:cubicBezTo>
                  <a:lnTo>
                    <a:pt x="5206996" y="0"/>
                  </a:lnTo>
                  <a:cubicBezTo>
                    <a:pt x="5319229" y="0"/>
                    <a:pt x="5410203" y="90974"/>
                    <a:pt x="5410203" y="203198"/>
                  </a:cubicBezTo>
                  <a:lnTo>
                    <a:pt x="5410203" y="1930399"/>
                  </a:lnTo>
                  <a:cubicBezTo>
                    <a:pt x="5410203" y="2042632"/>
                    <a:pt x="5319229" y="2133597"/>
                    <a:pt x="5206996" y="2133597"/>
                  </a:cubicBezTo>
                  <a:lnTo>
                    <a:pt x="203198" y="2133597"/>
                  </a:lnTo>
                  <a:cubicBezTo>
                    <a:pt x="90974" y="2133597"/>
                    <a:pt x="0" y="2042632"/>
                    <a:pt x="0" y="1930399"/>
                  </a:cubicBezTo>
                  <a:lnTo>
                    <a:pt x="0" y="203198"/>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23" descr="C:/Users/梦月/AppData/Roaming/Kingsoft/office6/wppai/generateppt/a0a0e47746d2071b2e56a82bd39d1cef.jpga0a0e47746d2071b2e56a82bd39d1cef"/>
            <p:cNvPicPr preferRelativeResize="0">
              <a:picLocks noChangeAspect="1"/>
            </p:cNvPicPr>
            <p:nvPr>
              <p:custDataLst>
                <p:tags r:id="rId18"/>
              </p:custDataLst>
            </p:nvPr>
          </p:nvPicPr>
          <p:blipFill>
            <a:blip r:embed="rId19"/>
            <a:srcRect/>
            <a:stretch>
              <a:fillRect/>
            </a:stretch>
          </p:blipFill>
          <p:spPr>
            <a:xfrm>
              <a:off x="10200" y="7200"/>
              <a:ext cx="1919" cy="1919"/>
            </a:xfrm>
            <a:custGeom>
              <a:avLst/>
              <a:gdLst>
                <a:gd name="connisteX0" fmla="*/ 0 w 16933"/>
                <a:gd name="connsiteY0" fmla="*/ 609603 h 16933"/>
                <a:gd name="connisteX1" fmla="*/ 609603 w 16933"/>
                <a:gd name="connsiteY1" fmla="*/ 0 h 16933"/>
                <a:gd name="connisteX2" fmla="*/ 609603 w 16933"/>
                <a:gd name="connsiteY2" fmla="*/ 0 h 16933"/>
                <a:gd name="connisteX3" fmla="*/ 1219196 w 16933"/>
                <a:gd name="connsiteY3" fmla="*/ 609603 h 16933"/>
                <a:gd name="connisteX4" fmla="*/ 1219196 w 16933"/>
                <a:gd name="connsiteY4" fmla="*/ 609603 h 16933"/>
                <a:gd name="connisteX5" fmla="*/ 609603 w 16933"/>
                <a:gd name="connsiteY5" fmla="*/ 1219196 h 16933"/>
                <a:gd name="connisteX6" fmla="*/ 609603 w 16933"/>
                <a:gd name="connsiteY6" fmla="*/ 1219196 h 16933"/>
                <a:gd name="connisteX7" fmla="*/ 0 w 16933"/>
                <a:gd name="connsiteY7" fmla="*/ 609603 h 16933"/>
                <a:gd name="connisteX8" fmla="*/ 0 w 16933"/>
                <a:gd name="connsiteY8" fmla="*/ 609603 h 1693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219197" h="1219197">
                  <a:moveTo>
                    <a:pt x="0" y="609603"/>
                  </a:moveTo>
                  <a:cubicBezTo>
                    <a:pt x="0" y="272930"/>
                    <a:pt x="272930" y="0"/>
                    <a:pt x="609603" y="0"/>
                  </a:cubicBezTo>
                  <a:lnTo>
                    <a:pt x="609603" y="0"/>
                  </a:lnTo>
                  <a:cubicBezTo>
                    <a:pt x="946276" y="0"/>
                    <a:pt x="1219197" y="272930"/>
                    <a:pt x="1219197" y="609603"/>
                  </a:cubicBezTo>
                  <a:lnTo>
                    <a:pt x="1219197" y="609603"/>
                  </a:lnTo>
                  <a:cubicBezTo>
                    <a:pt x="1219197" y="946276"/>
                    <a:pt x="946276" y="1219197"/>
                    <a:pt x="609603" y="1219197"/>
                  </a:cubicBezTo>
                  <a:lnTo>
                    <a:pt x="609603" y="1219197"/>
                  </a:lnTo>
                  <a:cubicBezTo>
                    <a:pt x="272930" y="1219197"/>
                    <a:pt x="0" y="946276"/>
                    <a:pt x="0" y="609603"/>
                  </a:cubicBezTo>
                  <a:lnTo>
                    <a:pt x="0" y="609603"/>
                  </a:lnTo>
                  <a:close/>
                </a:path>
              </a:pathLst>
            </a:custGeom>
            <a:blipFill rotWithShape="1">
              <a:blip r:embed="rId8"/>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15" name="文本框 14"/>
            <p:cNvSpPr txBox="1"/>
            <p:nvPr>
              <p:custDataLst>
                <p:tags r:id="rId20"/>
              </p:custDataLst>
            </p:nvPr>
          </p:nvSpPr>
          <p:spPr>
            <a:xfrm>
              <a:off x="3840" y="6840"/>
              <a:ext cx="5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系统功能展示与测试</a:t>
              </a:r>
              <a:endParaRPr lang="zh-CN" altLang="en-US" sz="2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21"/>
              </p:custDataLst>
            </p:nvPr>
          </p:nvSpPr>
          <p:spPr>
            <a:xfrm>
              <a:off x="3840" y="7560"/>
              <a:ext cx="524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系统功能展示包括节点加入集群触发日志同步</a:t>
              </a:r>
              <a:r>
                <a:rPr lang="en-US" altLang="zh-CN" sz="1600">
                  <a:solidFill>
                    <a:schemeClr val="tx1"/>
                  </a:solidFill>
                  <a:latin typeface="Microsoft YaHei UI" panose="020B0503020204020204" charset="-122"/>
                  <a:ea typeface="Microsoft YaHei UI" panose="020B0503020204020204" charset="-122"/>
                </a:rPr>
                <a:t>，GET，SET，DELETE</a:t>
              </a:r>
              <a:r>
                <a:rPr lang="zh-CN" altLang="en-US" sz="1600">
                  <a:solidFill>
                    <a:schemeClr val="tx1"/>
                  </a:solidFill>
                  <a:latin typeface="Microsoft YaHei UI" panose="020B0503020204020204" charset="-122"/>
                  <a:ea typeface="Microsoft YaHei UI" panose="020B0503020204020204" charset="-122"/>
                </a:rPr>
                <a:t>操作等，测试结果表明系统在不同负载下性能稳定。</a:t>
              </a:r>
              <a:endParaRPr lang="zh-CN" altLang="en-US" sz="1600">
                <a:solidFill>
                  <a:schemeClr val="tx1"/>
                </a:solidFill>
                <a:latin typeface="Microsoft YaHei UI" panose="020B0503020204020204" charset="-122"/>
                <a:ea typeface="Microsoft YaHei UI" panose="020B0503020204020204" charset="-122"/>
              </a:endParaRPr>
            </a:p>
          </p:txBody>
        </p:sp>
        <p:sp>
          <p:nvSpPr>
            <p:cNvPr id="21" name="文本框 20"/>
            <p:cNvSpPr txBox="1"/>
            <p:nvPr>
              <p:custDataLst>
                <p:tags r:id="rId22"/>
              </p:custDataLst>
            </p:nvPr>
          </p:nvSpPr>
          <p:spPr>
            <a:xfrm>
              <a:off x="12600" y="3200"/>
              <a:ext cx="5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系统架构设计</a:t>
              </a:r>
              <a:endParaRPr lang="zh-CN" altLang="en-US" sz="2400">
                <a:solidFill>
                  <a:schemeClr val="tx1"/>
                </a:solidFill>
                <a:latin typeface="Microsoft YaHei UI" panose="020B0503020204020204" charset="-122"/>
                <a:ea typeface="Microsoft YaHei UI" panose="020B0503020204020204" charset="-122"/>
              </a:endParaRPr>
            </a:p>
          </p:txBody>
        </p:sp>
        <p:sp>
          <p:nvSpPr>
            <p:cNvPr id="22" name="文本框 21"/>
            <p:cNvSpPr txBox="1"/>
            <p:nvPr>
              <p:custDataLst>
                <p:tags r:id="rId23"/>
              </p:custDataLst>
            </p:nvPr>
          </p:nvSpPr>
          <p:spPr>
            <a:xfrm>
              <a:off x="12600" y="4000"/>
              <a:ext cx="524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系统采用分层架构，包括接口层、服务层、共识层和存储层，各层职责明确，共同组建起功能完备的分布式系统。</a:t>
              </a:r>
              <a:endParaRPr lang="zh-CN" altLang="en-US" sz="1600">
                <a:solidFill>
                  <a:schemeClr val="tx1"/>
                </a:solidFill>
                <a:latin typeface="Microsoft YaHei UI" panose="020B0503020204020204" charset="-122"/>
                <a:ea typeface="Microsoft YaHei UI" panose="020B0503020204020204" charset="-122"/>
              </a:endParaRPr>
            </a:p>
          </p:txBody>
        </p:sp>
        <p:sp>
          <p:nvSpPr>
            <p:cNvPr id="27" name="文本框 26"/>
            <p:cNvSpPr txBox="1"/>
            <p:nvPr>
              <p:custDataLst>
                <p:tags r:id="rId24"/>
              </p:custDataLst>
            </p:nvPr>
          </p:nvSpPr>
          <p:spPr>
            <a:xfrm>
              <a:off x="12600" y="6800"/>
              <a:ext cx="528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系统性能分析</a:t>
              </a:r>
              <a:endParaRPr lang="zh-CN" altLang="en-US" sz="2400">
                <a:solidFill>
                  <a:schemeClr val="tx1"/>
                </a:solidFill>
                <a:latin typeface="Microsoft YaHei UI" panose="020B0503020204020204" charset="-122"/>
                <a:ea typeface="Microsoft YaHei UI" panose="020B0503020204020204" charset="-122"/>
              </a:endParaRPr>
            </a:p>
          </p:txBody>
        </p:sp>
        <p:sp>
          <p:nvSpPr>
            <p:cNvPr id="28" name="文本框 27"/>
            <p:cNvSpPr txBox="1"/>
            <p:nvPr>
              <p:custDataLst>
                <p:tags r:id="rId25"/>
              </p:custDataLst>
            </p:nvPr>
          </p:nvSpPr>
          <p:spPr>
            <a:xfrm>
              <a:off x="12600" y="7600"/>
              <a:ext cx="524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系统性能分析显示，与单机</a:t>
              </a:r>
              <a:r>
                <a:rPr lang="en-US" altLang="zh-CN" sz="1600">
                  <a:solidFill>
                    <a:schemeClr val="tx1"/>
                  </a:solidFill>
                  <a:latin typeface="Microsoft YaHei UI" panose="020B0503020204020204" charset="-122"/>
                  <a:ea typeface="Microsoft YaHei UI" panose="020B0503020204020204" charset="-122"/>
                </a:rPr>
                <a:t>Redis</a:t>
              </a:r>
              <a:r>
                <a:rPr lang="zh-CN" altLang="en-US" sz="1600">
                  <a:solidFill>
                    <a:schemeClr val="tx1"/>
                  </a:solidFill>
                  <a:latin typeface="Microsoft YaHei UI" panose="020B0503020204020204" charset="-122"/>
                  <a:ea typeface="Microsoft YaHei UI" panose="020B0503020204020204" charset="-122"/>
                </a:rPr>
                <a:t>相比，性能有差距，但在一致性和分区容错性上优于</a:t>
              </a:r>
              <a:r>
                <a:rPr lang="en-US" altLang="zh-CN" sz="1600">
                  <a:solidFill>
                    <a:schemeClr val="tx1"/>
                  </a:solidFill>
                  <a:latin typeface="Microsoft YaHei UI" panose="020B0503020204020204" charset="-122"/>
                  <a:ea typeface="Microsoft YaHei UI" panose="020B0503020204020204" charset="-122"/>
                </a:rPr>
                <a:t>Redis</a:t>
              </a:r>
              <a:r>
                <a:rPr lang="zh-CN" altLang="en-US" sz="1600">
                  <a:solidFill>
                    <a:schemeClr val="tx1"/>
                  </a:solidFill>
                  <a:latin typeface="Microsoft YaHei UI" panose="020B0503020204020204" charset="-122"/>
                  <a:ea typeface="Microsoft YaHei UI" panose="020B0503020204020204" charset="-122"/>
                </a:rPr>
                <a:t>。</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26"/>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14725" y="135960"/>
            <a:ext cx="10969200" cy="705600"/>
          </a:xfrm>
        </p:spPr>
        <p:txBody>
          <a:bodyPr/>
          <a:p>
            <a:r>
              <a:rPr lang="zh-CN" altLang="en-US"/>
              <a:t>分布式数据库实现</a:t>
            </a:r>
            <a:r>
              <a:rPr lang="en-US" altLang="zh-CN"/>
              <a:t>--</a:t>
            </a:r>
            <a:r>
              <a:rPr lang="zh-CN" altLang="en-US"/>
              <a:t>写请求</a:t>
            </a:r>
            <a:r>
              <a:rPr lang="zh-CN" altLang="en-US"/>
              <a:t>实现</a:t>
            </a:r>
            <a:endParaRPr lang="zh-CN" altLang="en-US"/>
          </a:p>
        </p:txBody>
      </p:sp>
      <p:pic>
        <p:nvPicPr>
          <p:cNvPr id="3" name="图片 2" descr="Temp\paperppt\{2e4ada5b-ef7e-4f03-9f9f-9bd61d31a9e4}"/>
          <p:cNvPicPr>
            <a:picLocks noChangeAspect="1"/>
          </p:cNvPicPr>
          <p:nvPr/>
        </p:nvPicPr>
        <p:blipFill>
          <a:blip r:embed="rId1"/>
          <a:stretch>
            <a:fillRect/>
          </a:stretch>
        </p:blipFill>
        <p:spPr>
          <a:xfrm>
            <a:off x="254000" y="916940"/>
            <a:ext cx="5011420" cy="5152390"/>
          </a:xfrm>
          <a:prstGeom prst="rect">
            <a:avLst/>
          </a:prstGeom>
        </p:spPr>
      </p:pic>
      <p:sp>
        <p:nvSpPr>
          <p:cNvPr id="4" name="文本框 3"/>
          <p:cNvSpPr txBox="1"/>
          <p:nvPr/>
        </p:nvSpPr>
        <p:spPr>
          <a:xfrm>
            <a:off x="414655" y="6144895"/>
            <a:ext cx="3556000" cy="306705"/>
          </a:xfrm>
          <a:prstGeom prst="rect">
            <a:avLst/>
          </a:prstGeom>
          <a:noFill/>
        </p:spPr>
        <p:txBody>
          <a:bodyPr wrap="square" rtlCol="0" anchor="t">
            <a:spAutoFit/>
          </a:bodyPr>
          <a:p>
            <a:pPr algn="ctr"/>
            <a:r>
              <a:rPr lang="zh-CN" altLang="en-US" sz="1400"/>
              <a:t>写请求流程图</a:t>
            </a:r>
            <a:endParaRPr lang="zh-CN" altLang="en-US" sz="1400"/>
          </a:p>
        </p:txBody>
      </p:sp>
      <p:sp>
        <p:nvSpPr>
          <p:cNvPr id="9" name="文本框 8"/>
          <p:cNvSpPr txBox="1"/>
          <p:nvPr/>
        </p:nvSpPr>
        <p:spPr>
          <a:xfrm>
            <a:off x="5375275" y="841375"/>
            <a:ext cx="6694805" cy="5944870"/>
          </a:xfrm>
          <a:prstGeom prst="rect">
            <a:avLst/>
          </a:prstGeom>
          <a:noFill/>
        </p:spPr>
        <p:txBody>
          <a:bodyPr wrap="square" rtlCol="0">
            <a:noAutofit/>
          </a:bodyPr>
          <a:p>
            <a:r>
              <a:rPr lang="zh-CN" altLang="en-US" sz="1600"/>
              <a:t>第一阶段：日志条目创建与本地追加</a:t>
            </a:r>
            <a:endParaRPr lang="zh-CN" altLang="en-US" sz="1600"/>
          </a:p>
          <a:p>
            <a:r>
              <a:rPr lang="en-US" altLang="zh-CN" sz="1600"/>
              <a:t>Leader</a:t>
            </a:r>
            <a:r>
              <a:rPr lang="zh-CN" altLang="en-US" sz="1600"/>
              <a:t>接收到写请求后，将操作命令（如</a:t>
            </a:r>
            <a:r>
              <a:rPr lang="en-US" altLang="zh-CN" sz="1600"/>
              <a:t>set:key:value</a:t>
            </a:r>
            <a:r>
              <a:rPr lang="zh-CN" altLang="en-US" sz="1600"/>
              <a:t>）封装成带有当前任期号和递增索引的日志条目，然后立即追加到自己的本地日志中，此时日志处于</a:t>
            </a:r>
            <a:r>
              <a:rPr lang="en-US" altLang="zh-CN" sz="1600"/>
              <a:t>"</a:t>
            </a:r>
            <a:r>
              <a:rPr lang="zh-CN" altLang="en-US" sz="1600"/>
              <a:t>未提交</a:t>
            </a:r>
            <a:r>
              <a:rPr lang="en-US" altLang="zh-CN" sz="1600"/>
              <a:t>"</a:t>
            </a:r>
            <a:r>
              <a:rPr lang="zh-CN" altLang="en-US" sz="1600"/>
              <a:t>状态。</a:t>
            </a:r>
            <a:endParaRPr lang="zh-CN" altLang="en-US" sz="1600"/>
          </a:p>
          <a:p>
            <a:r>
              <a:rPr lang="zh-CN" altLang="en-US" sz="1600"/>
              <a:t>第二阶段：预提交阶段（</a:t>
            </a:r>
            <a:r>
              <a:rPr lang="en-US" altLang="zh-CN" sz="1600"/>
              <a:t>Pre-commit</a:t>
            </a:r>
            <a:r>
              <a:rPr lang="zh-CN" altLang="en-US" sz="1600"/>
              <a:t>）</a:t>
            </a:r>
            <a:endParaRPr lang="zh-CN" altLang="en-US" sz="1600"/>
          </a:p>
          <a:p>
            <a:r>
              <a:rPr lang="en-US" altLang="zh-CN" sz="1600"/>
              <a:t>Leader</a:t>
            </a:r>
            <a:r>
              <a:rPr lang="zh-CN" altLang="en-US" sz="1600"/>
              <a:t>并行向所有</a:t>
            </a:r>
            <a:r>
              <a:rPr lang="en-US" altLang="zh-CN" sz="1600"/>
              <a:t>Follower</a:t>
            </a:r>
            <a:r>
              <a:rPr lang="zh-CN" altLang="en-US" sz="1600"/>
              <a:t>节点发送标记为</a:t>
            </a:r>
            <a:r>
              <a:rPr lang="en-US" altLang="zh-CN" sz="1600"/>
              <a:t>IsPreCommit=true</a:t>
            </a:r>
            <a:r>
              <a:rPr lang="zh-CN" altLang="en-US" sz="1600"/>
              <a:t>的</a:t>
            </a:r>
            <a:r>
              <a:rPr lang="en-US" altLang="zh-CN" sz="1600"/>
              <a:t>AppendEntries</a:t>
            </a:r>
            <a:r>
              <a:rPr lang="zh-CN" altLang="en-US" sz="1600"/>
              <a:t>请求，包含新日志条目以及前一条日志的索引和任期信息用于一致性检查。</a:t>
            </a:r>
            <a:r>
              <a:rPr lang="en-US" altLang="zh-CN" sz="1600"/>
              <a:t>Follower</a:t>
            </a:r>
            <a:r>
              <a:rPr lang="zh-CN" altLang="en-US" sz="1600"/>
              <a:t>验证日志一致性后将日志追加到本地，并回复成功确认。</a:t>
            </a:r>
            <a:endParaRPr lang="zh-CN" altLang="en-US" sz="1600"/>
          </a:p>
          <a:p>
            <a:r>
              <a:rPr lang="zh-CN" altLang="en-US" sz="1600"/>
              <a:t>第三阶段：多数派确认判断</a:t>
            </a:r>
            <a:endParaRPr lang="zh-CN" altLang="en-US" sz="1600"/>
          </a:p>
          <a:p>
            <a:r>
              <a:rPr lang="en-US" altLang="zh-CN" sz="1600"/>
              <a:t>Leader</a:t>
            </a:r>
            <a:r>
              <a:rPr lang="zh-CN" altLang="en-US" sz="1600"/>
              <a:t>等待</a:t>
            </a:r>
            <a:r>
              <a:rPr lang="en-US" altLang="zh-CN" sz="1600"/>
              <a:t>Follower</a:t>
            </a:r>
            <a:r>
              <a:rPr lang="zh-CN" altLang="en-US" sz="1600"/>
              <a:t>响应，统计成功复制的节点数（包括自己）。如果达到多数派阈值（</a:t>
            </a:r>
            <a:r>
              <a:rPr lang="en-US" altLang="zh-CN" sz="1600"/>
              <a:t>N/2+1</a:t>
            </a:r>
            <a:r>
              <a:rPr lang="zh-CN" altLang="en-US" sz="1600"/>
              <a:t>），则预提交阶段成功，日志被标记为</a:t>
            </a:r>
            <a:r>
              <a:rPr lang="en-US" altLang="zh-CN" sz="1600"/>
              <a:t>PreCommitted=true</a:t>
            </a:r>
            <a:r>
              <a:rPr lang="zh-CN" altLang="en-US" sz="1600"/>
              <a:t>；否则写操作失败。</a:t>
            </a:r>
            <a:endParaRPr lang="zh-CN" altLang="en-US" sz="1600"/>
          </a:p>
          <a:p>
            <a:r>
              <a:rPr lang="zh-CN" altLang="en-US" sz="1600"/>
              <a:t>第四阶段：正式提交阶段（</a:t>
            </a:r>
            <a:r>
              <a:rPr lang="en-US" altLang="zh-CN" sz="1600"/>
              <a:t>Commit</a:t>
            </a:r>
            <a:r>
              <a:rPr lang="zh-CN" altLang="en-US" sz="1600"/>
              <a:t>）</a:t>
            </a:r>
            <a:endParaRPr lang="zh-CN" altLang="en-US" sz="1600"/>
          </a:p>
          <a:p>
            <a:r>
              <a:rPr lang="zh-CN" altLang="en-US" sz="1600"/>
              <a:t>预提交成功后，</a:t>
            </a:r>
            <a:r>
              <a:rPr lang="en-US" altLang="zh-CN" sz="1600"/>
              <a:t>Leader</a:t>
            </a:r>
            <a:r>
              <a:rPr lang="zh-CN" altLang="en-US" sz="1600"/>
              <a:t>更新自己的</a:t>
            </a:r>
            <a:r>
              <a:rPr lang="en-US" altLang="zh-CN" sz="1600"/>
              <a:t>commitIndex</a:t>
            </a:r>
            <a:r>
              <a:rPr lang="zh-CN" altLang="en-US" sz="1600"/>
              <a:t>，然后向所有</a:t>
            </a:r>
            <a:r>
              <a:rPr lang="en-US" altLang="zh-CN" sz="1600"/>
              <a:t>Follower</a:t>
            </a:r>
            <a:r>
              <a:rPr lang="zh-CN" altLang="en-US" sz="1600"/>
              <a:t>发送不带日志条目的</a:t>
            </a:r>
            <a:r>
              <a:rPr lang="en-US" altLang="zh-CN" sz="1600"/>
              <a:t>AppendEntries</a:t>
            </a:r>
            <a:r>
              <a:rPr lang="zh-CN" altLang="en-US" sz="1600"/>
              <a:t>请求（</a:t>
            </a:r>
            <a:r>
              <a:rPr lang="en-US" altLang="zh-CN" sz="1600"/>
              <a:t>IsPreCommit=false</a:t>
            </a:r>
            <a:r>
              <a:rPr lang="zh-CN" altLang="en-US" sz="1600"/>
              <a:t>），通知它们更新各自的</a:t>
            </a:r>
            <a:r>
              <a:rPr lang="en-US" altLang="zh-CN" sz="1600"/>
              <a:t>commitIndex</a:t>
            </a:r>
            <a:r>
              <a:rPr lang="zh-CN" altLang="en-US" sz="1600"/>
              <a:t>到新提交的位置。</a:t>
            </a:r>
            <a:endParaRPr lang="zh-CN" altLang="en-US" sz="1600"/>
          </a:p>
          <a:p>
            <a:r>
              <a:rPr lang="zh-CN" altLang="en-US" sz="1600"/>
              <a:t>第五阶段：状态机应用</a:t>
            </a:r>
            <a:endParaRPr lang="zh-CN" altLang="en-US" sz="1600"/>
          </a:p>
          <a:p>
            <a:r>
              <a:rPr lang="en-US" altLang="zh-CN" sz="1600"/>
              <a:t>Leader</a:t>
            </a:r>
            <a:r>
              <a:rPr lang="zh-CN" altLang="en-US" sz="1600"/>
              <a:t>和各</a:t>
            </a:r>
            <a:r>
              <a:rPr lang="en-US" altLang="zh-CN" sz="1600"/>
              <a:t>Follower</a:t>
            </a:r>
            <a:r>
              <a:rPr lang="zh-CN" altLang="en-US" sz="1600"/>
              <a:t>将已提交的日志条目应用到各自的状态机（键值存储），完成实际的数据修改操作，然后</a:t>
            </a:r>
            <a:r>
              <a:rPr lang="en-US" altLang="zh-CN" sz="1600"/>
              <a:t>Leader</a:t>
            </a:r>
            <a:r>
              <a:rPr lang="zh-CN" altLang="en-US" sz="1600"/>
              <a:t>向客户端返回写操作成功的响应。</a:t>
            </a:r>
            <a:endParaRPr lang="zh-CN" altLang="en-US" sz="1600"/>
          </a:p>
          <a:p>
            <a:r>
              <a:rPr lang="zh-CN" altLang="en-US" sz="1600"/>
              <a:t>这种两阶段提交设计确保了即使在网络分区或节点故障情况下，已提交的写操作也不会丢失，同时避免了脑裂问题，保证了强一致性。您的实现还包含了完善的错误处理机制，如任期检查、日志一致性验证和超时重试等。</a:t>
            </a:r>
            <a:endParaRPr lang="zh-CN"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8400" y="245180"/>
            <a:ext cx="10969200" cy="705600"/>
          </a:xfrm>
        </p:spPr>
        <p:txBody>
          <a:bodyPr/>
          <a:p>
            <a:r>
              <a:rPr lang="zh-CN" altLang="en-US">
                <a:sym typeface="+mn-ea"/>
              </a:rPr>
              <a:t>分布式数据库实现</a:t>
            </a:r>
            <a:r>
              <a:rPr lang="en-US" altLang="zh-CN">
                <a:sym typeface="+mn-ea"/>
              </a:rPr>
              <a:t>--Leader</a:t>
            </a:r>
            <a:r>
              <a:rPr lang="zh-CN" altLang="en-US">
                <a:sym typeface="+mn-ea"/>
              </a:rPr>
              <a:t>选举</a:t>
            </a:r>
            <a:r>
              <a:rPr lang="zh-CN" altLang="en-US">
                <a:sym typeface="+mn-ea"/>
              </a:rPr>
              <a:t>实现</a:t>
            </a:r>
            <a:endParaRPr lang="zh-CN" altLang="en-US">
              <a:sym typeface="+mn-ea"/>
            </a:endParaRPr>
          </a:p>
        </p:txBody>
      </p:sp>
      <p:pic>
        <p:nvPicPr>
          <p:cNvPr id="28" name="图片 5" descr="IMG_256"/>
          <p:cNvPicPr>
            <a:picLocks noChangeAspect="1"/>
          </p:cNvPicPr>
          <p:nvPr/>
        </p:nvPicPr>
        <p:blipFill>
          <a:blip r:embed="rId1"/>
          <a:stretch>
            <a:fillRect/>
          </a:stretch>
        </p:blipFill>
        <p:spPr>
          <a:xfrm>
            <a:off x="316230" y="950595"/>
            <a:ext cx="5579110" cy="4509770"/>
          </a:xfrm>
          <a:prstGeom prst="rect">
            <a:avLst/>
          </a:prstGeom>
          <a:noFill/>
          <a:ln w="9525">
            <a:noFill/>
          </a:ln>
        </p:spPr>
      </p:pic>
      <p:sp>
        <p:nvSpPr>
          <p:cNvPr id="3" name="文本框 2"/>
          <p:cNvSpPr txBox="1"/>
          <p:nvPr/>
        </p:nvSpPr>
        <p:spPr>
          <a:xfrm>
            <a:off x="580390" y="5692140"/>
            <a:ext cx="4358640" cy="368300"/>
          </a:xfrm>
          <a:prstGeom prst="rect">
            <a:avLst/>
          </a:prstGeom>
          <a:noFill/>
        </p:spPr>
        <p:txBody>
          <a:bodyPr wrap="square" rtlCol="0">
            <a:spAutoFit/>
          </a:bodyPr>
          <a:p>
            <a:r>
              <a:rPr lang="en-US" altLang="zh-CN"/>
              <a:t>Leader</a:t>
            </a:r>
            <a:r>
              <a:rPr lang="zh-CN" altLang="en-US"/>
              <a:t>选举</a:t>
            </a:r>
            <a:r>
              <a:rPr lang="zh-CN" altLang="en-US"/>
              <a:t>流程图</a:t>
            </a:r>
            <a:endParaRPr lang="zh-CN" altLang="en-US"/>
          </a:p>
        </p:txBody>
      </p:sp>
      <p:sp>
        <p:nvSpPr>
          <p:cNvPr id="5" name="文本框 4"/>
          <p:cNvSpPr txBox="1"/>
          <p:nvPr/>
        </p:nvSpPr>
        <p:spPr>
          <a:xfrm>
            <a:off x="6064885" y="1333500"/>
            <a:ext cx="5836285" cy="5015865"/>
          </a:xfrm>
          <a:prstGeom prst="rect">
            <a:avLst/>
          </a:prstGeom>
          <a:noFill/>
        </p:spPr>
        <p:txBody>
          <a:bodyPr wrap="square" rtlCol="0">
            <a:spAutoFit/>
          </a:bodyPr>
          <a:p>
            <a:r>
              <a:rPr lang="en-US" altLang="zh-CN" sz="1600"/>
              <a:t>1. </a:t>
            </a:r>
            <a:r>
              <a:rPr lang="zh-CN" altLang="en-US" sz="1600"/>
              <a:t>触发选举</a:t>
            </a:r>
            <a:endParaRPr lang="zh-CN" altLang="en-US" sz="1600"/>
          </a:p>
          <a:p>
            <a:r>
              <a:rPr lang="zh-CN" altLang="en-US" sz="1600"/>
              <a:t>当一个节点（</a:t>
            </a:r>
            <a:r>
              <a:rPr lang="en-US" altLang="zh-CN" sz="1600"/>
              <a:t>Follower</a:t>
            </a:r>
            <a:r>
              <a:rPr lang="zh-CN" altLang="en-US" sz="1600"/>
              <a:t>）在规定时间内没有收到</a:t>
            </a:r>
            <a:r>
              <a:rPr lang="en-US" altLang="zh-CN" sz="1600"/>
              <a:t>Leader</a:t>
            </a:r>
            <a:r>
              <a:rPr lang="zh-CN" altLang="en-US" sz="1600"/>
              <a:t>的心跳消息时，就会认为</a:t>
            </a:r>
            <a:r>
              <a:rPr lang="en-US" altLang="zh-CN" sz="1600"/>
              <a:t>Leader</a:t>
            </a:r>
            <a:r>
              <a:rPr lang="zh-CN" altLang="en-US" sz="1600"/>
              <a:t>可能挂了，于是决定</a:t>
            </a:r>
            <a:r>
              <a:rPr lang="en-US" altLang="zh-CN" sz="1600"/>
              <a:t>"</a:t>
            </a:r>
            <a:r>
              <a:rPr lang="zh-CN" altLang="en-US" sz="1600"/>
              <a:t>我要竞选当</a:t>
            </a:r>
            <a:r>
              <a:rPr lang="en-US" altLang="zh-CN" sz="1600"/>
              <a:t>Leader"</a:t>
            </a:r>
            <a:r>
              <a:rPr lang="zh-CN" altLang="en-US" sz="1600"/>
              <a:t>。</a:t>
            </a:r>
            <a:endParaRPr lang="zh-CN" altLang="en-US" sz="1600"/>
          </a:p>
          <a:p>
            <a:r>
              <a:rPr lang="en-US" altLang="zh-CN" sz="1600"/>
              <a:t>2. </a:t>
            </a:r>
            <a:r>
              <a:rPr lang="zh-CN" altLang="en-US" sz="1600"/>
              <a:t>成为候选人</a:t>
            </a:r>
            <a:endParaRPr lang="zh-CN" altLang="en-US" sz="1600"/>
          </a:p>
          <a:p>
            <a:r>
              <a:rPr lang="zh-CN" altLang="en-US" sz="1600"/>
              <a:t>这个节点把自己的身份改为</a:t>
            </a:r>
            <a:r>
              <a:rPr lang="en-US" altLang="zh-CN" sz="1600"/>
              <a:t>"</a:t>
            </a:r>
            <a:r>
              <a:rPr lang="zh-CN" altLang="en-US" sz="1600"/>
              <a:t>候选人</a:t>
            </a:r>
            <a:r>
              <a:rPr lang="en-US" altLang="zh-CN" sz="1600"/>
              <a:t>"</a:t>
            </a:r>
            <a:r>
              <a:rPr lang="zh-CN" altLang="en-US" sz="1600"/>
              <a:t>，给自己的任期号加</a:t>
            </a:r>
            <a:r>
              <a:rPr lang="en-US" altLang="zh-CN" sz="1600"/>
              <a:t>1</a:t>
            </a:r>
            <a:r>
              <a:rPr lang="zh-CN" altLang="en-US" sz="1600"/>
              <a:t>（相当于说</a:t>
            </a:r>
            <a:r>
              <a:rPr lang="en-US" altLang="zh-CN" sz="1600"/>
              <a:t>"</a:t>
            </a:r>
            <a:r>
              <a:rPr lang="zh-CN" altLang="en-US" sz="1600"/>
              <a:t>这是第</a:t>
            </a:r>
            <a:r>
              <a:rPr lang="en-US" altLang="zh-CN" sz="1600"/>
              <a:t>X</a:t>
            </a:r>
            <a:r>
              <a:rPr lang="zh-CN" altLang="en-US" sz="1600"/>
              <a:t>届选举</a:t>
            </a:r>
            <a:r>
              <a:rPr lang="en-US" altLang="zh-CN" sz="1600"/>
              <a:t>"</a:t>
            </a:r>
            <a:r>
              <a:rPr lang="zh-CN" altLang="en-US" sz="1600"/>
              <a:t>），然后先给自己投一票。</a:t>
            </a:r>
            <a:endParaRPr lang="zh-CN" altLang="en-US" sz="1600"/>
          </a:p>
          <a:p>
            <a:r>
              <a:rPr lang="en-US" altLang="zh-CN" sz="1600"/>
              <a:t>3. </a:t>
            </a:r>
            <a:r>
              <a:rPr lang="zh-CN" altLang="en-US" sz="1600"/>
              <a:t>拉票阶段</a:t>
            </a:r>
            <a:endParaRPr lang="zh-CN" altLang="en-US" sz="1600"/>
          </a:p>
          <a:p>
            <a:r>
              <a:rPr lang="zh-CN" altLang="en-US" sz="1600"/>
              <a:t>候选人同时向集群中所有其他节点发送消息说：</a:t>
            </a:r>
            <a:r>
              <a:rPr lang="en-US" altLang="zh-CN" sz="1600"/>
              <a:t>"</a:t>
            </a:r>
            <a:r>
              <a:rPr lang="zh-CN" altLang="en-US" sz="1600"/>
              <a:t>我想当</a:t>
            </a:r>
            <a:r>
              <a:rPr lang="en-US" altLang="zh-CN" sz="1600"/>
              <a:t>Leader</a:t>
            </a:r>
            <a:r>
              <a:rPr lang="zh-CN" altLang="en-US" sz="1600"/>
              <a:t>，请投票给我！</a:t>
            </a:r>
            <a:r>
              <a:rPr lang="en-US" altLang="zh-CN" sz="1600"/>
              <a:t>"</a:t>
            </a:r>
            <a:r>
              <a:rPr lang="zh-CN" altLang="en-US" sz="1600"/>
              <a:t>消息里还会附上自己的任期号和日志信息，证明自己有资格当</a:t>
            </a:r>
            <a:r>
              <a:rPr lang="en-US" altLang="zh-CN" sz="1600"/>
              <a:t>Leader</a:t>
            </a:r>
            <a:r>
              <a:rPr lang="zh-CN" altLang="en-US" sz="1600"/>
              <a:t>。</a:t>
            </a:r>
            <a:endParaRPr lang="zh-CN" altLang="en-US" sz="1600"/>
          </a:p>
          <a:p>
            <a:r>
              <a:rPr lang="en-US" altLang="zh-CN" sz="1600"/>
              <a:t>4. </a:t>
            </a:r>
            <a:r>
              <a:rPr lang="zh-CN" altLang="en-US" sz="1600"/>
              <a:t>其他节点决定投票</a:t>
            </a:r>
            <a:endParaRPr lang="zh-CN" altLang="en-US" sz="1600"/>
          </a:p>
          <a:p>
            <a:r>
              <a:rPr lang="zh-CN" altLang="en-US" sz="1600"/>
              <a:t>收到投票请求的节点会考虑：</a:t>
            </a:r>
            <a:endParaRPr lang="zh-CN" altLang="en-US" sz="1600"/>
          </a:p>
          <a:p>
            <a:r>
              <a:rPr lang="zh-CN" altLang="en-US" sz="1600"/>
              <a:t>这个候选人的任期号是不是比我知道的更新？</a:t>
            </a:r>
            <a:endParaRPr lang="zh-CN" altLang="en-US" sz="1600"/>
          </a:p>
          <a:p>
            <a:r>
              <a:rPr lang="zh-CN" altLang="en-US" sz="1600"/>
              <a:t>我在这个任期里是不是已经投过票了？</a:t>
            </a:r>
            <a:endParaRPr lang="zh-CN" altLang="en-US" sz="1600"/>
          </a:p>
          <a:p>
            <a:r>
              <a:rPr lang="zh-CN" altLang="en-US" sz="1600"/>
              <a:t>这个候选人的日志是不是至少和我的一样新？</a:t>
            </a:r>
            <a:endParaRPr lang="zh-CN" altLang="en-US" sz="1600"/>
          </a:p>
          <a:p>
            <a:r>
              <a:rPr lang="zh-CN" altLang="en-US" sz="1600"/>
              <a:t>如果都满足，就投票给候选人；否则拒绝。</a:t>
            </a:r>
            <a:endParaRPr lang="zh-CN" altLang="en-US" sz="1600"/>
          </a:p>
          <a:p>
            <a:r>
              <a:rPr lang="en-US" altLang="zh-CN" sz="1600"/>
              <a:t>5. </a:t>
            </a:r>
            <a:r>
              <a:rPr lang="zh-CN" altLang="en-US" sz="1600"/>
              <a:t>统计选票</a:t>
            </a:r>
            <a:endParaRPr lang="zh-CN" altLang="en-US" sz="1600"/>
          </a:p>
          <a:p>
            <a:r>
              <a:rPr lang="zh-CN" altLang="en-US" sz="1600"/>
              <a:t>候选人收集所有投票结果。如果得到超过半数的选票（包括自己的一票），就宣布</a:t>
            </a:r>
            <a:r>
              <a:rPr lang="en-US" altLang="zh-CN" sz="1600"/>
              <a:t>"</a:t>
            </a:r>
            <a:r>
              <a:rPr lang="zh-CN" altLang="en-US" sz="1600"/>
              <a:t>我当选了！</a:t>
            </a:r>
            <a:r>
              <a:rPr lang="en-US" altLang="zh-CN" sz="1600"/>
              <a:t>"</a:t>
            </a:r>
            <a:r>
              <a:rPr lang="zh-CN" altLang="en-US" sz="1600"/>
              <a:t>，成为新的</a:t>
            </a:r>
            <a:r>
              <a:rPr lang="en-US" altLang="zh-CN" sz="1600"/>
              <a:t>Leader</a:t>
            </a:r>
            <a:r>
              <a:rPr lang="zh-CN" altLang="en-US" sz="1600"/>
              <a:t>。</a:t>
            </a:r>
            <a:endParaRPr lang="zh-CN"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分布式数据库设计和实现</a:t>
            </a:r>
            <a:endParaRPr lang="zh-CN" altLang="en-US"/>
          </a:p>
        </p:txBody>
      </p:sp>
      <p:pic>
        <p:nvPicPr>
          <p:cNvPr id="7" name="Drawing 6"/>
          <p:cNvPicPr>
            <a:picLocks noChangeAspect="1"/>
          </p:cNvPicPr>
          <p:nvPr/>
        </p:nvPicPr>
        <p:blipFill>
          <a:blip r:embed="rId1"/>
          <a:stretch>
            <a:fillRect/>
          </a:stretch>
        </p:blipFill>
        <p:spPr>
          <a:xfrm>
            <a:off x="201295" y="1572260"/>
            <a:ext cx="7164705" cy="3561080"/>
          </a:xfrm>
          <a:prstGeom prst="rect">
            <a:avLst/>
          </a:prstGeom>
        </p:spPr>
      </p:pic>
      <p:sp>
        <p:nvSpPr>
          <p:cNvPr id="8" name="文本框 7"/>
          <p:cNvSpPr txBox="1"/>
          <p:nvPr/>
        </p:nvSpPr>
        <p:spPr>
          <a:xfrm>
            <a:off x="1343025" y="5268595"/>
            <a:ext cx="4782820" cy="368300"/>
          </a:xfrm>
          <a:prstGeom prst="rect">
            <a:avLst/>
          </a:prstGeom>
          <a:noFill/>
        </p:spPr>
        <p:txBody>
          <a:bodyPr wrap="square" rtlCol="0">
            <a:spAutoFit/>
          </a:bodyPr>
          <a:p>
            <a:pPr algn="ctr"/>
            <a:r>
              <a:rPr lang="zh-CN" altLang="en-US"/>
              <a:t>系统</a:t>
            </a:r>
            <a:r>
              <a:rPr lang="zh-CN" altLang="en-US"/>
              <a:t>架构图</a:t>
            </a:r>
            <a:endParaRPr lang="zh-CN" altLang="en-US"/>
          </a:p>
        </p:txBody>
      </p:sp>
      <p:sp>
        <p:nvSpPr>
          <p:cNvPr id="9" name="文本框 8"/>
          <p:cNvSpPr txBox="1"/>
          <p:nvPr/>
        </p:nvSpPr>
        <p:spPr>
          <a:xfrm>
            <a:off x="7275830" y="764540"/>
            <a:ext cx="4685665" cy="5908040"/>
          </a:xfrm>
          <a:prstGeom prst="rect">
            <a:avLst/>
          </a:prstGeom>
          <a:noFill/>
        </p:spPr>
        <p:txBody>
          <a:bodyPr wrap="square" rtlCol="0">
            <a:spAutoFit/>
          </a:bodyPr>
          <a:p>
            <a:r>
              <a:rPr lang="zh-CN" altLang="en-US"/>
              <a:t>第一层：客户端层（</a:t>
            </a:r>
            <a:r>
              <a:rPr lang="en-US" altLang="zh-CN"/>
              <a:t>ddbr-client</a:t>
            </a:r>
            <a:r>
              <a:rPr lang="zh-CN" altLang="en-US"/>
              <a:t>）</a:t>
            </a:r>
            <a:endParaRPr lang="zh-CN" altLang="en-US"/>
          </a:p>
          <a:p>
            <a:r>
              <a:rPr lang="zh-CN" altLang="en-US"/>
              <a:t>提供测试客户端工具</a:t>
            </a:r>
            <a:endParaRPr lang="zh-CN" altLang="en-US"/>
          </a:p>
          <a:p>
            <a:r>
              <a:rPr lang="zh-CN" altLang="en-US"/>
              <a:t>用于发起读写请求和性能测试</a:t>
            </a:r>
            <a:endParaRPr lang="zh-CN" altLang="en-US"/>
          </a:p>
          <a:p>
            <a:r>
              <a:rPr lang="zh-CN" altLang="en-US"/>
              <a:t>通过</a:t>
            </a:r>
            <a:r>
              <a:rPr lang="en-US" altLang="zh-CN"/>
              <a:t>Thrift RPC</a:t>
            </a:r>
            <a:r>
              <a:rPr lang="zh-CN" altLang="en-US"/>
              <a:t>与网关层通信</a:t>
            </a:r>
            <a:endParaRPr lang="zh-CN" altLang="en-US"/>
          </a:p>
          <a:p>
            <a:r>
              <a:rPr lang="zh-CN" altLang="en-US"/>
              <a:t>第二层：网关层（</a:t>
            </a:r>
            <a:r>
              <a:rPr lang="en-US" altLang="zh-CN"/>
              <a:t>ddbr-gateway</a:t>
            </a:r>
            <a:r>
              <a:rPr lang="zh-CN" altLang="en-US"/>
              <a:t>）</a:t>
            </a:r>
            <a:endParaRPr lang="zh-CN" altLang="en-US"/>
          </a:p>
          <a:p>
            <a:r>
              <a:rPr lang="zh-CN" altLang="en-US"/>
              <a:t>作为系统的入口门户，对外提供统一服务接口</a:t>
            </a:r>
            <a:endParaRPr lang="zh-CN" altLang="en-US"/>
          </a:p>
          <a:p>
            <a:r>
              <a:rPr lang="zh-CN" altLang="en-US"/>
              <a:t>主从双节点部署（端口</a:t>
            </a:r>
            <a:r>
              <a:rPr lang="en-US" altLang="zh-CN"/>
              <a:t>8080/8081</a:t>
            </a:r>
            <a:r>
              <a:rPr lang="zh-CN" altLang="en-US"/>
              <a:t>），保证高可用</a:t>
            </a:r>
            <a:endParaRPr lang="zh-CN" altLang="en-US"/>
          </a:p>
          <a:p>
            <a:r>
              <a:rPr lang="zh-CN" altLang="en-US"/>
              <a:t>提供标准的键值操作：</a:t>
            </a:r>
            <a:r>
              <a:rPr lang="en-US" altLang="zh-CN"/>
              <a:t>Set</a:t>
            </a:r>
            <a:r>
              <a:rPr lang="zh-CN" altLang="en-US"/>
              <a:t>、</a:t>
            </a:r>
            <a:r>
              <a:rPr lang="en-US" altLang="zh-CN"/>
              <a:t>Get</a:t>
            </a:r>
            <a:r>
              <a:rPr lang="zh-CN" altLang="en-US"/>
              <a:t>、</a:t>
            </a:r>
            <a:r>
              <a:rPr lang="en-US" altLang="zh-CN"/>
              <a:t>Delete</a:t>
            </a:r>
            <a:endParaRPr lang="en-US" altLang="zh-CN"/>
          </a:p>
          <a:p>
            <a:r>
              <a:rPr lang="zh-CN" altLang="en-US"/>
              <a:t>负责服务发现和负载均衡，将请求转发给合适的服务器节点</a:t>
            </a:r>
            <a:endParaRPr lang="zh-CN" altLang="en-US"/>
          </a:p>
          <a:p>
            <a:r>
              <a:rPr lang="zh-CN" altLang="en-US"/>
              <a:t>管理服务器节点的注册和</a:t>
            </a:r>
            <a:r>
              <a:rPr lang="en-US" altLang="zh-CN"/>
              <a:t>Leader</a:t>
            </a:r>
            <a:r>
              <a:rPr lang="zh-CN" altLang="en-US"/>
              <a:t>选举通知</a:t>
            </a:r>
            <a:endParaRPr lang="zh-CN" altLang="en-US"/>
          </a:p>
          <a:p>
            <a:r>
              <a:rPr lang="zh-CN" altLang="en-US"/>
              <a:t>第三层：服务器层（</a:t>
            </a:r>
            <a:r>
              <a:rPr lang="en-US" altLang="zh-CN"/>
              <a:t>ddbr-server</a:t>
            </a:r>
            <a:r>
              <a:rPr lang="zh-CN" altLang="en-US"/>
              <a:t>）</a:t>
            </a:r>
            <a:endParaRPr lang="zh-CN" altLang="en-US"/>
          </a:p>
          <a:p>
            <a:r>
              <a:rPr lang="zh-CN" altLang="en-US"/>
              <a:t>这是核心存储层，实现完整的</a:t>
            </a:r>
            <a:r>
              <a:rPr lang="en-US" altLang="zh-CN"/>
              <a:t>Raft</a:t>
            </a:r>
            <a:r>
              <a:rPr lang="zh-CN" altLang="en-US"/>
              <a:t>一致性算法</a:t>
            </a:r>
            <a:endParaRPr lang="zh-CN" altLang="en-US"/>
          </a:p>
          <a:p>
            <a:r>
              <a:rPr lang="zh-CN" altLang="en-US"/>
              <a:t>主从双节点部署（端口</a:t>
            </a:r>
            <a:r>
              <a:rPr lang="en-US" altLang="zh-CN"/>
              <a:t>8082/8083</a:t>
            </a:r>
            <a:r>
              <a:rPr lang="zh-CN" altLang="en-US"/>
              <a:t>），可扩展到多节点</a:t>
            </a:r>
            <a:endParaRPr lang="zh-CN" altLang="en-US"/>
          </a:p>
          <a:p>
            <a:r>
              <a:rPr lang="zh-CN" altLang="en-US"/>
              <a:t>处理实际的数据存储、日志复制、</a:t>
            </a:r>
            <a:r>
              <a:rPr lang="en-US" altLang="zh-CN"/>
              <a:t>Leader</a:t>
            </a:r>
            <a:r>
              <a:rPr lang="zh-CN" altLang="en-US"/>
              <a:t>选举等</a:t>
            </a:r>
            <a:endParaRPr lang="zh-CN" altLang="en-US"/>
          </a:p>
          <a:p>
            <a:r>
              <a:rPr lang="zh-CN" altLang="en-US"/>
              <a:t>内置状态机，管理键值数据的实际存储</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608400" y="245180"/>
            <a:ext cx="10969200" cy="705600"/>
          </a:xfrm>
        </p:spPr>
        <p:txBody>
          <a:bodyPr/>
          <a:p>
            <a:r>
              <a:rPr lang="zh-CN" altLang="en-US">
                <a:sym typeface="+mn-ea"/>
              </a:rPr>
              <a:t>分布式数据库实现</a:t>
            </a:r>
            <a:r>
              <a:rPr lang="en-US" altLang="zh-CN">
                <a:sym typeface="+mn-ea"/>
              </a:rPr>
              <a:t>--</a:t>
            </a:r>
            <a:r>
              <a:rPr lang="zh-CN" altLang="en-US">
                <a:sym typeface="+mn-ea"/>
              </a:rPr>
              <a:t>性能</a:t>
            </a:r>
            <a:r>
              <a:rPr lang="zh-CN" altLang="en-US">
                <a:sym typeface="+mn-ea"/>
              </a:rPr>
              <a:t>测试</a:t>
            </a:r>
            <a:endParaRPr lang="zh-CN" altLang="en-US">
              <a:sym typeface="+mn-ea"/>
            </a:endParaRPr>
          </a:p>
        </p:txBody>
      </p:sp>
      <p:pic>
        <p:nvPicPr>
          <p:cNvPr id="17" name="Drawing 16"/>
          <p:cNvPicPr>
            <a:picLocks noChangeAspect="1"/>
          </p:cNvPicPr>
          <p:nvPr/>
        </p:nvPicPr>
        <p:blipFill>
          <a:blip r:embed="rId1"/>
          <a:srcRect l="16751" r="16473" b="1093"/>
          <a:stretch>
            <a:fillRect/>
          </a:stretch>
        </p:blipFill>
        <p:spPr>
          <a:xfrm>
            <a:off x="874395" y="1464310"/>
            <a:ext cx="4866005" cy="3185795"/>
          </a:xfrm>
          <a:prstGeom prst="rect">
            <a:avLst/>
          </a:prstGeom>
        </p:spPr>
      </p:pic>
      <p:sp>
        <p:nvSpPr>
          <p:cNvPr id="4" name="文本框 3"/>
          <p:cNvSpPr txBox="1"/>
          <p:nvPr/>
        </p:nvSpPr>
        <p:spPr>
          <a:xfrm>
            <a:off x="6017260" y="1127760"/>
            <a:ext cx="5871210" cy="5354320"/>
          </a:xfrm>
          <a:prstGeom prst="rect">
            <a:avLst/>
          </a:prstGeom>
          <a:noFill/>
        </p:spPr>
        <p:txBody>
          <a:bodyPr wrap="square" rtlCol="0">
            <a:spAutoFit/>
          </a:bodyPr>
          <a:p>
            <a:pPr indent="457200"/>
            <a:r>
              <a:rPr lang="zh-CN" altLang="en-US"/>
              <a:t>吞吐量对比方面，</a:t>
            </a:r>
            <a:r>
              <a:rPr lang="en-US" altLang="zh-CN"/>
              <a:t>DDBR</a:t>
            </a:r>
            <a:r>
              <a:rPr lang="zh-CN" altLang="en-US"/>
              <a:t>系统的性能约为</a:t>
            </a:r>
            <a:r>
              <a:rPr lang="en-US" altLang="zh-CN"/>
              <a:t>Redis</a:t>
            </a:r>
            <a:r>
              <a:rPr lang="zh-CN" altLang="en-US"/>
              <a:t>的</a:t>
            </a:r>
            <a:r>
              <a:rPr lang="en-US" altLang="zh-CN"/>
              <a:t>32-34%</a:t>
            </a:r>
            <a:r>
              <a:rPr lang="zh-CN" altLang="en-US"/>
              <a:t>。具体数据显示，在不同负载规模下（</a:t>
            </a:r>
            <a:r>
              <a:rPr lang="en-US" altLang="zh-CN"/>
              <a:t>48</a:t>
            </a:r>
            <a:r>
              <a:rPr lang="zh-CN" altLang="en-US"/>
              <a:t>个键、</a:t>
            </a:r>
            <a:r>
              <a:rPr lang="en-US" altLang="zh-CN"/>
              <a:t>512</a:t>
            </a:r>
            <a:r>
              <a:rPr lang="zh-CN" altLang="en-US"/>
              <a:t>个键、</a:t>
            </a:r>
            <a:r>
              <a:rPr lang="en-US" altLang="zh-CN"/>
              <a:t>4096</a:t>
            </a:r>
            <a:r>
              <a:rPr lang="zh-CN" altLang="en-US"/>
              <a:t>个键），</a:t>
            </a:r>
            <a:r>
              <a:rPr lang="en-US" altLang="zh-CN"/>
              <a:t>DDBR</a:t>
            </a:r>
            <a:r>
              <a:rPr lang="zh-CN" altLang="en-US"/>
              <a:t>的完成时间分别为</a:t>
            </a:r>
            <a:r>
              <a:rPr lang="en-US" altLang="zh-CN"/>
              <a:t>35.39</a:t>
            </a:r>
            <a:r>
              <a:rPr lang="zh-CN" altLang="en-US"/>
              <a:t>秒、</a:t>
            </a:r>
            <a:r>
              <a:rPr lang="en-US" altLang="zh-CN"/>
              <a:t>39.32</a:t>
            </a:r>
            <a:r>
              <a:rPr lang="zh-CN" altLang="en-US"/>
              <a:t>秒和</a:t>
            </a:r>
            <a:r>
              <a:rPr lang="en-US" altLang="zh-CN"/>
              <a:t>36.80</a:t>
            </a:r>
            <a:r>
              <a:rPr lang="zh-CN" altLang="en-US"/>
              <a:t>秒，而</a:t>
            </a:r>
            <a:r>
              <a:rPr lang="en-US" altLang="zh-CN"/>
              <a:t>Redis</a:t>
            </a:r>
            <a:r>
              <a:rPr lang="zh-CN" altLang="en-US"/>
              <a:t>对应的时间为</a:t>
            </a:r>
            <a:r>
              <a:rPr lang="en-US" altLang="zh-CN"/>
              <a:t>12.16</a:t>
            </a:r>
            <a:r>
              <a:rPr lang="zh-CN" altLang="en-US"/>
              <a:t>秒、</a:t>
            </a:r>
            <a:r>
              <a:rPr lang="en-US" altLang="zh-CN"/>
              <a:t>12.47</a:t>
            </a:r>
            <a:r>
              <a:rPr lang="zh-CN" altLang="en-US"/>
              <a:t>秒和</a:t>
            </a:r>
            <a:r>
              <a:rPr lang="en-US" altLang="zh-CN"/>
              <a:t>11.81</a:t>
            </a:r>
            <a:r>
              <a:rPr lang="zh-CN" altLang="en-US"/>
              <a:t>秒。这个性能差距主要源于</a:t>
            </a:r>
            <a:r>
              <a:rPr lang="en-US" altLang="zh-CN"/>
              <a:t>Raft</a:t>
            </a:r>
            <a:r>
              <a:rPr lang="zh-CN" altLang="en-US"/>
              <a:t>一致性算法的开销</a:t>
            </a:r>
            <a:r>
              <a:rPr lang="en-US" altLang="zh-CN"/>
              <a:t>——</a:t>
            </a:r>
            <a:r>
              <a:rPr lang="zh-CN" altLang="en-US"/>
              <a:t>每次写操作都需要在多数节点间进行日志复制和确认，相比</a:t>
            </a:r>
            <a:r>
              <a:rPr lang="en-US" altLang="zh-CN"/>
              <a:t>Redis</a:t>
            </a:r>
            <a:r>
              <a:rPr lang="zh-CN" altLang="en-US"/>
              <a:t>的单点操作自然会有延迟。</a:t>
            </a:r>
            <a:endParaRPr lang="zh-CN" altLang="en-US"/>
          </a:p>
          <a:p>
            <a:pPr indent="457200"/>
            <a:r>
              <a:rPr lang="zh-CN" altLang="en-US"/>
              <a:t>功能稳定性方面，测试验证了系统的核心特性。</a:t>
            </a:r>
            <a:r>
              <a:rPr lang="en-US" altLang="zh-CN"/>
              <a:t>Leader</a:t>
            </a:r>
            <a:r>
              <a:rPr lang="zh-CN" altLang="en-US"/>
              <a:t>选举测试显示，当</a:t>
            </a:r>
            <a:r>
              <a:rPr lang="en-US" altLang="zh-CN"/>
              <a:t>Leader</a:t>
            </a:r>
            <a:r>
              <a:rPr lang="zh-CN" altLang="en-US"/>
              <a:t>节点故障时，</a:t>
            </a:r>
            <a:r>
              <a:rPr lang="en-US" altLang="zh-CN"/>
              <a:t>Follower</a:t>
            </a:r>
            <a:r>
              <a:rPr lang="zh-CN" altLang="en-US"/>
              <a:t>节点能够在秒级时间内完成新</a:t>
            </a:r>
            <a:r>
              <a:rPr lang="en-US" altLang="zh-CN"/>
              <a:t>Leader</a:t>
            </a:r>
            <a:r>
              <a:rPr lang="zh-CN" altLang="en-US"/>
              <a:t>选举，实现快速故障恢复。日志同步测试证明，无论是正常操作还是故障恢复期间，所有节点的数据都能保持严格一致，没有出现数据不一致或丢失的情况。</a:t>
            </a:r>
            <a:r>
              <a:rPr lang="en-US" altLang="zh-CN"/>
              <a:t>（</a:t>
            </a:r>
            <a:r>
              <a:rPr lang="zh-CN" altLang="en-US"/>
              <a:t>详情请参考论文</a:t>
            </a:r>
            <a:r>
              <a:rPr lang="en-US" altLang="zh-CN"/>
              <a:t>）</a:t>
            </a:r>
            <a:endParaRPr lang="zh-CN" altLang="en-US"/>
          </a:p>
          <a:p>
            <a:pPr indent="457200"/>
            <a:r>
              <a:rPr lang="zh-CN" altLang="en-US"/>
              <a:t>整体评价上，虽然</a:t>
            </a:r>
            <a:r>
              <a:rPr lang="en-US" altLang="zh-CN"/>
              <a:t>DDBR</a:t>
            </a:r>
            <a:r>
              <a:rPr lang="zh-CN" altLang="en-US"/>
              <a:t>在纯性能指标上不如</a:t>
            </a:r>
            <a:r>
              <a:rPr lang="en-US" altLang="zh-CN"/>
              <a:t>Redis</a:t>
            </a:r>
            <a:r>
              <a:rPr lang="zh-CN" altLang="en-US"/>
              <a:t>，但这正是</a:t>
            </a:r>
            <a:r>
              <a:rPr lang="en-US" altLang="zh-CN"/>
              <a:t>CAP</a:t>
            </a:r>
            <a:r>
              <a:rPr lang="zh-CN" altLang="en-US"/>
              <a:t>理论中一致性与性能权衡的体现。系统用约三倍的性能开销换来了强一致性、高可用性和分区容错性，这对于需要严格数据一致性保证的应用场景来说是完全可以接受的。测试结果验证了基于</a:t>
            </a:r>
            <a:r>
              <a:rPr lang="en-US" altLang="zh-CN"/>
              <a:t>Raft</a:t>
            </a:r>
            <a:r>
              <a:rPr lang="zh-CN" altLang="en-US"/>
              <a:t>算法的分布式数据库设计达到了预期目标。</a:t>
            </a:r>
            <a:endParaRPr lang="zh-CN" altLang="en-US"/>
          </a:p>
        </p:txBody>
      </p:sp>
      <p:sp>
        <p:nvSpPr>
          <p:cNvPr id="5" name="文本框 4"/>
          <p:cNvSpPr txBox="1"/>
          <p:nvPr/>
        </p:nvSpPr>
        <p:spPr>
          <a:xfrm>
            <a:off x="1612265" y="5038725"/>
            <a:ext cx="3390265" cy="368300"/>
          </a:xfrm>
          <a:prstGeom prst="rect">
            <a:avLst/>
          </a:prstGeom>
          <a:noFill/>
        </p:spPr>
        <p:txBody>
          <a:bodyPr wrap="square" rtlCol="0">
            <a:spAutoFit/>
          </a:bodyPr>
          <a:p>
            <a:pPr algn="ctr"/>
            <a:r>
              <a:rPr lang="zh-CN" altLang="en-US"/>
              <a:t>性能</a:t>
            </a:r>
            <a:r>
              <a:rPr lang="zh-CN" altLang="en-US"/>
              <a:t>测试</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idx="13"/>
            <p:custDataLst>
              <p:tags r:id="rId1"/>
            </p:custDataLst>
          </p:nvPr>
        </p:nvSpPr>
        <p:spPr/>
        <p:txBody>
          <a:bodyPr/>
          <a:p>
            <a:r>
              <a:rPr lang="zh-CN" altLang="en-US"/>
              <a:t>总结与展望</a:t>
            </a:r>
            <a:endParaRPr lang="zh-CN" altLang="en-US"/>
          </a:p>
        </p:txBody>
      </p:sp>
      <p:sp>
        <p:nvSpPr>
          <p:cNvPr id="3" name="文本占位符 2"/>
          <p:cNvSpPr>
            <a:spLocks noGrp="1"/>
          </p:cNvSpPr>
          <p:nvPr>
            <p:ph type="body" idx="14"/>
            <p:custDataLst>
              <p:tags r:id="rId2"/>
            </p:custDataLst>
          </p:nvPr>
        </p:nvSpPr>
        <p:spPr/>
        <p:txBody>
          <a:bodyPr/>
          <a:p>
            <a:r>
              <a:rPr lang="en-US" altLang="en-US"/>
              <a:t>04</a:t>
            </a:r>
            <a:endParaRPr lang="en-US"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任意多边形 2"/>
          <p:cNvSpPr/>
          <p:nvPr>
            <p:custDataLst>
              <p:tags r:id="rId1"/>
            </p:custDataLst>
          </p:nvPr>
        </p:nvSpPr>
        <p:spPr>
          <a:xfrm>
            <a:off x="10820397" y="0"/>
            <a:ext cx="1371600" cy="6858000"/>
          </a:xfrm>
          <a:custGeom>
            <a:avLst/>
            <a:gdLst>
              <a:gd name="connisteX0" fmla="*/ 0 w 19050"/>
              <a:gd name="connsiteY0" fmla="*/ 0 h 95250"/>
              <a:gd name="connisteX1" fmla="*/ 1371600 w 19050"/>
              <a:gd name="connsiteY1" fmla="*/ 0 h 95250"/>
              <a:gd name="connisteX2" fmla="*/ 1371600 w 19050"/>
              <a:gd name="connsiteY2" fmla="*/ 6858000 h 95250"/>
              <a:gd name="connisteX3" fmla="*/ 1066803 w 19050"/>
              <a:gd name="connsiteY3" fmla="*/ 6858000 h 95250"/>
              <a:gd name="connisteX4" fmla="*/ 65909 w 19050"/>
              <a:gd name="connsiteY4" fmla="*/ 5594975 h 95250"/>
              <a:gd name="connisteX5" fmla="*/ 0 w 19050"/>
              <a:gd name="connsiteY5" fmla="*/ 5405667 h 95250"/>
              <a:gd name="connisteX6" fmla="*/ 0 w 19050"/>
              <a:gd name="connsiteY6" fmla="*/ 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371600" h="6858000">
                <a:moveTo>
                  <a:pt x="0" y="0"/>
                </a:moveTo>
                <a:lnTo>
                  <a:pt x="1371600" y="0"/>
                </a:lnTo>
                <a:lnTo>
                  <a:pt x="1371600" y="6858000"/>
                </a:lnTo>
                <a:lnTo>
                  <a:pt x="1066803" y="6858000"/>
                </a:lnTo>
                <a:lnTo>
                  <a:pt x="65910" y="5594976"/>
                </a:lnTo>
                <a:cubicBezTo>
                  <a:pt x="23226" y="5541109"/>
                  <a:pt x="0" y="5474403"/>
                  <a:pt x="0" y="5405668"/>
                </a:cubicBezTo>
                <a:lnTo>
                  <a:pt x="0" y="0"/>
                </a:lnTo>
                <a:close/>
              </a:path>
            </a:pathLst>
          </a:custGeom>
          <a:solidFill>
            <a:schemeClr val="tx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a:off x="10445182" y="3086100"/>
            <a:ext cx="1746885" cy="3771265"/>
          </a:xfrm>
          <a:custGeom>
            <a:avLst/>
            <a:gdLst>
              <a:gd name="connisteX0" fmla="*/ 1012451 w 24261"/>
              <a:gd name="connsiteY0" fmla="*/ 3771890 h 52387"/>
              <a:gd name="connisteX1" fmla="*/ 1746824 w 24261"/>
              <a:gd name="connsiteY1" fmla="*/ 3771890 h 52387"/>
              <a:gd name="connisteX2" fmla="*/ 1746824 w 24261"/>
              <a:gd name="connsiteY2" fmla="*/ 0 h 52387"/>
              <a:gd name="connisteX3" fmla="*/ 61886 w 24261"/>
              <a:gd name="connsiteY3" fmla="*/ 2223189 h 52387"/>
              <a:gd name="connisteX4" fmla="*/ 67418 w 24261"/>
              <a:gd name="connsiteY4" fmla="*/ 2598468 h 52387"/>
              <a:gd name="connisteX5" fmla="*/ 1012451 w 24261"/>
              <a:gd name="connsiteY5" fmla="*/ 3771890 h 5238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1746824" h="3771882">
                <a:moveTo>
                  <a:pt x="1012451" y="3771891"/>
                </a:moveTo>
                <a:lnTo>
                  <a:pt x="1746824" y="3771891"/>
                </a:lnTo>
                <a:lnTo>
                  <a:pt x="1746824" y="0"/>
                </a:lnTo>
                <a:lnTo>
                  <a:pt x="61887" y="2223190"/>
                </a:lnTo>
                <a:cubicBezTo>
                  <a:pt x="-22650" y="2334719"/>
                  <a:pt x="-20364" y="2489481"/>
                  <a:pt x="67419" y="2598469"/>
                </a:cubicBezTo>
                <a:lnTo>
                  <a:pt x="1012451" y="3771891"/>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p:custDataLst>
              <p:tags r:id="rId3"/>
            </p:custDataLst>
          </p:nvPr>
        </p:nvSpPr>
        <p:spPr>
          <a:xfrm>
            <a:off x="609603" y="609603"/>
            <a:ext cx="9283702" cy="761997"/>
          </a:xfrm>
          <a:noFill/>
        </p:spPr>
        <p:txBody>
          <a:bodyPr lIns="0" tIns="0" rIns="0" bIns="0" anchor="t">
            <a:noAutofit/>
          </a:bodyPr>
          <a:p>
            <a:pPr algn="l">
              <a:lnSpc>
                <a:spcPct val="114000"/>
              </a:lnSpc>
            </a:pPr>
            <a:r>
              <a:rPr lang="zh-CN" altLang="en-US" sz="4400" b="1">
                <a:solidFill>
                  <a:schemeClr val="tx1"/>
                </a:solidFill>
                <a:latin typeface="Microsoft YaHei UI" panose="020B0503020204020204" charset="-122"/>
                <a:ea typeface="Microsoft YaHei UI" panose="020B0503020204020204" charset="-122"/>
              </a:rPr>
              <a:t>系统实现与成果总结</a:t>
            </a:r>
            <a:endParaRPr lang="zh-CN" altLang="en-US" sz="4400" b="1">
              <a:solidFill>
                <a:schemeClr val="tx1"/>
              </a:solidFill>
              <a:latin typeface="Microsoft YaHei UI" panose="020B0503020204020204" charset="-122"/>
              <a:ea typeface="Microsoft YaHei UI" panose="020B0503020204020204" charset="-122"/>
            </a:endParaRPr>
          </a:p>
        </p:txBody>
      </p:sp>
      <p:sp>
        <p:nvSpPr>
          <p:cNvPr id="5" name="任意多边形 4"/>
          <p:cNvSpPr/>
          <p:nvPr>
            <p:custDataLst>
              <p:tags r:id="rId4"/>
            </p:custDataLst>
          </p:nvPr>
        </p:nvSpPr>
        <p:spPr>
          <a:xfrm>
            <a:off x="520696" y="0"/>
            <a:ext cx="927100" cy="457200"/>
          </a:xfrm>
          <a:custGeom>
            <a:avLst/>
            <a:gdLst>
              <a:gd name="connisteX0" fmla="*/ 577845 w 12876"/>
              <a:gd name="connsiteY0" fmla="*/ 0 h 6350"/>
              <a:gd name="connisteX1" fmla="*/ 463545 w 12876"/>
              <a:gd name="connsiteY1" fmla="*/ 0 h 6350"/>
              <a:gd name="connisteX2" fmla="*/ 349245 w 12876"/>
              <a:gd name="connsiteY2" fmla="*/ 0 h 6350"/>
              <a:gd name="connisteX3" fmla="*/ 0 w 12876"/>
              <a:gd name="connsiteY3" fmla="*/ 0 h 6350"/>
              <a:gd name="connisteX4" fmla="*/ 392204 w 12876"/>
              <a:gd name="connsiteY4" fmla="*/ 386827 h 6350"/>
              <a:gd name="connisteX5" fmla="*/ 534896 w 12876"/>
              <a:gd name="connsiteY5" fmla="*/ 386827 h 6350"/>
              <a:gd name="connisteX6" fmla="*/ 927101 w 12876"/>
              <a:gd name="connsiteY6" fmla="*/ 0 h 6350"/>
              <a:gd name="connisteX7" fmla="*/ 577845 w 12876"/>
              <a:gd name="connsiteY7" fmla="*/ 0 h 63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Lst>
            <a:pathLst>
              <a:path w="927101" h="457200">
                <a:moveTo>
                  <a:pt x="577846" y="0"/>
                </a:moveTo>
                <a:lnTo>
                  <a:pt x="463546" y="0"/>
                </a:lnTo>
                <a:lnTo>
                  <a:pt x="349246" y="0"/>
                </a:lnTo>
                <a:lnTo>
                  <a:pt x="0" y="0"/>
                </a:lnTo>
                <a:lnTo>
                  <a:pt x="392204" y="386828"/>
                </a:lnTo>
                <a:cubicBezTo>
                  <a:pt x="431761" y="425854"/>
                  <a:pt x="495330" y="425854"/>
                  <a:pt x="534897" y="386828"/>
                </a:cubicBezTo>
                <a:lnTo>
                  <a:pt x="927101" y="0"/>
                </a:lnTo>
                <a:lnTo>
                  <a:pt x="577846" y="0"/>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4" name="组合 23"/>
          <p:cNvGrpSpPr/>
          <p:nvPr/>
        </p:nvGrpSpPr>
        <p:grpSpPr>
          <a:xfrm>
            <a:off x="609600" y="1828800"/>
            <a:ext cx="9144000" cy="4419600"/>
            <a:chOff x="960" y="2880"/>
            <a:chExt cx="14400" cy="6960"/>
          </a:xfrm>
        </p:grpSpPr>
        <p:pic>
          <p:nvPicPr>
            <p:cNvPr id="6" name="图片 5" descr="C:/Users/梦月/AppData/Roaming/Kingsoft/office6/wppai/generateppt/d8f5130cfc986b2456abdac25a71adb1.jpgd8f5130cfc986b2456abdac25a71adb1"/>
            <p:cNvPicPr preferRelativeResize="0">
              <a:picLocks noChangeAspect="1"/>
            </p:cNvPicPr>
            <p:nvPr>
              <p:custDataLst>
                <p:tags r:id="rId5"/>
              </p:custDataLst>
            </p:nvPr>
          </p:nvPicPr>
          <p:blipFill>
            <a:blip r:embed="rId6"/>
            <a:srcRect t="4231" b="4231"/>
            <a:stretch>
              <a:fillRect/>
            </a:stretch>
          </p:blipFill>
          <p:spPr>
            <a:xfrm>
              <a:off x="960" y="2880"/>
              <a:ext cx="4479" cy="3280"/>
            </a:xfrm>
            <a:custGeom>
              <a:avLst/>
              <a:gdLst>
                <a:gd name="connisteX0" fmla="*/ 0 w 39511"/>
                <a:gd name="connsiteY0" fmla="*/ 203197 h 28927"/>
                <a:gd name="connisteX1" fmla="*/ 203197 w 39511"/>
                <a:gd name="connsiteY1" fmla="*/ 0 h 28927"/>
                <a:gd name="connisteX2" fmla="*/ 2641601 w 39511"/>
                <a:gd name="connsiteY2" fmla="*/ 0 h 28927"/>
                <a:gd name="connisteX3" fmla="*/ 2844798 w 39511"/>
                <a:gd name="connsiteY3" fmla="*/ 203197 h 28927"/>
                <a:gd name="connisteX4" fmla="*/ 2844798 w 39511"/>
                <a:gd name="connsiteY4" fmla="*/ 2082802 h 28927"/>
                <a:gd name="connisteX5" fmla="*/ 0 w 39511"/>
                <a:gd name="connsiteY5" fmla="*/ 2082802 h 28927"/>
                <a:gd name="connisteX6" fmla="*/ 0 w 39511"/>
                <a:gd name="connsiteY6" fmla="*/ 203197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844799" h="2082802">
                  <a:moveTo>
                    <a:pt x="0" y="203198"/>
                  </a:moveTo>
                  <a:cubicBezTo>
                    <a:pt x="0" y="90974"/>
                    <a:pt x="90974" y="0"/>
                    <a:pt x="203198" y="0"/>
                  </a:cubicBezTo>
                  <a:lnTo>
                    <a:pt x="2641601" y="0"/>
                  </a:lnTo>
                  <a:cubicBezTo>
                    <a:pt x="2753825" y="0"/>
                    <a:pt x="2844799" y="90974"/>
                    <a:pt x="2844799" y="203198"/>
                  </a:cubicBezTo>
                  <a:lnTo>
                    <a:pt x="2844799" y="2082802"/>
                  </a:lnTo>
                  <a:lnTo>
                    <a:pt x="0" y="2082802"/>
                  </a:lnTo>
                  <a:lnTo>
                    <a:pt x="0" y="203198"/>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9" name="任意多边形 8"/>
            <p:cNvSpPr/>
            <p:nvPr>
              <p:custDataLst>
                <p:tags r:id="rId8"/>
              </p:custDataLst>
            </p:nvPr>
          </p:nvSpPr>
          <p:spPr>
            <a:xfrm>
              <a:off x="960" y="6160"/>
              <a:ext cx="4480" cy="3680"/>
            </a:xfrm>
            <a:custGeom>
              <a:avLst/>
              <a:gdLst>
                <a:gd name="connisteX0" fmla="*/ 0 w 39511"/>
                <a:gd name="connsiteY0" fmla="*/ 0 h 32455"/>
                <a:gd name="connisteX1" fmla="*/ 2844798 w 39511"/>
                <a:gd name="connsiteY1" fmla="*/ 0 h 32455"/>
                <a:gd name="connisteX2" fmla="*/ 2844798 w 39511"/>
                <a:gd name="connsiteY2" fmla="*/ 2133596 h 32455"/>
                <a:gd name="connisteX3" fmla="*/ 2641601 w 39511"/>
                <a:gd name="connsiteY3" fmla="*/ 2336804 h 32455"/>
                <a:gd name="connisteX4" fmla="*/ 203197 w 39511"/>
                <a:gd name="connsiteY4" fmla="*/ 2336804 h 32455"/>
                <a:gd name="connisteX5" fmla="*/ 0 w 39511"/>
                <a:gd name="connsiteY5" fmla="*/ 2133596 h 32455"/>
                <a:gd name="connisteX6" fmla="*/ 0 w 39511"/>
                <a:gd name="connsiteY6" fmla="*/ 0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844799" h="2336804">
                  <a:moveTo>
                    <a:pt x="0" y="0"/>
                  </a:moveTo>
                  <a:lnTo>
                    <a:pt x="2844799" y="0"/>
                  </a:lnTo>
                  <a:lnTo>
                    <a:pt x="2844799" y="2133597"/>
                  </a:lnTo>
                  <a:cubicBezTo>
                    <a:pt x="2844799" y="2245830"/>
                    <a:pt x="2753825" y="2336804"/>
                    <a:pt x="2641601" y="2336804"/>
                  </a:cubicBezTo>
                  <a:lnTo>
                    <a:pt x="203198" y="2336804"/>
                  </a:lnTo>
                  <a:cubicBezTo>
                    <a:pt x="90974" y="2336804"/>
                    <a:pt x="0" y="2245830"/>
                    <a:pt x="0" y="2133597"/>
                  </a:cubicBezTo>
                  <a:lnTo>
                    <a:pt x="0" y="0"/>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任意多边形 11"/>
            <p:cNvSpPr/>
            <p:nvPr>
              <p:custDataLst>
                <p:tags r:id="rId9"/>
              </p:custDataLst>
            </p:nvPr>
          </p:nvSpPr>
          <p:spPr>
            <a:xfrm>
              <a:off x="5920" y="2880"/>
              <a:ext cx="4480" cy="3680"/>
            </a:xfrm>
            <a:custGeom>
              <a:avLst/>
              <a:gdLst>
                <a:gd name="connisteX0" fmla="*/ 0 w 39511"/>
                <a:gd name="connsiteY0" fmla="*/ 203197 h 32455"/>
                <a:gd name="connisteX1" fmla="*/ 203197 w 39511"/>
                <a:gd name="connsiteY1" fmla="*/ 0 h 32455"/>
                <a:gd name="connisteX2" fmla="*/ 2641601 w 39511"/>
                <a:gd name="connsiteY2" fmla="*/ 0 h 32455"/>
                <a:gd name="connisteX3" fmla="*/ 2844798 w 39511"/>
                <a:gd name="connsiteY3" fmla="*/ 203197 h 32455"/>
                <a:gd name="connisteX4" fmla="*/ 2844798 w 39511"/>
                <a:gd name="connsiteY4" fmla="*/ 2336804 h 32455"/>
                <a:gd name="connisteX5" fmla="*/ 0 w 39511"/>
                <a:gd name="connsiteY5" fmla="*/ 2336804 h 32455"/>
                <a:gd name="connisteX6" fmla="*/ 0 w 39511"/>
                <a:gd name="connsiteY6" fmla="*/ 203197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844799" h="2336804">
                  <a:moveTo>
                    <a:pt x="0" y="203198"/>
                  </a:moveTo>
                  <a:cubicBezTo>
                    <a:pt x="0" y="90974"/>
                    <a:pt x="90974" y="0"/>
                    <a:pt x="203198" y="0"/>
                  </a:cubicBezTo>
                  <a:lnTo>
                    <a:pt x="2641601" y="0"/>
                  </a:lnTo>
                  <a:cubicBezTo>
                    <a:pt x="2753825" y="0"/>
                    <a:pt x="2844799" y="90974"/>
                    <a:pt x="2844799" y="203198"/>
                  </a:cubicBezTo>
                  <a:lnTo>
                    <a:pt x="2844799" y="2336804"/>
                  </a:lnTo>
                  <a:lnTo>
                    <a:pt x="0" y="2336804"/>
                  </a:lnTo>
                  <a:lnTo>
                    <a:pt x="0" y="203198"/>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custDataLst>
                <p:tags r:id="rId10"/>
              </p:custDataLst>
            </p:nvPr>
          </p:nvSpPr>
          <p:spPr>
            <a:xfrm>
              <a:off x="1440" y="6640"/>
              <a:ext cx="36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关键技术实现</a:t>
              </a:r>
              <a:endParaRPr lang="zh-CN" altLang="en-US" sz="2400">
                <a:solidFill>
                  <a:schemeClr val="tx1"/>
                </a:solidFill>
                <a:latin typeface="Microsoft YaHei UI" panose="020B0503020204020204" charset="-122"/>
                <a:ea typeface="Microsoft YaHei UI" panose="020B0503020204020204" charset="-122"/>
              </a:endParaRPr>
            </a:p>
          </p:txBody>
        </p:sp>
        <p:sp>
          <p:nvSpPr>
            <p:cNvPr id="11" name="文本框 10"/>
            <p:cNvSpPr txBox="1"/>
            <p:nvPr>
              <p:custDataLst>
                <p:tags r:id="rId11"/>
              </p:custDataLst>
            </p:nvPr>
          </p:nvSpPr>
          <p:spPr>
            <a:xfrm>
              <a:off x="1440" y="7440"/>
              <a:ext cx="360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成功实现</a:t>
              </a:r>
              <a:r>
                <a:rPr lang="en-US" altLang="zh-CN" sz="1600">
                  <a:solidFill>
                    <a:schemeClr val="tx1"/>
                  </a:solidFill>
                  <a:latin typeface="Microsoft YaHei UI" panose="020B0503020204020204" charset="-122"/>
                  <a:ea typeface="Microsoft YaHei UI" panose="020B0503020204020204" charset="-122"/>
                </a:rPr>
                <a:t>Raft</a:t>
              </a:r>
              <a:r>
                <a:rPr lang="zh-CN" altLang="en-US" sz="1600">
                  <a:solidFill>
                    <a:schemeClr val="tx1"/>
                  </a:solidFill>
                  <a:latin typeface="Microsoft YaHei UI" panose="020B0503020204020204" charset="-122"/>
                  <a:ea typeface="Microsoft YaHei UI" panose="020B0503020204020204" charset="-122"/>
                </a:rPr>
                <a:t>共识算法，包括</a:t>
              </a:r>
              <a:r>
                <a:rPr lang="en-US" altLang="zh-CN" sz="1600">
                  <a:solidFill>
                    <a:schemeClr val="tx1"/>
                  </a:solidFill>
                  <a:latin typeface="Microsoft YaHei UI" panose="020B0503020204020204" charset="-122"/>
                  <a:ea typeface="Microsoft YaHei UI" panose="020B0503020204020204" charset="-122"/>
                </a:rPr>
                <a:t>Leader</a:t>
              </a:r>
              <a:r>
                <a:rPr lang="zh-CN" altLang="en-US" sz="1600">
                  <a:solidFill>
                    <a:schemeClr val="tx1"/>
                  </a:solidFill>
                  <a:latin typeface="Microsoft YaHei UI" panose="020B0503020204020204" charset="-122"/>
                  <a:ea typeface="Microsoft YaHei UI" panose="020B0503020204020204" charset="-122"/>
                </a:rPr>
                <a:t>选举、日志复制、状态机应用等。</a:t>
              </a:r>
              <a:endParaRPr lang="zh-CN" altLang="en-US" sz="1600">
                <a:solidFill>
                  <a:schemeClr val="tx1"/>
                </a:solidFill>
                <a:latin typeface="Microsoft YaHei UI" panose="020B0503020204020204" charset="-122"/>
                <a:ea typeface="Microsoft YaHei UI" panose="020B0503020204020204" charset="-122"/>
              </a:endParaRPr>
            </a:p>
          </p:txBody>
        </p:sp>
        <p:pic>
          <p:nvPicPr>
            <p:cNvPr id="15" name="图片 14" descr="C:/Users/梦月/AppData/Roaming/Kingsoft/office6/wppai/generateppt/ef790767d4f199c1c27bfa0760c77028.jpgef790767d4f199c1c27bfa0760c77028"/>
            <p:cNvPicPr preferRelativeResize="0">
              <a:picLocks noChangeAspect="1"/>
            </p:cNvPicPr>
            <p:nvPr>
              <p:custDataLst>
                <p:tags r:id="rId12"/>
              </p:custDataLst>
            </p:nvPr>
          </p:nvPicPr>
          <p:blipFill>
            <a:blip r:embed="rId13"/>
            <a:srcRect l="4415" r="4415"/>
            <a:stretch>
              <a:fillRect/>
            </a:stretch>
          </p:blipFill>
          <p:spPr>
            <a:xfrm>
              <a:off x="5920" y="6560"/>
              <a:ext cx="4479" cy="3280"/>
            </a:xfrm>
            <a:custGeom>
              <a:avLst/>
              <a:gdLst>
                <a:gd name="connisteX0" fmla="*/ 0 w 39511"/>
                <a:gd name="connsiteY0" fmla="*/ 0 h 28927"/>
                <a:gd name="connisteX1" fmla="*/ 2844798 w 39511"/>
                <a:gd name="connsiteY1" fmla="*/ 0 h 28927"/>
                <a:gd name="connisteX2" fmla="*/ 2844798 w 39511"/>
                <a:gd name="connsiteY2" fmla="*/ 1879604 h 28927"/>
                <a:gd name="connisteX3" fmla="*/ 2641601 w 39511"/>
                <a:gd name="connsiteY3" fmla="*/ 2082802 h 28927"/>
                <a:gd name="connisteX4" fmla="*/ 203197 w 39511"/>
                <a:gd name="connsiteY4" fmla="*/ 2082802 h 28927"/>
                <a:gd name="connisteX5" fmla="*/ 0 w 39511"/>
                <a:gd name="connsiteY5" fmla="*/ 1879604 h 28927"/>
                <a:gd name="connisteX6" fmla="*/ 0 w 39511"/>
                <a:gd name="connsiteY6" fmla="*/ 0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844799" h="2082802">
                  <a:moveTo>
                    <a:pt x="0" y="0"/>
                  </a:moveTo>
                  <a:lnTo>
                    <a:pt x="2844799" y="0"/>
                  </a:lnTo>
                  <a:lnTo>
                    <a:pt x="2844799" y="1879604"/>
                  </a:lnTo>
                  <a:cubicBezTo>
                    <a:pt x="2844799" y="1991828"/>
                    <a:pt x="2753825" y="2082802"/>
                    <a:pt x="2641601" y="2082802"/>
                  </a:cubicBezTo>
                  <a:lnTo>
                    <a:pt x="203198" y="2082802"/>
                  </a:lnTo>
                  <a:cubicBezTo>
                    <a:pt x="90974" y="2082802"/>
                    <a:pt x="0" y="1991828"/>
                    <a:pt x="0" y="1879604"/>
                  </a:cubicBezTo>
                  <a:lnTo>
                    <a:pt x="0" y="0"/>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pic>
          <p:nvPicPr>
            <p:cNvPr id="18" name="图片 17" descr="C:/Users/梦月/AppData/Roaming/Kingsoft/office6/wppai/generateppt/0192c3f35d720cfce73fd74f1eb399be.jpg0192c3f35d720cfce73fd74f1eb399be"/>
            <p:cNvPicPr preferRelativeResize="0">
              <a:picLocks noChangeAspect="1"/>
            </p:cNvPicPr>
            <p:nvPr>
              <p:custDataLst>
                <p:tags r:id="rId14"/>
              </p:custDataLst>
            </p:nvPr>
          </p:nvPicPr>
          <p:blipFill>
            <a:blip r:embed="rId15"/>
            <a:srcRect l="4575" r="4575"/>
            <a:stretch>
              <a:fillRect/>
            </a:stretch>
          </p:blipFill>
          <p:spPr>
            <a:xfrm>
              <a:off x="10880" y="2880"/>
              <a:ext cx="4479" cy="3280"/>
            </a:xfrm>
            <a:custGeom>
              <a:avLst/>
              <a:gdLst>
                <a:gd name="connisteX0" fmla="*/ 0 w 39511"/>
                <a:gd name="connsiteY0" fmla="*/ 203197 h 28927"/>
                <a:gd name="connisteX1" fmla="*/ 203197 w 39511"/>
                <a:gd name="connsiteY1" fmla="*/ 0 h 28927"/>
                <a:gd name="connisteX2" fmla="*/ 2641601 w 39511"/>
                <a:gd name="connsiteY2" fmla="*/ 0 h 28927"/>
                <a:gd name="connisteX3" fmla="*/ 2844798 w 39511"/>
                <a:gd name="connsiteY3" fmla="*/ 203197 h 28927"/>
                <a:gd name="connisteX4" fmla="*/ 2844798 w 39511"/>
                <a:gd name="connsiteY4" fmla="*/ 2082802 h 28927"/>
                <a:gd name="connisteX5" fmla="*/ 0 w 39511"/>
                <a:gd name="connsiteY5" fmla="*/ 2082802 h 28927"/>
                <a:gd name="connisteX6" fmla="*/ 0 w 39511"/>
                <a:gd name="connsiteY6" fmla="*/ 203197 h 2892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844799" h="2082802">
                  <a:moveTo>
                    <a:pt x="0" y="203198"/>
                  </a:moveTo>
                  <a:cubicBezTo>
                    <a:pt x="0" y="90974"/>
                    <a:pt x="90974" y="0"/>
                    <a:pt x="203198" y="0"/>
                  </a:cubicBezTo>
                  <a:lnTo>
                    <a:pt x="2641601" y="0"/>
                  </a:lnTo>
                  <a:cubicBezTo>
                    <a:pt x="2753825" y="0"/>
                    <a:pt x="2844799" y="90974"/>
                    <a:pt x="2844799" y="203198"/>
                  </a:cubicBezTo>
                  <a:lnTo>
                    <a:pt x="2844799" y="2082802"/>
                  </a:lnTo>
                  <a:lnTo>
                    <a:pt x="0" y="2082802"/>
                  </a:lnTo>
                  <a:lnTo>
                    <a:pt x="0" y="203198"/>
                  </a:lnTo>
                  <a:close/>
                </a:path>
              </a:pathLst>
            </a:custGeom>
            <a:blipFill rotWithShape="1">
              <a:blip r:embed="rId7"/>
              <a:stretch>
                <a:fillRect/>
              </a:stretch>
            </a:blipFill>
            <a:ln w="0">
              <a:noFill/>
            </a:ln>
            <a:extLst>
              <a:ext uri="{91240B29-F687-4F45-9708-019B960494DF}">
                <a14:hiddenLine xmlns:a14="http://schemas.microsoft.com/office/drawing/2010/main" w="0">
                  <a:pattFill prst="pct5">
                    <a:fgClr>
                      <a:prstClr val="black"/>
                    </a:fgClr>
                  </a:pattFill>
                </a14:hiddenLine>
              </a:ext>
            </a:extLst>
          </p:spPr>
        </p:pic>
        <p:sp>
          <p:nvSpPr>
            <p:cNvPr id="21" name="任意多边形 20"/>
            <p:cNvSpPr/>
            <p:nvPr>
              <p:custDataLst>
                <p:tags r:id="rId16"/>
              </p:custDataLst>
            </p:nvPr>
          </p:nvSpPr>
          <p:spPr>
            <a:xfrm>
              <a:off x="10880" y="6160"/>
              <a:ext cx="4480" cy="3680"/>
            </a:xfrm>
            <a:custGeom>
              <a:avLst/>
              <a:gdLst>
                <a:gd name="connisteX0" fmla="*/ 0 w 39511"/>
                <a:gd name="connsiteY0" fmla="*/ 0 h 32455"/>
                <a:gd name="connisteX1" fmla="*/ 2844798 w 39511"/>
                <a:gd name="connsiteY1" fmla="*/ 0 h 32455"/>
                <a:gd name="connisteX2" fmla="*/ 2844798 w 39511"/>
                <a:gd name="connsiteY2" fmla="*/ 2133596 h 32455"/>
                <a:gd name="connisteX3" fmla="*/ 2641601 w 39511"/>
                <a:gd name="connsiteY3" fmla="*/ 2336804 h 32455"/>
                <a:gd name="connisteX4" fmla="*/ 203197 w 39511"/>
                <a:gd name="connsiteY4" fmla="*/ 2336804 h 32455"/>
                <a:gd name="connisteX5" fmla="*/ 0 w 39511"/>
                <a:gd name="connsiteY5" fmla="*/ 2133596 h 32455"/>
                <a:gd name="connisteX6" fmla="*/ 0 w 39511"/>
                <a:gd name="connsiteY6" fmla="*/ 0 h 3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2844799" h="2336804">
                  <a:moveTo>
                    <a:pt x="0" y="0"/>
                  </a:moveTo>
                  <a:lnTo>
                    <a:pt x="2844799" y="0"/>
                  </a:lnTo>
                  <a:lnTo>
                    <a:pt x="2844799" y="2133597"/>
                  </a:lnTo>
                  <a:cubicBezTo>
                    <a:pt x="2844799" y="2245830"/>
                    <a:pt x="2753825" y="2336804"/>
                    <a:pt x="2641601" y="2336804"/>
                  </a:cubicBezTo>
                  <a:lnTo>
                    <a:pt x="203198" y="2336804"/>
                  </a:lnTo>
                  <a:cubicBezTo>
                    <a:pt x="90974" y="2336804"/>
                    <a:pt x="0" y="2245830"/>
                    <a:pt x="0" y="2133597"/>
                  </a:cubicBezTo>
                  <a:lnTo>
                    <a:pt x="0" y="0"/>
                  </a:lnTo>
                  <a:close/>
                </a:path>
              </a:pathLst>
            </a:custGeom>
            <a:solidFill>
              <a:schemeClr val="bg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custDataLst>
                <p:tags r:id="rId17"/>
              </p:custDataLst>
            </p:nvPr>
          </p:nvSpPr>
          <p:spPr>
            <a:xfrm>
              <a:off x="6400" y="3360"/>
              <a:ext cx="36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系统架构与性能</a:t>
              </a:r>
              <a:endParaRPr lang="zh-CN" altLang="en-US" sz="2400">
                <a:solidFill>
                  <a:schemeClr val="tx1"/>
                </a:solidFill>
                <a:latin typeface="Microsoft YaHei UI" panose="020B0503020204020204" charset="-122"/>
                <a:ea typeface="Microsoft YaHei UI" panose="020B0503020204020204" charset="-122"/>
              </a:endParaRPr>
            </a:p>
          </p:txBody>
        </p:sp>
        <p:sp>
          <p:nvSpPr>
            <p:cNvPr id="14" name="文本框 13"/>
            <p:cNvSpPr txBox="1"/>
            <p:nvPr>
              <p:custDataLst>
                <p:tags r:id="rId18"/>
              </p:custDataLst>
            </p:nvPr>
          </p:nvSpPr>
          <p:spPr>
            <a:xfrm>
              <a:off x="6400" y="4160"/>
              <a:ext cx="360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采用分层设计，使用</a:t>
              </a:r>
              <a:r>
                <a:rPr lang="en-US" altLang="zh-CN" sz="1600">
                  <a:solidFill>
                    <a:schemeClr val="tx1"/>
                  </a:solidFill>
                  <a:latin typeface="Microsoft YaHei UI" panose="020B0503020204020204" charset="-122"/>
                  <a:ea typeface="Microsoft YaHei UI" panose="020B0503020204020204" charset="-122"/>
                </a:rPr>
                <a:t>Go</a:t>
              </a:r>
              <a:r>
                <a:rPr lang="zh-CN" altLang="en-US" sz="1600">
                  <a:solidFill>
                    <a:schemeClr val="tx1"/>
                  </a:solidFill>
                  <a:latin typeface="Microsoft YaHei UI" panose="020B0503020204020204" charset="-122"/>
                  <a:ea typeface="Microsoft YaHei UI" panose="020B0503020204020204" charset="-122"/>
                </a:rPr>
                <a:t>语言开发，实现了键值存储操作，保证了数据一致性与服务可用性。</a:t>
              </a:r>
              <a:endParaRPr lang="zh-CN" altLang="en-US" sz="1600">
                <a:solidFill>
                  <a:schemeClr val="tx1"/>
                </a:solidFill>
                <a:latin typeface="Microsoft YaHei UI" panose="020B0503020204020204" charset="-122"/>
                <a:ea typeface="Microsoft YaHei UI" panose="020B0503020204020204" charset="-122"/>
              </a:endParaRPr>
            </a:p>
          </p:txBody>
        </p:sp>
        <p:sp>
          <p:nvSpPr>
            <p:cNvPr id="22" name="文本框 21"/>
            <p:cNvSpPr txBox="1"/>
            <p:nvPr>
              <p:custDataLst>
                <p:tags r:id="rId19"/>
              </p:custDataLst>
            </p:nvPr>
          </p:nvSpPr>
          <p:spPr>
            <a:xfrm>
              <a:off x="11360" y="6640"/>
              <a:ext cx="364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性能测试与评估</a:t>
              </a:r>
              <a:endParaRPr lang="zh-CN" altLang="en-US" sz="2400">
                <a:solidFill>
                  <a:schemeClr val="tx1"/>
                </a:solidFill>
                <a:latin typeface="Microsoft YaHei UI" panose="020B0503020204020204" charset="-122"/>
                <a:ea typeface="Microsoft YaHei UI" panose="020B0503020204020204" charset="-122"/>
              </a:endParaRPr>
            </a:p>
          </p:txBody>
        </p:sp>
        <p:sp>
          <p:nvSpPr>
            <p:cNvPr id="23" name="文本框 22"/>
            <p:cNvSpPr txBox="1"/>
            <p:nvPr>
              <p:custDataLst>
                <p:tags r:id="rId20"/>
              </p:custDataLst>
            </p:nvPr>
          </p:nvSpPr>
          <p:spPr>
            <a:xfrm>
              <a:off x="11360" y="7440"/>
              <a:ext cx="360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系统读操作性能约为</a:t>
              </a:r>
              <a:r>
                <a:rPr lang="en-US" altLang="zh-CN" sz="1600">
                  <a:solidFill>
                    <a:schemeClr val="tx1"/>
                  </a:solidFill>
                  <a:latin typeface="Microsoft YaHei UI" panose="020B0503020204020204" charset="-122"/>
                  <a:ea typeface="Microsoft YaHei UI" panose="020B0503020204020204" charset="-122"/>
                </a:rPr>
                <a:t>Redis</a:t>
              </a:r>
              <a:r>
                <a:rPr lang="zh-CN" altLang="en-US" sz="1600">
                  <a:solidFill>
                    <a:schemeClr val="tx1"/>
                  </a:solidFill>
                  <a:latin typeface="Microsoft YaHei UI" panose="020B0503020204020204" charset="-122"/>
                  <a:ea typeface="Microsoft YaHei UI" panose="020B0503020204020204" charset="-122"/>
                </a:rPr>
                <a:t>的</a:t>
              </a:r>
              <a:r>
                <a:rPr lang="en-US" altLang="zh-CN" sz="1600">
                  <a:solidFill>
                    <a:schemeClr val="tx1"/>
                  </a:solidFill>
                  <a:latin typeface="Microsoft YaHei UI" panose="020B0503020204020204" charset="-122"/>
                  <a:ea typeface="Microsoft YaHei UI" panose="020B0503020204020204" charset="-122"/>
                </a:rPr>
                <a:t>1/3</a:t>
              </a:r>
              <a:r>
                <a:rPr lang="zh-CN" altLang="en-US" sz="1600">
                  <a:solidFill>
                    <a:schemeClr val="tx1"/>
                  </a:solidFill>
                  <a:latin typeface="Microsoft YaHei UI" panose="020B0503020204020204" charset="-122"/>
                  <a:ea typeface="Microsoft YaHei UI" panose="020B0503020204020204" charset="-122"/>
                </a:rPr>
                <a:t>，但保证了强一致性。</a:t>
              </a:r>
              <a:endParaRPr lang="zh-CN" altLang="en-US" sz="1600">
                <a:solidFill>
                  <a:schemeClr val="tx1"/>
                </a:solidFill>
                <a:latin typeface="Microsoft YaHei UI" panose="020B0503020204020204" charset="-122"/>
                <a:ea typeface="Microsoft YaHei UI" panose="020B0503020204020204" charset="-122"/>
              </a:endParaRPr>
            </a:p>
          </p:txBody>
        </p:sp>
      </p:grpSp>
    </p:spTree>
    <p:custDataLst>
      <p:tags r:id="rId21"/>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任意多边形 2"/>
          <p:cNvSpPr/>
          <p:nvPr>
            <p:custDataLst>
              <p:tags r:id="rId1"/>
            </p:custDataLst>
          </p:nvPr>
        </p:nvSpPr>
        <p:spPr>
          <a:xfrm>
            <a:off x="10820397" y="0"/>
            <a:ext cx="1371600" cy="6858000"/>
          </a:xfrm>
          <a:custGeom>
            <a:avLst/>
            <a:gdLst>
              <a:gd name="connisteX0" fmla="*/ 0 w 19050"/>
              <a:gd name="connsiteY0" fmla="*/ 0 h 95250"/>
              <a:gd name="connisteX1" fmla="*/ 1371600 w 19050"/>
              <a:gd name="connsiteY1" fmla="*/ 0 h 95250"/>
              <a:gd name="connisteX2" fmla="*/ 1371600 w 19050"/>
              <a:gd name="connsiteY2" fmla="*/ 6858000 h 95250"/>
              <a:gd name="connisteX3" fmla="*/ 1066803 w 19050"/>
              <a:gd name="connsiteY3" fmla="*/ 6858000 h 95250"/>
              <a:gd name="connisteX4" fmla="*/ 65909 w 19050"/>
              <a:gd name="connsiteY4" fmla="*/ 5594975 h 95250"/>
              <a:gd name="connisteX5" fmla="*/ 0 w 19050"/>
              <a:gd name="connsiteY5" fmla="*/ 5405667 h 95250"/>
              <a:gd name="connisteX6" fmla="*/ 0 w 19050"/>
              <a:gd name="connsiteY6" fmla="*/ 0 h 9525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pathLst>
              <a:path w="1371600" h="6858000">
                <a:moveTo>
                  <a:pt x="0" y="0"/>
                </a:moveTo>
                <a:lnTo>
                  <a:pt x="1371600" y="0"/>
                </a:lnTo>
                <a:lnTo>
                  <a:pt x="1371600" y="6858000"/>
                </a:lnTo>
                <a:lnTo>
                  <a:pt x="1066803" y="6858000"/>
                </a:lnTo>
                <a:lnTo>
                  <a:pt x="65910" y="5594976"/>
                </a:lnTo>
                <a:cubicBezTo>
                  <a:pt x="23226" y="5541109"/>
                  <a:pt x="0" y="5474403"/>
                  <a:pt x="0" y="5405668"/>
                </a:cubicBezTo>
                <a:lnTo>
                  <a:pt x="0" y="0"/>
                </a:lnTo>
                <a:close/>
              </a:path>
            </a:pathLst>
          </a:custGeom>
          <a:solidFill>
            <a:schemeClr val="tx2"/>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任意多边形 3"/>
          <p:cNvSpPr/>
          <p:nvPr>
            <p:custDataLst>
              <p:tags r:id="rId2"/>
            </p:custDataLst>
          </p:nvPr>
        </p:nvSpPr>
        <p:spPr>
          <a:xfrm>
            <a:off x="10445182" y="3086100"/>
            <a:ext cx="1746885" cy="3771265"/>
          </a:xfrm>
          <a:custGeom>
            <a:avLst/>
            <a:gdLst>
              <a:gd name="connisteX0" fmla="*/ 1012451 w 24261"/>
              <a:gd name="connsiteY0" fmla="*/ 3771890 h 52387"/>
              <a:gd name="connisteX1" fmla="*/ 1746824 w 24261"/>
              <a:gd name="connsiteY1" fmla="*/ 3771890 h 52387"/>
              <a:gd name="connisteX2" fmla="*/ 1746824 w 24261"/>
              <a:gd name="connsiteY2" fmla="*/ 0 h 52387"/>
              <a:gd name="connisteX3" fmla="*/ 61886 w 24261"/>
              <a:gd name="connsiteY3" fmla="*/ 2223189 h 52387"/>
              <a:gd name="connisteX4" fmla="*/ 67418 w 24261"/>
              <a:gd name="connsiteY4" fmla="*/ 2598468 h 52387"/>
              <a:gd name="connisteX5" fmla="*/ 1012451 w 24261"/>
              <a:gd name="connsiteY5" fmla="*/ 3771890 h 5238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pathLst>
              <a:path w="1746824" h="3771882">
                <a:moveTo>
                  <a:pt x="1012451" y="3771891"/>
                </a:moveTo>
                <a:lnTo>
                  <a:pt x="1746824" y="3771891"/>
                </a:lnTo>
                <a:lnTo>
                  <a:pt x="1746824" y="0"/>
                </a:lnTo>
                <a:lnTo>
                  <a:pt x="61887" y="2223190"/>
                </a:lnTo>
                <a:cubicBezTo>
                  <a:pt x="-22650" y="2334719"/>
                  <a:pt x="-20364" y="2489481"/>
                  <a:pt x="67419" y="2598469"/>
                </a:cubicBezTo>
                <a:lnTo>
                  <a:pt x="1012451" y="3771891"/>
                </a:lnTo>
                <a:close/>
              </a:path>
            </a:pathLst>
          </a:custGeom>
          <a:solidFill>
            <a:schemeClr val="accent4"/>
          </a:soli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标题 1"/>
          <p:cNvSpPr>
            <a:spLocks noGrp="1"/>
          </p:cNvSpPr>
          <p:nvPr>
            <p:ph type="title"/>
            <p:custDataLst>
              <p:tags r:id="rId3"/>
            </p:custDataLst>
          </p:nvPr>
        </p:nvSpPr>
        <p:spPr>
          <a:xfrm>
            <a:off x="609603" y="609603"/>
            <a:ext cx="9283702" cy="761997"/>
          </a:xfrm>
          <a:noFill/>
        </p:spPr>
        <p:txBody>
          <a:bodyPr lIns="0" tIns="0" rIns="0" bIns="0" anchor="t">
            <a:noAutofit/>
          </a:bodyPr>
          <a:p>
            <a:pPr algn="l">
              <a:lnSpc>
                <a:spcPct val="114000"/>
              </a:lnSpc>
            </a:pPr>
            <a:r>
              <a:rPr lang="zh-CN" altLang="en-US" sz="4400" b="1">
                <a:solidFill>
                  <a:schemeClr val="tx1"/>
                </a:solidFill>
                <a:latin typeface="Microsoft YaHei UI" panose="020B0503020204020204" charset="-122"/>
                <a:ea typeface="Microsoft YaHei UI" panose="020B0503020204020204" charset="-122"/>
              </a:rPr>
              <a:t>未来展望与改进方向</a:t>
            </a:r>
            <a:endParaRPr lang="zh-CN" altLang="en-US" sz="4400" b="1">
              <a:solidFill>
                <a:schemeClr val="tx1"/>
              </a:solidFill>
              <a:latin typeface="Microsoft YaHei UI" panose="020B0503020204020204" charset="-122"/>
              <a:ea typeface="Microsoft YaHei UI" panose="020B0503020204020204" charset="-122"/>
            </a:endParaRPr>
          </a:p>
        </p:txBody>
      </p:sp>
      <p:grpSp>
        <p:nvGrpSpPr>
          <p:cNvPr id="20" name="组合 19"/>
          <p:cNvGrpSpPr/>
          <p:nvPr/>
        </p:nvGrpSpPr>
        <p:grpSpPr>
          <a:xfrm>
            <a:off x="609600" y="1828800"/>
            <a:ext cx="9220200" cy="1727200"/>
            <a:chOff x="960" y="2880"/>
            <a:chExt cx="14520" cy="2720"/>
          </a:xfrm>
        </p:grpSpPr>
        <p:sp>
          <p:nvSpPr>
            <p:cNvPr id="5" name="任意多边形 4"/>
            <p:cNvSpPr/>
            <p:nvPr>
              <p:custDataLst>
                <p:tags r:id="rId4"/>
              </p:custDataLst>
            </p:nvPr>
          </p:nvSpPr>
          <p:spPr>
            <a:xfrm>
              <a:off x="960" y="288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custDataLst>
                <p:tags r:id="rId5"/>
              </p:custDataLst>
            </p:nvPr>
          </p:nvSpPr>
          <p:spPr>
            <a:xfrm>
              <a:off x="1200" y="2880"/>
              <a:ext cx="31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性能优化</a:t>
              </a:r>
              <a:endParaRPr lang="zh-CN" altLang="en-US" sz="2400">
                <a:solidFill>
                  <a:schemeClr val="tx1"/>
                </a:solidFill>
                <a:latin typeface="Microsoft YaHei UI" panose="020B0503020204020204" charset="-122"/>
                <a:ea typeface="Microsoft YaHei UI" panose="020B0503020204020204" charset="-122"/>
              </a:endParaRPr>
            </a:p>
          </p:txBody>
        </p:sp>
        <p:sp>
          <p:nvSpPr>
            <p:cNvPr id="7" name="文本框 6"/>
            <p:cNvSpPr txBox="1"/>
            <p:nvPr>
              <p:custDataLst>
                <p:tags r:id="rId6"/>
              </p:custDataLst>
            </p:nvPr>
          </p:nvSpPr>
          <p:spPr>
            <a:xfrm>
              <a:off x="1200" y="3680"/>
              <a:ext cx="308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引入</a:t>
              </a:r>
              <a:r>
                <a:rPr lang="en-US" altLang="zh-CN" sz="1600">
                  <a:solidFill>
                    <a:schemeClr val="tx1"/>
                  </a:solidFill>
                  <a:latin typeface="Microsoft YaHei UI" panose="020B0503020204020204" charset="-122"/>
                  <a:ea typeface="Microsoft YaHei UI" panose="020B0503020204020204" charset="-122"/>
                </a:rPr>
                <a:t>ReadIndex</a:t>
              </a:r>
              <a:r>
                <a:rPr lang="zh-CN" altLang="en-US" sz="1600">
                  <a:solidFill>
                    <a:schemeClr val="tx1"/>
                  </a:solidFill>
                  <a:latin typeface="Microsoft YaHei UI" panose="020B0503020204020204" charset="-122"/>
                  <a:ea typeface="Microsoft YaHei UI" panose="020B0503020204020204" charset="-122"/>
                </a:rPr>
                <a:t>、</a:t>
              </a:r>
              <a:r>
                <a:rPr lang="en-US" altLang="zh-CN" sz="1600">
                  <a:solidFill>
                    <a:schemeClr val="tx1"/>
                  </a:solidFill>
                  <a:latin typeface="Microsoft YaHei UI" panose="020B0503020204020204" charset="-122"/>
                  <a:ea typeface="Microsoft YaHei UI" panose="020B0503020204020204" charset="-122"/>
                </a:rPr>
                <a:t>LeaderLease</a:t>
              </a:r>
              <a:r>
                <a:rPr lang="zh-CN" altLang="en-US" sz="1600">
                  <a:solidFill>
                    <a:schemeClr val="tx1"/>
                  </a:solidFill>
                  <a:latin typeface="Microsoft YaHei UI" panose="020B0503020204020204" charset="-122"/>
                  <a:ea typeface="Microsoft YaHei UI" panose="020B0503020204020204" charset="-122"/>
                </a:rPr>
                <a:t>等机制，优化读取策略和日志复制效率。</a:t>
              </a:r>
              <a:endParaRPr lang="zh-CN" altLang="en-US" sz="1600">
                <a:solidFill>
                  <a:schemeClr val="tx1"/>
                </a:solidFill>
                <a:latin typeface="Microsoft YaHei UI" panose="020B0503020204020204" charset="-122"/>
                <a:ea typeface="Microsoft YaHei UI" panose="020B0503020204020204" charset="-122"/>
              </a:endParaRPr>
            </a:p>
          </p:txBody>
        </p:sp>
        <p:sp>
          <p:nvSpPr>
            <p:cNvPr id="8" name="任意多边形 7"/>
            <p:cNvSpPr/>
            <p:nvPr>
              <p:custDataLst>
                <p:tags r:id="rId7"/>
              </p:custDataLst>
            </p:nvPr>
          </p:nvSpPr>
          <p:spPr>
            <a:xfrm>
              <a:off x="4680" y="288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8"/>
              </p:custDataLst>
            </p:nvPr>
          </p:nvSpPr>
          <p:spPr>
            <a:xfrm>
              <a:off x="4920" y="2880"/>
              <a:ext cx="31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功能扩展</a:t>
              </a:r>
              <a:endParaRPr lang="zh-CN" altLang="en-US" sz="2400">
                <a:solidFill>
                  <a:schemeClr val="tx1"/>
                </a:solidFill>
                <a:latin typeface="Microsoft YaHei UI" panose="020B0503020204020204" charset="-122"/>
                <a:ea typeface="Microsoft YaHei UI" panose="020B0503020204020204" charset="-122"/>
              </a:endParaRPr>
            </a:p>
          </p:txBody>
        </p:sp>
        <p:sp>
          <p:nvSpPr>
            <p:cNvPr id="10" name="文本框 9"/>
            <p:cNvSpPr txBox="1"/>
            <p:nvPr>
              <p:custDataLst>
                <p:tags r:id="rId9"/>
              </p:custDataLst>
            </p:nvPr>
          </p:nvSpPr>
          <p:spPr>
            <a:xfrm>
              <a:off x="4920" y="3680"/>
              <a:ext cx="308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增加事务支持、数据类型丰富化、数据分片，实现复杂查询操作。</a:t>
              </a:r>
              <a:endParaRPr lang="zh-CN" altLang="en-US" sz="1600">
                <a:solidFill>
                  <a:schemeClr val="tx1"/>
                </a:solidFill>
                <a:latin typeface="Microsoft YaHei UI" panose="020B0503020204020204" charset="-122"/>
                <a:ea typeface="Microsoft YaHei UI" panose="020B0503020204020204" charset="-122"/>
              </a:endParaRPr>
            </a:p>
          </p:txBody>
        </p:sp>
        <p:sp>
          <p:nvSpPr>
            <p:cNvPr id="11" name="任意多边形 10"/>
            <p:cNvSpPr/>
            <p:nvPr>
              <p:custDataLst>
                <p:tags r:id="rId10"/>
              </p:custDataLst>
            </p:nvPr>
          </p:nvSpPr>
          <p:spPr>
            <a:xfrm>
              <a:off x="8400" y="2880"/>
              <a:ext cx="81"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custDataLst>
                <p:tags r:id="rId11"/>
              </p:custDataLst>
            </p:nvPr>
          </p:nvSpPr>
          <p:spPr>
            <a:xfrm>
              <a:off x="8640" y="2880"/>
              <a:ext cx="31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可靠性提升</a:t>
              </a:r>
              <a:endParaRPr lang="zh-CN" altLang="en-US" sz="2400">
                <a:solidFill>
                  <a:schemeClr val="tx1"/>
                </a:solidFill>
                <a:latin typeface="Microsoft YaHei UI" panose="020B0503020204020204" charset="-122"/>
                <a:ea typeface="Microsoft YaHei UI" panose="020B0503020204020204" charset="-122"/>
              </a:endParaRPr>
            </a:p>
          </p:txBody>
        </p:sp>
        <p:sp>
          <p:nvSpPr>
            <p:cNvPr id="13" name="文本框 12"/>
            <p:cNvSpPr txBox="1"/>
            <p:nvPr>
              <p:custDataLst>
                <p:tags r:id="rId12"/>
              </p:custDataLst>
            </p:nvPr>
          </p:nvSpPr>
          <p:spPr>
            <a:xfrm>
              <a:off x="8640" y="3680"/>
              <a:ext cx="308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完善成员变更机制，优化快照和日志压缩，增强安全性和地理容灾能力。</a:t>
              </a:r>
              <a:endParaRPr lang="zh-CN" altLang="en-US" sz="1600">
                <a:solidFill>
                  <a:schemeClr val="tx1"/>
                </a:solidFill>
                <a:latin typeface="Microsoft YaHei UI" panose="020B0503020204020204" charset="-122"/>
                <a:ea typeface="Microsoft YaHei UI" panose="020B0503020204020204" charset="-122"/>
              </a:endParaRPr>
            </a:p>
          </p:txBody>
        </p:sp>
        <p:sp>
          <p:nvSpPr>
            <p:cNvPr id="14" name="任意多边形 13"/>
            <p:cNvSpPr/>
            <p:nvPr>
              <p:custDataLst>
                <p:tags r:id="rId13"/>
              </p:custDataLst>
            </p:nvPr>
          </p:nvSpPr>
          <p:spPr>
            <a:xfrm>
              <a:off x="12120" y="2880"/>
              <a:ext cx="80" cy="2720"/>
            </a:xfrm>
            <a:custGeom>
              <a:avLst/>
              <a:gdLst>
                <a:gd name="connisteX0" fmla="*/ 0 w 705"/>
                <a:gd name="connsiteY0" fmla="*/ 25402 h 23988"/>
                <a:gd name="connisteX1" fmla="*/ 25402 w 705"/>
                <a:gd name="connsiteY1" fmla="*/ 0 h 23988"/>
                <a:gd name="connisteX2" fmla="*/ 25402 w 705"/>
                <a:gd name="connsiteY2" fmla="*/ 0 h 23988"/>
                <a:gd name="connisteX3" fmla="*/ 50804 w 705"/>
                <a:gd name="connsiteY3" fmla="*/ 25402 h 23988"/>
                <a:gd name="connisteX4" fmla="*/ 50804 w 705"/>
                <a:gd name="connsiteY4" fmla="*/ 1701798 h 23988"/>
                <a:gd name="connisteX5" fmla="*/ 25402 w 705"/>
                <a:gd name="connsiteY5" fmla="*/ 1727201 h 23988"/>
                <a:gd name="connisteX6" fmla="*/ 25402 w 705"/>
                <a:gd name="connsiteY6" fmla="*/ 1727201 h 23988"/>
                <a:gd name="connisteX7" fmla="*/ 0 w 705"/>
                <a:gd name="connsiteY7" fmla="*/ 1701798 h 23988"/>
                <a:gd name="connisteX8" fmla="*/ 0 w 705"/>
                <a:gd name="connsiteY8" fmla="*/ 25402 h 2398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0804" h="1727201">
                  <a:moveTo>
                    <a:pt x="0" y="25402"/>
                  </a:moveTo>
                  <a:cubicBezTo>
                    <a:pt x="0" y="11375"/>
                    <a:pt x="11375" y="0"/>
                    <a:pt x="25402" y="0"/>
                  </a:cubicBezTo>
                  <a:lnTo>
                    <a:pt x="25402" y="0"/>
                  </a:lnTo>
                  <a:cubicBezTo>
                    <a:pt x="39429" y="0"/>
                    <a:pt x="50804" y="11375"/>
                    <a:pt x="50804" y="25402"/>
                  </a:cubicBezTo>
                  <a:lnTo>
                    <a:pt x="50804" y="1701799"/>
                  </a:lnTo>
                  <a:cubicBezTo>
                    <a:pt x="50804" y="1715835"/>
                    <a:pt x="39429" y="1727201"/>
                    <a:pt x="25402" y="1727201"/>
                  </a:cubicBezTo>
                  <a:lnTo>
                    <a:pt x="25402" y="1727201"/>
                  </a:lnTo>
                  <a:cubicBezTo>
                    <a:pt x="11375" y="1727201"/>
                    <a:pt x="0" y="1715835"/>
                    <a:pt x="0" y="1701799"/>
                  </a:cubicBezTo>
                  <a:lnTo>
                    <a:pt x="0" y="25402"/>
                  </a:lnTo>
                  <a:close/>
                </a:path>
              </a:pathLst>
            </a:custGeom>
            <a:gradFill>
              <a:gsLst>
                <a:gs pos="0">
                  <a:schemeClr val="accent4"/>
                </a:gs>
                <a:gs pos="100000">
                  <a:schemeClr val="accent1"/>
                </a:gs>
              </a:gsLst>
              <a:lin ang="5400000"/>
            </a:gradFill>
            <a:ln w="0">
              <a:noFill/>
            </a:ln>
            <a:extLst>
              <a:ext uri="{91240B29-F687-4F45-9708-019B960494DF}">
                <a14:hiddenLine xmlns:a14="http://schemas.microsoft.com/office/drawing/2010/main" w="0">
                  <a:pattFill prst="pct5">
                    <a:fgClr>
                      <a:schemeClr val="accent1">
                        <a:lumMod val="75000"/>
                      </a:schemeClr>
                    </a:fgClr>
                  </a:patt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14"/>
              </p:custDataLst>
            </p:nvPr>
          </p:nvSpPr>
          <p:spPr>
            <a:xfrm>
              <a:off x="12360" y="2880"/>
              <a:ext cx="3120" cy="640"/>
            </a:xfrm>
            <a:prstGeom prst="rect">
              <a:avLst/>
            </a:prstGeom>
            <a:noFill/>
          </p:spPr>
          <p:txBody>
            <a:bodyPr wrap="square" lIns="0" tIns="0" rIns="0" bIns="0" rtlCol="0" anchor="t">
              <a:noAutofit/>
            </a:bodyPr>
            <a:p>
              <a:pPr algn="l">
                <a:lnSpc>
                  <a:spcPct val="111000"/>
                </a:lnSpc>
              </a:pPr>
              <a:r>
                <a:rPr lang="zh-CN" altLang="en-US" sz="2400">
                  <a:solidFill>
                    <a:schemeClr val="tx1"/>
                  </a:solidFill>
                  <a:latin typeface="Microsoft YaHei UI" panose="020B0503020204020204" charset="-122"/>
                  <a:ea typeface="Microsoft YaHei UI" panose="020B0503020204020204" charset="-122"/>
                </a:rPr>
                <a:t>可观测性增强</a:t>
              </a:r>
              <a:endParaRPr lang="zh-CN" altLang="en-US" sz="2400">
                <a:solidFill>
                  <a:schemeClr val="tx1"/>
                </a:solidFill>
                <a:latin typeface="Microsoft YaHei UI" panose="020B0503020204020204" charset="-122"/>
                <a:ea typeface="Microsoft YaHei UI" panose="020B0503020204020204" charset="-122"/>
              </a:endParaRPr>
            </a:p>
          </p:txBody>
        </p:sp>
        <p:sp>
          <p:nvSpPr>
            <p:cNvPr id="16" name="文本框 15"/>
            <p:cNvSpPr txBox="1"/>
            <p:nvPr>
              <p:custDataLst>
                <p:tags r:id="rId15"/>
              </p:custDataLst>
            </p:nvPr>
          </p:nvSpPr>
          <p:spPr>
            <a:xfrm>
              <a:off x="12360" y="3680"/>
              <a:ext cx="3080" cy="1920"/>
            </a:xfrm>
            <a:prstGeom prst="rect">
              <a:avLst/>
            </a:prstGeom>
            <a:noFill/>
          </p:spPr>
          <p:txBody>
            <a:bodyPr wrap="square" lIns="0" tIns="0" rIns="0" bIns="0" rtlCol="0" anchor="t">
              <a:noAutofit/>
            </a:bodyPr>
            <a:p>
              <a:pPr algn="l">
                <a:lnSpc>
                  <a:spcPct val="125000"/>
                </a:lnSpc>
              </a:pPr>
              <a:r>
                <a:rPr lang="zh-CN" altLang="en-US" sz="1600">
                  <a:solidFill>
                    <a:schemeClr val="tx1"/>
                  </a:solidFill>
                  <a:latin typeface="Microsoft YaHei UI" panose="020B0503020204020204" charset="-122"/>
                  <a:ea typeface="Microsoft YaHei UI" panose="020B0503020204020204" charset="-122"/>
                </a:rPr>
                <a:t>构建监控系统，开发可视化管理工具，提高系统可观测性和运维便捷性。</a:t>
              </a:r>
              <a:endParaRPr lang="zh-CN" altLang="en-US" sz="1600">
                <a:solidFill>
                  <a:schemeClr val="tx1"/>
                </a:solidFill>
                <a:latin typeface="Microsoft YaHei UI" panose="020B0503020204020204" charset="-122"/>
                <a:ea typeface="Microsoft YaHei UI" panose="020B0503020204020204" charset="-122"/>
              </a:endParaRPr>
            </a:p>
          </p:txBody>
        </p:sp>
      </p:grpSp>
      <p:pic>
        <p:nvPicPr>
          <p:cNvPr id="17" name="图片 16" descr="C:/Users/梦月/AppData/Roaming/Kingsoft/office6/wppai/generateppt/b429d1628accc8643cebb6ee764b34d0.jpgb429d1628accc8643cebb6ee764b34d0"/>
          <p:cNvPicPr preferRelativeResize="0">
            <a:picLocks noChangeAspect="1"/>
          </p:cNvPicPr>
          <p:nvPr>
            <p:custDataLst>
              <p:tags r:id="rId16"/>
            </p:custDataLst>
          </p:nvPr>
        </p:nvPicPr>
        <p:blipFill>
          <a:blip r:embed="rId17"/>
          <a:srcRect t="4922" b="4922"/>
          <a:stretch>
            <a:fillRect/>
          </a:stretch>
        </p:blipFill>
        <p:spPr>
          <a:xfrm>
            <a:off x="609603" y="4013201"/>
            <a:ext cx="10972800" cy="2234565"/>
          </a:xfrm>
          <a:custGeom>
            <a:avLst/>
            <a:gdLst>
              <a:gd name="connisteX0" fmla="*/ 0 w 152400"/>
              <a:gd name="connsiteY0" fmla="*/ 203197 h 31044"/>
              <a:gd name="connisteX1" fmla="*/ 203197 w 152400"/>
              <a:gd name="connsiteY1" fmla="*/ 0 h 31044"/>
              <a:gd name="connisteX2" fmla="*/ 10769602 w 152400"/>
              <a:gd name="connsiteY2" fmla="*/ 0 h 31044"/>
              <a:gd name="connisteX3" fmla="*/ 10972800 w 152400"/>
              <a:gd name="connsiteY3" fmla="*/ 203197 h 31044"/>
              <a:gd name="connisteX4" fmla="*/ 10972800 w 152400"/>
              <a:gd name="connsiteY4" fmla="*/ 2031997 h 31044"/>
              <a:gd name="connisteX5" fmla="*/ 10769602 w 152400"/>
              <a:gd name="connsiteY5" fmla="*/ 2235195 h 31044"/>
              <a:gd name="connisteX6" fmla="*/ 203197 w 152400"/>
              <a:gd name="connsiteY6" fmla="*/ 2235195 h 31044"/>
              <a:gd name="connisteX7" fmla="*/ 0 w 152400"/>
              <a:gd name="connsiteY7" fmla="*/ 2031997 h 31044"/>
              <a:gd name="connisteX8" fmla="*/ 0 w 152400"/>
              <a:gd name="connsiteY8" fmla="*/ 203197 h 3104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10972800" h="2235196">
                <a:moveTo>
                  <a:pt x="0" y="203198"/>
                </a:moveTo>
                <a:cubicBezTo>
                  <a:pt x="0" y="90974"/>
                  <a:pt x="90974" y="0"/>
                  <a:pt x="203198" y="0"/>
                </a:cubicBezTo>
                <a:lnTo>
                  <a:pt x="10769602" y="0"/>
                </a:lnTo>
                <a:cubicBezTo>
                  <a:pt x="10881826" y="0"/>
                  <a:pt x="10972800" y="90974"/>
                  <a:pt x="10972800" y="203198"/>
                </a:cubicBezTo>
                <a:lnTo>
                  <a:pt x="10972800" y="2031998"/>
                </a:lnTo>
                <a:cubicBezTo>
                  <a:pt x="10972800" y="2144231"/>
                  <a:pt x="10881826" y="2235196"/>
                  <a:pt x="10769602" y="2235196"/>
                </a:cubicBezTo>
                <a:lnTo>
                  <a:pt x="203198" y="2235196"/>
                </a:lnTo>
                <a:cubicBezTo>
                  <a:pt x="90974" y="2235196"/>
                  <a:pt x="0" y="2144231"/>
                  <a:pt x="0" y="2031998"/>
                </a:cubicBezTo>
                <a:lnTo>
                  <a:pt x="0" y="203198"/>
                </a:lnTo>
                <a:close/>
              </a:path>
            </a:pathLst>
          </a:custGeom>
          <a:blipFill rotWithShape="1">
            <a:blip r:embed="rId18"/>
            <a:stretch>
              <a:fillRect/>
            </a:stretch>
          </a:blipFill>
          <a:ln w="0">
            <a:noFill/>
          </a:ln>
          <a:extLst>
            <a:ext uri="{91240B29-F687-4F45-9708-019B960494DF}">
              <a14:hiddenLine xmlns:a14="http://schemas.microsoft.com/office/drawing/2010/main" w="0">
                <a:pattFill prst="pct5">
                  <a:fgClr>
                    <a:prstClr val="black"/>
                  </a:fgClr>
                </a:pattFill>
              </a14:hiddenLine>
            </a:ext>
          </a:extLst>
        </p:spPr>
      </p:pic>
    </p:spTree>
    <p:custDataLst>
      <p:tags r:id="rId19"/>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副标题 2"/>
          <p:cNvSpPr>
            <a:spLocks noGrp="1"/>
          </p:cNvSpPr>
          <p:nvPr>
            <p:ph type="subTitle" idx="13"/>
            <p:custDataLst>
              <p:tags r:id="rId1"/>
            </p:custDataLst>
          </p:nvPr>
        </p:nvSpPr>
        <p:spPr/>
        <p:txBody>
          <a:bodyPr/>
          <a:p>
            <a:r>
              <a:rPr lang="zh-CN" altLang="en-US"/>
              <a:t>THE END</a:t>
            </a:r>
            <a:endParaRPr lang="zh-CN" altLang="en-US"/>
          </a:p>
        </p:txBody>
      </p:sp>
      <p:sp>
        <p:nvSpPr>
          <p:cNvPr id="4" name="标题 3"/>
          <p:cNvSpPr>
            <a:spLocks noGrp="1"/>
          </p:cNvSpPr>
          <p:nvPr>
            <p:ph type="ctrTitle" idx="14"/>
            <p:custDataLst>
              <p:tags r:id="rId2"/>
            </p:custDataLst>
          </p:nvPr>
        </p:nvSpPr>
        <p:spPr/>
        <p:txBody>
          <a:bodyPr/>
          <a:p>
            <a:r>
              <a:rPr lang="zh-CN" altLang="en-US" sz="6300"/>
              <a:t>谢谢</a:t>
            </a:r>
            <a:endParaRPr lang="zh-CN" altLang="en-US" sz="6300"/>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UNIT_INDEX" val="1"/>
  <p:tag name="KSO_WM_UNIT_TYPE" val="i"/>
</p:tagLst>
</file>

<file path=ppt/tags/tag64.xml><?xml version="1.0" encoding="utf-8"?>
<p:tagLst xmlns:p="http://schemas.openxmlformats.org/presentationml/2006/main">
  <p:tag name="KSO_WM_BEAUTIFY_FLAG" val="#wm#"/>
  <p:tag name="KSO_WM_UNIT_INDEX" val="2"/>
  <p:tag name="KSO_WM_UNIT_TYPE" val="i"/>
</p:tagLst>
</file>

<file path=ppt/tags/tag65.xml><?xml version="1.0" encoding="utf-8"?>
<p:tagLst xmlns:p="http://schemas.openxmlformats.org/presentationml/2006/main">
  <p:tag name="KSO_WM_BEAUTIFY_FLAG" val="#wm#"/>
  <p:tag name="KSO_WM_UNIT_INDEX" val="3"/>
  <p:tag name="KSO_WM_UNIT_TYPE" val="i"/>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UNIT_INDEX" val="4"/>
  <p:tag name="KSO_WM_UNIT_TYPE" val="i"/>
</p:tagLst>
</file>

<file path=ppt/tags/tag70.xml><?xml version="1.0" encoding="utf-8"?>
<p:tagLst xmlns:p="http://schemas.openxmlformats.org/presentationml/2006/main">
  <p:tag name="KSO_WM_BEAUTIFY_FLAG" val="#wm#"/>
  <p:tag name="KSO_WM_UNIT_INDEX" val="1"/>
  <p:tag name="KSO_WM_UNIT_TYPE" val="a"/>
</p:tagLst>
</file>

<file path=ppt/tags/tag71.xml><?xml version="1.0" encoding="utf-8"?>
<p:tagLst xmlns:p="http://schemas.openxmlformats.org/presentationml/2006/main">
  <p:tag name="KSO_WM_BEAUTIFY_FLAG" val="#wm#"/>
  <p:tag name="KSO_WM_UNIT_INDEX" val="1"/>
  <p:tag name="KSO_WM_UNIT_SUBTYPE" val="b"/>
  <p:tag name="KSO_WM_UNIT_TYPE" val="f"/>
</p:tagLst>
</file>

<file path=ppt/tags/tag72.xml><?xml version="1.0" encoding="utf-8"?>
<p:tagLst xmlns:p="http://schemas.openxmlformats.org/presentationml/2006/main">
  <p:tag name="KSO_WM_BEAUTIFY_FLAG" val="#wm#"/>
  <p:tag name="KSO_WM_UNIT_INDEX" val="2"/>
  <p:tag name="KSO_WM_UNIT_SUBTYPE" val="c"/>
  <p:tag name="KSO_WM_UNIT_TYPE" val="f"/>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UNIT_INDEX" val="1"/>
  <p:tag name="KSO_WM_UNIT_TYPE" val="i"/>
</p:tagLst>
</file>

<file path=ppt/tags/tag79.xml><?xml version="1.0" encoding="utf-8"?>
<p:tagLst xmlns:p="http://schemas.openxmlformats.org/presentationml/2006/main">
  <p:tag name="KSO_WM_BEAUTIFY_FLAG" val="#wm#"/>
  <p:tag name="KSO_WM_UNIT_INDEX" val="2"/>
  <p:tag name="KSO_WM_UNIT_TYPE" val="i"/>
</p:tagLst>
</file>

<file path=ppt/tags/tag80.xml><?xml version="1.0" encoding="utf-8"?>
<p:tagLst xmlns:p="http://schemas.openxmlformats.org/presentationml/2006/main">
  <p:tag name="KSO_WM_BEAUTIFY_FLAG" val="#wm#"/>
  <p:tag name="KSO_WM_UNIT_INDEX" val="3"/>
  <p:tag name="KSO_WM_UNIT_TYPE" val="i"/>
</p:tagLst>
</file>

<file path=ppt/tags/tag81.xml><?xml version="1.0" encoding="utf-8"?>
<p:tagLst xmlns:p="http://schemas.openxmlformats.org/presentationml/2006/main">
  <p:tag name="KSO_WM_BEAUTIFY_FLAG" val="#wm#"/>
  <p:tag name="KSO_WM_UNIT_INDEX" val="1"/>
  <p:tag name="KSO_WM_UNIT_TYPE" val="a"/>
</p:tagLst>
</file>

<file path=ppt/tags/tag82.xml><?xml version="1.0" encoding="utf-8"?>
<p:tagLst xmlns:p="http://schemas.openxmlformats.org/presentationml/2006/main">
  <p:tag name="KSO_WM_BEAUTIFY_FLAG" val="#wm#"/>
  <p:tag name="KSO_WM_UNIT_INDEX" val="1"/>
  <p:tag name="KSO_WM_UNIT_TYPE" val="b"/>
</p:tagLst>
</file>

<file path=ppt/tags/tag83.xml><?xml version="1.0" encoding="utf-8"?>
<p:tagLst xmlns:p="http://schemas.openxmlformats.org/presentationml/2006/main">
  <p:tag name="KSO_WM_BEAUTIFY_FLAG" val="#wm#"/>
  <p:tag name="KSO_WM_UNIT_INDEX" val="1"/>
  <p:tag name="KSO_WM_UNIT_TYPE" val="i"/>
</p:tagLst>
</file>

<file path=ppt/tags/tag84.xml><?xml version="1.0" encoding="utf-8"?>
<p:tagLst xmlns:p="http://schemas.openxmlformats.org/presentationml/2006/main">
  <p:tag name="KSO_WM_BEAUTIFY_FLAG" val="#wm#"/>
  <p:tag name="KSO_WM_UNIT_INDEX" val="2"/>
  <p:tag name="KSO_WM_UNIT_TYPE" val="i"/>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UNIT_INDEX" val="3"/>
  <p:tag name="KSO_WM_UNIT_TYPE" val="i"/>
</p:tagLst>
</file>

<file path=ppt/tags/tag88.xml><?xml version="1.0" encoding="utf-8"?>
<p:tagLst xmlns:p="http://schemas.openxmlformats.org/presentationml/2006/main">
  <p:tag name="KSO_WM_BEAUTIFY_FLAG" val="#wm#"/>
  <p:tag name="KSO_WM_UNIT_INDEX" val="4"/>
  <p:tag name="KSO_WM_UNIT_TYPE" val="i"/>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UNIT_INDEX" val="1"/>
  <p:tag name="KSO_WM_UNIT_TYPE" val="a"/>
</p:tagLst>
</file>

<file path=ppt/tags/tag91.xml><?xml version="1.0" encoding="utf-8"?>
<p:tagLst xmlns:p="http://schemas.openxmlformats.org/presentationml/2006/main">
  <p:tag name="KSO_WM_BEAUTIFY_FLAG" val="#wm#"/>
  <p:tag name="KSO_WM_UNIT_INDEX" val="1"/>
  <p:tag name="KSO_WM_UNIT_TYPE" val="e"/>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8.xml><?xml version="1.0" encoding="utf-8"?>
<p:tagLst xmlns:p="http://schemas.openxmlformats.org/presentationml/2006/main">
  <p:tag name="KSO_WM_BEAUTIFY_FLAG" val="#wm#"/>
  <p:tag name="KSO_WM_UNIT_INDEX" val="1"/>
  <p:tag name="KSO_WM_UNIT_TYPE" val="i"/>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BEAUTIFY_FLAG" val="#wm#"/>
  <p:tag name="KSO_WM_UNIT_INDEX" val="2"/>
  <p:tag name="KSO_WM_UNIT_TYPE" val="i"/>
</p:tagLst>
</file>

<file path=ppt/tags/tag132.xml><?xml version="1.0" encoding="utf-8"?>
<p:tagLst xmlns:p="http://schemas.openxmlformats.org/presentationml/2006/main">
  <p:tag name="KSO_WM_BEAUTIFY_FLAG" val="#wm#"/>
  <p:tag name="KSO_WM_UNIT_INDEX" val="3"/>
  <p:tag name="KSO_WM_UNIT_TYPE" val="i"/>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xml><?xml version="1.0" encoding="utf-8"?>
<p:tagLst xmlns:p="http://schemas.openxmlformats.org/presentationml/2006/main">
  <p:tag name="KSO_WM_BEAUTIFY_FLAG" val="#wm#"/>
  <p:tag name="KSO_WM_UNIT_INDEX" val="1"/>
  <p:tag name="KSO_WM_UNIT_TYPE" val="b"/>
</p:tagLst>
</file>

<file path=ppt/tags/tag135.xml><?xml version="1.0" encoding="utf-8"?>
<p:tagLst xmlns:p="http://schemas.openxmlformats.org/presentationml/2006/main">
  <p:tag name="KSO_WM_BEAUTIFY_FLAG" val="#wm#"/>
  <p:tag name="KSO_WM_UNIT_INDEX" val="1"/>
  <p:tag name="KSO_WM_UNIT_TYPE" val="a"/>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 name="KSO_WM_TEMPLATE_STYLE_ID" val="5b9f35bda1b381f2"/>
</p:tagLst>
</file>

<file path=ppt/tags/tag142.xml><?xml version="1.0" encoding="utf-8"?>
<p:tagLst xmlns:p="http://schemas.openxmlformats.org/presentationml/2006/main">
  <p:tag name="KSO_WM_BEAUTIFY_FLAG" val="#wm#"/>
  <p:tag name="KSO_WM_UNIT_INDEX" val="1"/>
  <p:tag name="KSO_WM_UNIT_TYPE" val="a"/>
</p:tagLst>
</file>

<file path=ppt/tags/tag143.xml><?xml version="1.0" encoding="utf-8"?>
<p:tagLst xmlns:p="http://schemas.openxmlformats.org/presentationml/2006/main">
  <p:tag name="KSO_WM_BEAUTIFY_FLAG" val="#wm#"/>
  <p:tag name="KSO_WM_UNIT_INDEX" val="1"/>
  <p:tag name="KSO_WM_UNIT_SUBTYPE" val="b"/>
  <p:tag name="KSO_WM_UNIT_TYPE" val="f"/>
</p:tagLst>
</file>

<file path=ppt/tags/tag144.xml><?xml version="1.0" encoding="utf-8"?>
<p:tagLst xmlns:p="http://schemas.openxmlformats.org/presentationml/2006/main">
  <p:tag name="KSO_WM_BEAUTIFY_FLAG" val="#wm#"/>
  <p:tag name="KSO_WM_UNIT_INDEX" val="2"/>
  <p:tag name="KSO_WM_UNIT_SUBTYPE" val="c"/>
  <p:tag name="KSO_WM_UNIT_TYPE" val="f"/>
</p:tagLst>
</file>

<file path=ppt/tags/tag145.xml><?xml version="1.0" encoding="utf-8"?>
<p:tagLst xmlns:p="http://schemas.openxmlformats.org/presentationml/2006/main">
  <p:tag name="KSO_WM_FIGMA_LIMIT" val=""/>
  <p:tag name="KSO_WM_FIGMA_SLIDE_GROUP" val="1"/>
  <p:tag name="KSO_WM_SLIDE_TYPE" val="title"/>
  <p:tag name="KSO_WM_TEMPLATE_SUBCATEGORY" val="29"/>
  <p:tag name="KSO_WM_TEMPLATE_FIGMA_ID" val="5b9f35bda1b381f2"/>
</p:tagLst>
</file>

<file path=ppt/tags/tag146.xml><?xml version="1.0" encoding="utf-8"?>
<p:tagLst xmlns:p="http://schemas.openxmlformats.org/presentationml/2006/main">
  <p:tag name="KSO_WM_BEAUTIFY_FLAG" val="#wm#"/>
  <p:tag name="KSO_WM_UNIT_INDEX" val="1"/>
  <p:tag name="KSO_WM_UNIT_TYPE" val="a"/>
</p:tagLst>
</file>

<file path=ppt/tags/tag147.xml><?xml version="1.0" encoding="utf-8"?>
<p:tagLst xmlns:p="http://schemas.openxmlformats.org/presentationml/2006/main">
  <p:tag name="KSO_WM_BEAUTIFY_FLAG" val="#wm#"/>
  <p:tag name="KSO_WM_UNIT_INDEX" val="1"/>
  <p:tag name="KSO_WM_UNIT_TYPE" val="b"/>
</p:tagLst>
</file>

<file path=ppt/tags/tag148.xml><?xml version="1.0" encoding="utf-8"?>
<p:tagLst xmlns:p="http://schemas.openxmlformats.org/presentationml/2006/main">
  <p:tag name="KSO_WM_DIAGRAM_VIRTUALLY_FRAME" val="{&quot;height&quot;:244.9,&quot;left&quot;:302.05,&quot;top&quot;:198.6,&quot;width&quot;:696}"/>
</p:tagLst>
</file>

<file path=ppt/tags/tag149.xml><?xml version="1.0" encoding="utf-8"?>
<p:tagLst xmlns:p="http://schemas.openxmlformats.org/presentationml/2006/main">
  <p:tag name="KSO_WM_BEAUTIFY_FLAG" val="#wm#"/>
  <p:tag name="KSO_WM_DIAGRAM_GROUP_CODE" val="1"/>
  <p:tag name="KSO_WM_UNIT_INDEX" val="1_1_1"/>
  <p:tag name="KSO_WM_UNIT_SUBTYPE" val="d"/>
  <p:tag name="KSO_WM_UNIT_TYPE" val="l_h_i"/>
  <p:tag name="KSO_WM_SLIDE_FIGMA_DIAGRAM" val="1"/>
  <p:tag name="KSO_WM_DIAGRAM_VIRTUALLY_FRAME" val="{&quot;height&quot;:244.9,&quot;left&quot;:302.05,&quot;top&quot;:198.6,&quot;width&quot;:696}"/>
</p:tagLst>
</file>

<file path=ppt/tags/tag150.xml><?xml version="1.0" encoding="utf-8"?>
<p:tagLst xmlns:p="http://schemas.openxmlformats.org/presentationml/2006/main">
  <p:tag name="KSO_WM_BEAUTIFY_FLAG" val="#wm#"/>
  <p:tag name="KSO_WM_DIAGRAM_GROUP_CODE" val="1"/>
  <p:tag name="KSO_WM_UNIT_INDEX" val="1_1_2"/>
  <p:tag name="KSO_WM_UNIT_TYPE" val="l_h_i"/>
  <p:tag name="KSO_WM_SLIDE_FIGMA_DIAGRAM" val="1"/>
  <p:tag name="KSO_WM_DIAGRAM_VIRTUALLY_FRAME" val="{&quot;height&quot;:244.9,&quot;left&quot;:302.05,&quot;top&quot;:198.6,&quot;width&quot;:696}"/>
</p:tagLst>
</file>

<file path=ppt/tags/tag151.xml><?xml version="1.0" encoding="utf-8"?>
<p:tagLst xmlns:p="http://schemas.openxmlformats.org/presentationml/2006/main">
  <p:tag name="KSO_WM_BEAUTIFY_FLAG" val="#wm#"/>
  <p:tag name="KSO_WM_DIAGRAM_GROUP_CODE" val="1"/>
  <p:tag name="KSO_WM_UNIT_INDEX" val="1_1_1"/>
  <p:tag name="KSO_WM_UNIT_PRESET_TEXT" val="单击此处添加项标题内容"/>
  <p:tag name="KSO_WM_UNIT_TEXT_TYPE" val="1"/>
  <p:tag name="KSO_WM_UNIT_TYPE" val="l_h_a"/>
  <p:tag name="KSO_WM_SLIDE_FIGMA_DIAGRAM" val="1"/>
  <p:tag name="KSO_WM_DIAGRAM_VIRTUALLY_FRAME" val="{&quot;height&quot;:244.9,&quot;left&quot;:302.05,&quot;top&quot;:198.6,&quot;width&quot;:696}"/>
</p:tagLst>
</file>

<file path=ppt/tags/tag152.xml><?xml version="1.0" encoding="utf-8"?>
<p:tagLst xmlns:p="http://schemas.openxmlformats.org/presentationml/2006/main">
  <p:tag name="KSO_WM_BEAUTIFY_FLAG" val="#wm#"/>
  <p:tag name="KSO_WM_DIAGRAM_GROUP_CODE" val="1"/>
  <p:tag name="KSO_WM_UNIT_INDEX" val="1_2_1"/>
  <p:tag name="KSO_WM_UNIT_SUBTYPE" val="d"/>
  <p:tag name="KSO_WM_UNIT_TYPE" val="l_h_i"/>
  <p:tag name="KSO_WM_SLIDE_FIGMA_DIAGRAM" val="1"/>
  <p:tag name="KSO_WM_DIAGRAM_VIRTUALLY_FRAME" val="{&quot;height&quot;:244.9,&quot;left&quot;:302.05,&quot;top&quot;:198.6,&quot;width&quot;:696}"/>
</p:tagLst>
</file>

<file path=ppt/tags/tag153.xml><?xml version="1.0" encoding="utf-8"?>
<p:tagLst xmlns:p="http://schemas.openxmlformats.org/presentationml/2006/main">
  <p:tag name="KSO_WM_BEAUTIFY_FLAG" val="#wm#"/>
  <p:tag name="KSO_WM_DIAGRAM_GROUP_CODE" val="1"/>
  <p:tag name="KSO_WM_UNIT_INDEX" val="1_2_2"/>
  <p:tag name="KSO_WM_UNIT_TYPE" val="l_h_i"/>
  <p:tag name="KSO_WM_SLIDE_FIGMA_DIAGRAM" val="1"/>
  <p:tag name="KSO_WM_DIAGRAM_VIRTUALLY_FRAME" val="{&quot;height&quot;:244.9,&quot;left&quot;:302.05,&quot;top&quot;:198.6,&quot;width&quot;:696}"/>
</p:tagLst>
</file>

<file path=ppt/tags/tag154.xml><?xml version="1.0" encoding="utf-8"?>
<p:tagLst xmlns:p="http://schemas.openxmlformats.org/presentationml/2006/main">
  <p:tag name="KSO_WM_BEAUTIFY_FLAG" val="#wm#"/>
  <p:tag name="KSO_WM_DIAGRAM_GROUP_CODE" val="1"/>
  <p:tag name="KSO_WM_UNIT_INDEX" val="1_2_1"/>
  <p:tag name="KSO_WM_UNIT_PRESET_TEXT" val="单击此处添加项标题内容"/>
  <p:tag name="KSO_WM_UNIT_TEXT_TYPE" val="1"/>
  <p:tag name="KSO_WM_UNIT_TYPE" val="l_h_a"/>
  <p:tag name="KSO_WM_SLIDE_FIGMA_DIAGRAM" val="1"/>
  <p:tag name="KSO_WM_DIAGRAM_VIRTUALLY_FRAME" val="{&quot;height&quot;:244.9,&quot;left&quot;:302.05,&quot;top&quot;:198.6,&quot;width&quot;:696}"/>
</p:tagLst>
</file>

<file path=ppt/tags/tag155.xml><?xml version="1.0" encoding="utf-8"?>
<p:tagLst xmlns:p="http://schemas.openxmlformats.org/presentationml/2006/main">
  <p:tag name="KSO_WM_BEAUTIFY_FLAG" val="#wm#"/>
  <p:tag name="KSO_WM_DIAGRAM_GROUP_CODE" val="1"/>
  <p:tag name="KSO_WM_UNIT_INDEX" val="1_3_1"/>
  <p:tag name="KSO_WM_UNIT_SUBTYPE" val="d"/>
  <p:tag name="KSO_WM_UNIT_TYPE" val="l_h_i"/>
  <p:tag name="KSO_WM_SLIDE_FIGMA_DIAGRAM" val="1"/>
  <p:tag name="KSO_WM_DIAGRAM_VIRTUALLY_FRAME" val="{&quot;height&quot;:244.9,&quot;left&quot;:302.05,&quot;top&quot;:198.6,&quot;width&quot;:696}"/>
</p:tagLst>
</file>

<file path=ppt/tags/tag156.xml><?xml version="1.0" encoding="utf-8"?>
<p:tagLst xmlns:p="http://schemas.openxmlformats.org/presentationml/2006/main">
  <p:tag name="KSO_WM_BEAUTIFY_FLAG" val="#wm#"/>
  <p:tag name="KSO_WM_DIAGRAM_GROUP_CODE" val="1"/>
  <p:tag name="KSO_WM_UNIT_INDEX" val="1_3_2"/>
  <p:tag name="KSO_WM_UNIT_TYPE" val="l_h_i"/>
  <p:tag name="KSO_WM_SLIDE_FIGMA_DIAGRAM" val="1"/>
  <p:tag name="KSO_WM_DIAGRAM_VIRTUALLY_FRAME" val="{&quot;height&quot;:244.9,&quot;left&quot;:302.05,&quot;top&quot;:198.6,&quot;width&quot;:696}"/>
</p:tagLst>
</file>

<file path=ppt/tags/tag157.xml><?xml version="1.0" encoding="utf-8"?>
<p:tagLst xmlns:p="http://schemas.openxmlformats.org/presentationml/2006/main">
  <p:tag name="KSO_WM_BEAUTIFY_FLAG" val="#wm#"/>
  <p:tag name="KSO_WM_DIAGRAM_GROUP_CODE" val="1"/>
  <p:tag name="KSO_WM_UNIT_INDEX" val="1_3_1"/>
  <p:tag name="KSO_WM_UNIT_PRESET_TEXT" val="单击此处添加项标题内容"/>
  <p:tag name="KSO_WM_UNIT_TEXT_TYPE" val="1"/>
  <p:tag name="KSO_WM_UNIT_TYPE" val="l_h_a"/>
  <p:tag name="KSO_WM_SLIDE_FIGMA_DIAGRAM" val="1"/>
  <p:tag name="KSO_WM_DIAGRAM_VIRTUALLY_FRAME" val="{&quot;height&quot;:244.9,&quot;left&quot;:302.05,&quot;top&quot;:198.6,&quot;width&quot;:696}"/>
</p:tagLst>
</file>

<file path=ppt/tags/tag158.xml><?xml version="1.0" encoding="utf-8"?>
<p:tagLst xmlns:p="http://schemas.openxmlformats.org/presentationml/2006/main">
  <p:tag name="KSO_WM_BEAUTIFY_FLAG" val="#wm#"/>
  <p:tag name="KSO_WM_DIAGRAM_GROUP_CODE" val="1"/>
  <p:tag name="KSO_WM_UNIT_INDEX" val="1_3_1"/>
  <p:tag name="KSO_WM_UNIT_SUBTYPE" val="d"/>
  <p:tag name="KSO_WM_UNIT_TYPE" val="l_h_i"/>
  <p:tag name="KSO_WM_SLIDE_FIGMA_DIAGRAM" val="1"/>
  <p:tag name="KSO_WM_DIAGRAM_VIRTUALLY_FRAME" val="{&quot;height&quot;:244.9,&quot;left&quot;:302.05,&quot;top&quot;:198.6,&quot;width&quot;:696}"/>
</p:tagLst>
</file>

<file path=ppt/tags/tag159.xml><?xml version="1.0" encoding="utf-8"?>
<p:tagLst xmlns:p="http://schemas.openxmlformats.org/presentationml/2006/main">
  <p:tag name="KSO_WM_BEAUTIFY_FLAG" val="#wm#"/>
  <p:tag name="KSO_WM_DIAGRAM_GROUP_CODE" val="1"/>
  <p:tag name="KSO_WM_UNIT_INDEX" val="1_3_2"/>
  <p:tag name="KSO_WM_UNIT_TYPE" val="l_h_i"/>
  <p:tag name="KSO_WM_SLIDE_FIGMA_DIAGRAM" val="1"/>
  <p:tag name="KSO_WM_DIAGRAM_VIRTUALLY_FRAME" val="{&quot;height&quot;:244.9,&quot;left&quot;:302.05,&quot;top&quot;:198.6,&quot;width&quot;:696}"/>
</p:tagLst>
</file>

<file path=ppt/tags/tag160.xml><?xml version="1.0" encoding="utf-8"?>
<p:tagLst xmlns:p="http://schemas.openxmlformats.org/presentationml/2006/main">
  <p:tag name="KSO_WM_BEAUTIFY_FLAG" val="#wm#"/>
  <p:tag name="KSO_WM_DIAGRAM_GROUP_CODE" val="1"/>
  <p:tag name="KSO_WM_UNIT_INDEX" val="1_3_1"/>
  <p:tag name="KSO_WM_UNIT_PRESET_TEXT" val="单击此处添加项标题内容"/>
  <p:tag name="KSO_WM_UNIT_TEXT_TYPE" val="1"/>
  <p:tag name="KSO_WM_UNIT_TYPE" val="l_h_a"/>
  <p:tag name="KSO_WM_SLIDE_FIGMA_DIAGRAM" val="1"/>
  <p:tag name="KSO_WM_DIAGRAM_VIRTUALLY_FRAME" val="{&quot;height&quot;:244.9,&quot;left&quot;:302.05,&quot;top&quot;:198.6,&quot;width&quot;:696}"/>
</p:tagLst>
</file>

<file path=ppt/tags/tag161.xml><?xml version="1.0" encoding="utf-8"?>
<p:tagLst xmlns:p="http://schemas.openxmlformats.org/presentationml/2006/main">
  <p:tag name="KSO_WM_FIGMA_LIMIT" val=""/>
  <p:tag name="KSO_WM_FIGMA_SLIDE_GROUP" val="1"/>
  <p:tag name="KSO_WM_SLIDE_TYPE" val="contents"/>
  <p:tag name="KSO_WM_TEMPLATE_SUBCATEGORY" val="29"/>
  <p:tag name="KSO_WM_TEMPLATE_FIGMA_ID" val="5b9f35bda1b381f2"/>
</p:tagLst>
</file>

<file path=ppt/tags/tag162.xml><?xml version="1.0" encoding="utf-8"?>
<p:tagLst xmlns:p="http://schemas.openxmlformats.org/presentationml/2006/main">
  <p:tag name="KSO_WM_BEAUTIFY_FLAG" val="#wm#"/>
  <p:tag name="KSO_WM_UNIT_INDEX" val="1"/>
  <p:tag name="KSO_WM_UNIT_TYPE" val="a"/>
</p:tagLst>
</file>

<file path=ppt/tags/tag163.xml><?xml version="1.0" encoding="utf-8"?>
<p:tagLst xmlns:p="http://schemas.openxmlformats.org/presentationml/2006/main">
  <p:tag name="KSO_WM_BEAUTIFY_FLAG" val="#wm#"/>
  <p:tag name="KSO_WM_UNIT_INDEX" val="1"/>
  <p:tag name="KSO_WM_UNIT_TYPE" val="e"/>
</p:tagLst>
</file>

<file path=ppt/tags/tag164.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9f35bda1b381f2"/>
</p:tagLst>
</file>

<file path=ppt/tags/tag165.xml><?xml version="1.0" encoding="utf-8"?>
<p:tagLst xmlns:p="http://schemas.openxmlformats.org/presentationml/2006/main">
  <p:tag name="KSO_WM_BEAUTIFY_FLAG" val="#wm#"/>
  <p:tag name="KSO_WM_UNIT_INDEX" val="1"/>
  <p:tag name="KSO_WM_UNIT_TYPE" val="i"/>
</p:tagLst>
</file>

<file path=ppt/tags/tag166.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167.xml><?xml version="1.0" encoding="utf-8"?>
<p:tagLst xmlns:p="http://schemas.openxmlformats.org/presentationml/2006/main">
  <p:tag name="KSO_WM_BEAUTIFY_FLAG" val="#fgm#"/>
  <p:tag name="KSO_WM_DIAGRAM_GROUP_CODE" val="1"/>
  <p:tag name="KSO_WM_UNIT_INDEX" val="1_1_1"/>
  <p:tag name="KSO_WM_UNIT_TYPE" val="l_h_i"/>
</p:tagLst>
</file>

<file path=ppt/tags/tag168.xml><?xml version="1.0" encoding="utf-8"?>
<p:tagLst xmlns:p="http://schemas.openxmlformats.org/presentationml/2006/main">
  <p:tag name="KSO_WM_BEAUTIFY_FLAG" val="#fgm#"/>
  <p:tag name="KSO_WM_DIAGRAM_GROUP_CODE" val="1"/>
  <p:tag name="KSO_WM_UNIT_INDEX" val="1_1_2"/>
  <p:tag name="KSO_WM_UNIT_SUBTYPE" val="d"/>
  <p:tag name="KSO_WM_UNIT_TYPE" val="l_h_i"/>
</p:tagLst>
</file>

<file path=ppt/tags/tag169.xml><?xml version="1.0" encoding="utf-8"?>
<p:tagLst xmlns:p="http://schemas.openxmlformats.org/presentationml/2006/main">
  <p:tag name="KSO_WM_BEAUTIFY_FLAG" val="#fgm#"/>
  <p:tag name="KSO_WM_DIAGRAM_GROUP_CODE" val="1"/>
  <p:tag name="KSO_WM_UNIT_INDEX" val="1_1_1"/>
  <p:tag name="KSO_WM_UNIT_PRESET_TEXT" val="单击添加项标题"/>
  <p:tag name="KSO_WM_UNIT_TEXT_TYPE" val="1"/>
  <p:tag name="KSO_WM_UNIT_TYPE" val="l_h_a"/>
</p:tagLst>
</file>

<file path=ppt/tags/tag170.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171.xml><?xml version="1.0" encoding="utf-8"?>
<p:tagLst xmlns:p="http://schemas.openxmlformats.org/presentationml/2006/main">
  <p:tag name="KSO_WM_BEAUTIFY_FLAG" val="#fgm#"/>
  <p:tag name="KSO_WM_DIAGRAM_GROUP_CODE" val="1"/>
  <p:tag name="KSO_WM_UNIT_INDEX" val="1_3_1"/>
  <p:tag name="KSO_WM_UNIT_TYPE" val="l_h_i"/>
</p:tagLst>
</file>

<file path=ppt/tags/tag172.xml><?xml version="1.0" encoding="utf-8"?>
<p:tagLst xmlns:p="http://schemas.openxmlformats.org/presentationml/2006/main">
  <p:tag name="KSO_WM_BEAUTIFY_FLAG" val="#fgm#"/>
  <p:tag name="KSO_WM_DIAGRAM_GROUP_CODE" val="1"/>
  <p:tag name="KSO_WM_UNIT_INDEX" val="1_3_2"/>
  <p:tag name="KSO_WM_UNIT_SUBTYPE" val="d"/>
  <p:tag name="KSO_WM_UNIT_TYPE" val="l_h_i"/>
</p:tagLst>
</file>

<file path=ppt/tags/tag173.xml><?xml version="1.0" encoding="utf-8"?>
<p:tagLst xmlns:p="http://schemas.openxmlformats.org/presentationml/2006/main">
  <p:tag name="KSO_WM_BEAUTIFY_FLAG" val="#fgm#"/>
  <p:tag name="KSO_WM_DIAGRAM_GROUP_CODE" val="1"/>
  <p:tag name="KSO_WM_UNIT_INDEX" val="1_3_1"/>
  <p:tag name="KSO_WM_UNIT_PRESET_TEXT" val="单击添加项标题"/>
  <p:tag name="KSO_WM_UNIT_TEXT_TYPE" val="1"/>
  <p:tag name="KSO_WM_UNIT_TYPE" val="l_h_a"/>
</p:tagLst>
</file>

<file path=ppt/tags/tag174.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175.xml><?xml version="1.0" encoding="utf-8"?>
<p:tagLst xmlns:p="http://schemas.openxmlformats.org/presentationml/2006/main">
  <p:tag name="KSO_WM_BEAUTIFY_FLAG" val="#fgm#"/>
  <p:tag name="KSO_WM_DIAGRAM_GROUP_CODE" val="1"/>
  <p:tag name="KSO_WM_UNIT_INDEX" val="1_2_1"/>
  <p:tag name="KSO_WM_UNIT_TYPE" val="l_h_i"/>
</p:tagLst>
</file>

<file path=ppt/tags/tag176.xml><?xml version="1.0" encoding="utf-8"?>
<p:tagLst xmlns:p="http://schemas.openxmlformats.org/presentationml/2006/main">
  <p:tag name="KSO_WM_BEAUTIFY_FLAG" val="#fgm#"/>
  <p:tag name="KSO_WM_DIAGRAM_GROUP_CODE" val="1"/>
  <p:tag name="KSO_WM_UNIT_INDEX" val="1_2_2"/>
  <p:tag name="KSO_WM_UNIT_SUBTYPE" val="d"/>
  <p:tag name="KSO_WM_UNIT_TYPE" val="l_h_i"/>
</p:tagLst>
</file>

<file path=ppt/tags/tag177.xml><?xml version="1.0" encoding="utf-8"?>
<p:tagLst xmlns:p="http://schemas.openxmlformats.org/presentationml/2006/main">
  <p:tag name="KSO_WM_BEAUTIFY_FLAG" val="#fgm#"/>
  <p:tag name="KSO_WM_DIAGRAM_GROUP_CODE" val="1"/>
  <p:tag name="KSO_WM_UNIT_INDEX" val="1_2_1"/>
  <p:tag name="KSO_WM_UNIT_PRESET_TEXT" val="单击添加项标题"/>
  <p:tag name="KSO_WM_UNIT_TEXT_TYPE" val="1"/>
  <p:tag name="KSO_WM_UNIT_TYPE" val="l_h_a"/>
</p:tagLst>
</file>

<file path=ppt/tags/tag178.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179.xml><?xml version="1.0" encoding="utf-8"?>
<p:tagLst xmlns:p="http://schemas.openxmlformats.org/presentationml/2006/main">
  <p:tag name="KSO_WM_BEAUTIFY_FLAG" val="#fgm#"/>
  <p:tag name="KSO_WM_DIAGRAM_GROUP_CODE" val="1"/>
  <p:tag name="KSO_WM_UNIT_INDEX" val="1_4_1"/>
  <p:tag name="KSO_WM_UNIT_TYPE" val="l_h_i"/>
</p:tagLst>
</file>

<file path=ppt/tags/tag180.xml><?xml version="1.0" encoding="utf-8"?>
<p:tagLst xmlns:p="http://schemas.openxmlformats.org/presentationml/2006/main">
  <p:tag name="KSO_WM_BEAUTIFY_FLAG" val="#fgm#"/>
  <p:tag name="KSO_WM_DIAGRAM_GROUP_CODE" val="1"/>
  <p:tag name="KSO_WM_UNIT_INDEX" val="1_4_2"/>
  <p:tag name="KSO_WM_UNIT_SUBTYPE" val="d"/>
  <p:tag name="KSO_WM_UNIT_TYPE" val="l_h_i"/>
</p:tagLst>
</file>

<file path=ppt/tags/tag181.xml><?xml version="1.0" encoding="utf-8"?>
<p:tagLst xmlns:p="http://schemas.openxmlformats.org/presentationml/2006/main">
  <p:tag name="KSO_WM_BEAUTIFY_FLAG" val="#fgm#"/>
  <p:tag name="KSO_WM_DIAGRAM_GROUP_CODE" val="1"/>
  <p:tag name="KSO_WM_UNIT_INDEX" val="1_4_1"/>
  <p:tag name="KSO_WM_UNIT_PRESET_TEXT" val="单击添加项标题"/>
  <p:tag name="KSO_WM_UNIT_TEXT_TYPE" val="1"/>
  <p:tag name="KSO_WM_UNIT_TYPE" val="l_h_a"/>
</p:tagLst>
</file>

<file path=ppt/tags/tag182.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183.xml><?xml version="1.0" encoding="utf-8"?>
<p:tagLst xmlns:p="http://schemas.openxmlformats.org/presentationml/2006/main">
  <p:tag name="KSO_WM_FIGMA_LIMIT" val=""/>
  <p:tag name="KSO_WM_FIGMA_SLIDE_GROUP" val="58"/>
  <p:tag name="KSO_WM_SLIDE_TYPE" val="text"/>
  <p:tag name="KSO_WM_TEMPLATE_SUBCATEGORY" val="29"/>
  <p:tag name="KSO_WM_TEMPLATE_FIGMA_ID" val="5b9f35bda1b381f2"/>
</p:tagLst>
</file>

<file path=ppt/tags/tag184.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VCG41N670037212&quot;}*galley_galley_ai_*1748701786458_0.1_694915af45ae-slide-4"/>
</p:tagLst>
</file>

<file path=ppt/tags/tag185.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186.xml><?xml version="1.0" encoding="utf-8"?>
<p:tagLst xmlns:p="http://schemas.openxmlformats.org/presentationml/2006/main">
  <p:tag name="KSO_WM_BEAUTIFY_FLAG" val="#fgm#"/>
  <p:tag name="KSO_WM_DIAGRAM_GROUP_CODE" val="1"/>
  <p:tag name="KSO_WM_UNIT_INDEX" val="1_1_1"/>
  <p:tag name="KSO_WM_UNIT_TYPE" val="l_h_i"/>
</p:tagLst>
</file>

<file path=ppt/tags/tag187.xml><?xml version="1.0" encoding="utf-8"?>
<p:tagLst xmlns:p="http://schemas.openxmlformats.org/presentationml/2006/main">
  <p:tag name="KSO_WM_BEAUTIFY_FLAG" val="#fgm#"/>
  <p:tag name="KSO_WM_DIAGRAM_GROUP_CODE" val="1"/>
  <p:tag name="KSO_WM_UNIT_INDEX" val="1_3_1"/>
  <p:tag name="KSO_WM_UNIT_TYPE" val="l_h_i"/>
</p:tagLst>
</file>

<file path=ppt/tags/tag188.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189.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190.xml><?xml version="1.0" encoding="utf-8"?>
<p:tagLst xmlns:p="http://schemas.openxmlformats.org/presentationml/2006/main">
  <p:tag name="KSO_WM_BEAUTIFY_FLAG" val="#fgm#"/>
  <p:tag name="KSO_WM_DIAGRAM_GROUP_CODE" val="1"/>
  <p:tag name="KSO_WM_UNIT_INDEX" val="1_2_1"/>
  <p:tag name="KSO_WM_UNIT_TYPE" val="l_h_i"/>
</p:tagLst>
</file>

<file path=ppt/tags/tag191.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192.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193.xml><?xml version="1.0" encoding="utf-8"?>
<p:tagLst xmlns:p="http://schemas.openxmlformats.org/presentationml/2006/main">
  <p:tag name="KSO_WM_BEAUTIFY_FLAG" val="#fgm#"/>
  <p:tag name="KSO_WM_DIAGRAM_GROUP_CODE" val="1"/>
  <p:tag name="KSO_WM_UNIT_INDEX" val="1_4_1"/>
  <p:tag name="KSO_WM_UNIT_TYPE" val="l_h_i"/>
</p:tagLst>
</file>

<file path=ppt/tags/tag194.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195.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196.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197.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198.xml><?xml version="1.0" encoding="utf-8"?>
<p:tagLst xmlns:p="http://schemas.openxmlformats.org/presentationml/2006/main">
  <p:tag name="KSO_WM_FIGMA_LIMIT" val=""/>
  <p:tag name="KSO_WM_FIGMA_SLIDE_GROUP" val="30"/>
  <p:tag name="KSO_WM_SLIDE_TYPE" val="text"/>
  <p:tag name="KSO_WM_TEMPLATE_SUBCATEGORY" val="29"/>
  <p:tag name="KSO_WM_TEMPLATE_FIGMA_ID" val="5b9f35bda1b381f2"/>
</p:tagLst>
</file>

<file path=ppt/tags/tag199.xml><?xml version="1.0" encoding="utf-8"?>
<p:tagLst xmlns:p="http://schemas.openxmlformats.org/presentationml/2006/main">
  <p:tag name="KSO_WM_BEAUTIFY_FLAG" val="#wm#"/>
  <p:tag name="KSO_WM_UNIT_INDEX" val="1"/>
  <p:tag name="KSO_WM_UNIT_TYPE" val="a"/>
</p:tagLst>
</file>

<file path=ppt/tags/tag200.xml><?xml version="1.0" encoding="utf-8"?>
<p:tagLst xmlns:p="http://schemas.openxmlformats.org/presentationml/2006/main">
  <p:tag name="KSO_WM_BEAUTIFY_FLAG" val="#wm#"/>
  <p:tag name="KSO_WM_UNIT_INDEX" val="1"/>
  <p:tag name="KSO_WM_UNIT_TYPE" val="e"/>
</p:tagLst>
</file>

<file path=ppt/tags/tag201.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9f35bda1b381f2"/>
</p:tagLst>
</file>

<file path=ppt/tags/tag202.xml><?xml version="1.0" encoding="utf-8"?>
<p:tagLst xmlns:p="http://schemas.openxmlformats.org/presentationml/2006/main">
  <p:tag name="KSO_WM_BEAUTIFY_FLAG" val="#wm#"/>
  <p:tag name="KSO_WM_UNIT_INDEX" val="1"/>
  <p:tag name="KSO_WM_UNIT_TYPE" val="i"/>
</p:tagLst>
</file>

<file path=ppt/tags/tag203.xml><?xml version="1.0" encoding="utf-8"?>
<p:tagLst xmlns:p="http://schemas.openxmlformats.org/presentationml/2006/main">
  <p:tag name="KSO_WM_BEAUTIFY_FLAG" val="#wm#"/>
  <p:tag name="KSO_WM_UNIT_INDEX" val="2"/>
  <p:tag name="KSO_WM_UNIT_TYPE" val="i"/>
</p:tagLst>
</file>

<file path=ppt/tags/tag204.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VCG211398372115&quot;}*galley_galley_ai_*1748701786458_0.1_694915af45ae-slide-6"/>
</p:tagLst>
</file>

<file path=ppt/tags/tag205.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06.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07.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08.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09.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10.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211.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12.xml><?xml version="1.0" encoding="utf-8"?>
<p:tagLst xmlns:p="http://schemas.openxmlformats.org/presentationml/2006/main">
  <p:tag name="KSO_WM_FIGMA_LIMIT" val=""/>
  <p:tag name="KSO_WM_FIGMA_SLIDE_GROUP" val="51"/>
  <p:tag name="KSO_WM_SLIDE_TYPE" val="text"/>
  <p:tag name="KSO_WM_TEMPLATE_SUBCATEGORY" val="29"/>
  <p:tag name="KSO_WM_TEMPLATE_FIGMA_ID" val="5b9f35bda1b381f2"/>
</p:tagLst>
</file>

<file path=ppt/tags/tag213.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14.xml><?xml version="1.0" encoding="utf-8"?>
<p:tagLst xmlns:p="http://schemas.openxmlformats.org/presentationml/2006/main">
  <p:tag name="KSO_WM_BEAUTIFY_FLAG" val="#wm#"/>
  <p:tag name="KSO_WM_UNIT_INDEX" val="1"/>
  <p:tag name="KSO_WM_UNIT_TYPE" val="i"/>
</p:tagLst>
</file>

<file path=ppt/tags/tag215.xml><?xml version="1.0" encoding="utf-8"?>
<p:tagLst xmlns:p="http://schemas.openxmlformats.org/presentationml/2006/main">
  <p:tag name="KSO_WM_BEAUTIFY_FLAG" val="#fgm#"/>
  <p:tag name="KSO_WM_DIAGRAM_GROUP_CODE" val="1"/>
  <p:tag name="KSO_WM_UNIT_INDEX" val="1_1_1"/>
  <p:tag name="KSO_WM_UNIT_TYPE" val="l_h_i"/>
</p:tagLst>
</file>

<file path=ppt/tags/tag216.xml><?xml version="1.0" encoding="utf-8"?>
<p:tagLst xmlns:p="http://schemas.openxmlformats.org/presentationml/2006/main">
  <p:tag name="KSO_WM_BEAUTIFY_FLAG" val="#fgm#"/>
  <p:tag name="KSO_WM_DIAGRAM_GROUP_CODE" val="1"/>
  <p:tag name="KSO_WM_UNIT_INDEX" val="1_1_1"/>
  <p:tag name="KSO_WM_UNIT_TYPE" val="l_h_x"/>
</p:tagLst>
</file>

<file path=ppt/tags/tag217.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18.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19.xml><?xml version="1.0" encoding="utf-8"?>
<p:tagLst xmlns:p="http://schemas.openxmlformats.org/presentationml/2006/main">
  <p:tag name="KSO_WM_BEAUTIFY_FLAG" val="#fgm#"/>
  <p:tag name="KSO_WM_DIAGRAM_GROUP_CODE" val="1"/>
  <p:tag name="KSO_WM_UNIT_INDEX" val="1_4_1"/>
  <p:tag name="KSO_WM_UNIT_TYPE" val="l_h_i"/>
</p:tagLst>
</file>

<file path=ppt/tags/tag220.xml><?xml version="1.0" encoding="utf-8"?>
<p:tagLst xmlns:p="http://schemas.openxmlformats.org/presentationml/2006/main">
  <p:tag name="KSO_WM_BEAUTIFY_FLAG" val="#fgm#"/>
  <p:tag name="KSO_WM_DIAGRAM_GROUP_CODE" val="1"/>
  <p:tag name="KSO_WM_UNIT_INDEX" val="1_4_1"/>
  <p:tag name="KSO_WM_UNIT_TYPE" val="l_h_x"/>
</p:tagLst>
</file>

<file path=ppt/tags/tag221.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222.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223.xml><?xml version="1.0" encoding="utf-8"?>
<p:tagLst xmlns:p="http://schemas.openxmlformats.org/presentationml/2006/main">
  <p:tag name="KSO_WM_BEAUTIFY_FLAG" val="#fgm#"/>
  <p:tag name="KSO_WM_DIAGRAM_GROUP_CODE" val="1"/>
  <p:tag name="KSO_WM_UNIT_INDEX" val="1_2_1"/>
  <p:tag name="KSO_WM_UNIT_TYPE" val="l_h_i"/>
</p:tagLst>
</file>

<file path=ppt/tags/tag224.xml><?xml version="1.0" encoding="utf-8"?>
<p:tagLst xmlns:p="http://schemas.openxmlformats.org/presentationml/2006/main">
  <p:tag name="KSO_WM_BEAUTIFY_FLAG" val="#fgm#"/>
  <p:tag name="KSO_WM_DIAGRAM_GROUP_CODE" val="1"/>
  <p:tag name="KSO_WM_UNIT_INDEX" val="1_2_1"/>
  <p:tag name="KSO_WM_UNIT_TYPE" val="l_h_x"/>
</p:tagLst>
</file>

<file path=ppt/tags/tag225.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26.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27.xml><?xml version="1.0" encoding="utf-8"?>
<p:tagLst xmlns:p="http://schemas.openxmlformats.org/presentationml/2006/main">
  <p:tag name="KSO_WM_BEAUTIFY_FLAG" val="#fgm#"/>
  <p:tag name="KSO_WM_DIAGRAM_GROUP_CODE" val="1"/>
  <p:tag name="KSO_WM_UNIT_INDEX" val="1_5_1"/>
  <p:tag name="KSO_WM_UNIT_TYPE" val="l_h_i"/>
</p:tagLst>
</file>

<file path=ppt/tags/tag228.xml><?xml version="1.0" encoding="utf-8"?>
<p:tagLst xmlns:p="http://schemas.openxmlformats.org/presentationml/2006/main">
  <p:tag name="KSO_WM_BEAUTIFY_FLAG" val="#fgm#"/>
  <p:tag name="KSO_WM_DIAGRAM_GROUP_CODE" val="1"/>
  <p:tag name="KSO_WM_UNIT_INDEX" val="1_5_1"/>
  <p:tag name="KSO_WM_UNIT_TYPE" val="l_h_x"/>
</p:tagLst>
</file>

<file path=ppt/tags/tag229.xml><?xml version="1.0" encoding="utf-8"?>
<p:tagLst xmlns:p="http://schemas.openxmlformats.org/presentationml/2006/main">
  <p:tag name="KSO_WM_BEAUTIFY_FLAG" val="#fgm#"/>
  <p:tag name="KSO_WM_DIAGRAM_GROUP_CODE" val="1"/>
  <p:tag name="KSO_WM_UNIT_INDEX" val="1_5_1"/>
  <p:tag name="KSO_WM_UNIT_PRESET_TEXT" val="添加项标题"/>
  <p:tag name="KSO_WM_UNIT_TEXT_TYPE" val="1"/>
  <p:tag name="KSO_WM_UNIT_TYPE" val="l_h_a"/>
</p:tagLst>
</file>

<file path=ppt/tags/tag230.xml><?xml version="1.0" encoding="utf-8"?>
<p:tagLst xmlns:p="http://schemas.openxmlformats.org/presentationml/2006/main">
  <p:tag name="KSO_WM_BEAUTIFY_FLAG" val="#fgm#"/>
  <p:tag name="KSO_WM_DIAGRAM_GROUP_CODE" val="1"/>
  <p:tag name="KSO_WM_UNIT_INDEX" val="1_5_1"/>
  <p:tag name="KSO_WM_UNIT_PRESET_TEXT" val="单击此处输入项正文，文字是您思想的提炼，请尽量言简意赅的阐述观点。"/>
  <p:tag name="KSO_WM_UNIT_TEXT_TYPE" val="1"/>
  <p:tag name="KSO_WM_UNIT_TYPE" val="l_h_f"/>
</p:tagLst>
</file>

<file path=ppt/tags/tag231.xml><?xml version="1.0" encoding="utf-8"?>
<p:tagLst xmlns:p="http://schemas.openxmlformats.org/presentationml/2006/main">
  <p:tag name="KSO_WM_BEAUTIFY_FLAG" val="#fgm#"/>
  <p:tag name="KSO_WM_DIAGRAM_GROUP_CODE" val="1"/>
  <p:tag name="KSO_WM_UNIT_INDEX" val="1_3_1"/>
  <p:tag name="KSO_WM_UNIT_TYPE" val="l_h_i"/>
</p:tagLst>
</file>

<file path=ppt/tags/tag232.xml><?xml version="1.0" encoding="utf-8"?>
<p:tagLst xmlns:p="http://schemas.openxmlformats.org/presentationml/2006/main">
  <p:tag name="KSO_WM_BEAUTIFY_FLAG" val="#fgm#"/>
  <p:tag name="KSO_WM_DIAGRAM_GROUP_CODE" val="1"/>
  <p:tag name="KSO_WM_UNIT_INDEX" val="1_3_1"/>
  <p:tag name="KSO_WM_UNIT_TYPE" val="l_h_x"/>
</p:tagLst>
</file>

<file path=ppt/tags/tag233.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234.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35.xml><?xml version="1.0" encoding="utf-8"?>
<p:tagLst xmlns:p="http://schemas.openxmlformats.org/presentationml/2006/main">
  <p:tag name="KSO_WM_BEAUTIFY_FLAG" val="#fgm#"/>
  <p:tag name="KSO_WM_DIAGRAM_GROUP_CODE" val="1"/>
  <p:tag name="KSO_WM_UNIT_INDEX" val="1_6_1"/>
  <p:tag name="KSO_WM_UNIT_TYPE" val="l_h_i"/>
</p:tagLst>
</file>

<file path=ppt/tags/tag236.xml><?xml version="1.0" encoding="utf-8"?>
<p:tagLst xmlns:p="http://schemas.openxmlformats.org/presentationml/2006/main">
  <p:tag name="KSO_WM_BEAUTIFY_FLAG" val="#fgm#"/>
  <p:tag name="KSO_WM_DIAGRAM_GROUP_CODE" val="1"/>
  <p:tag name="KSO_WM_UNIT_INDEX" val="1_6_1"/>
  <p:tag name="KSO_WM_UNIT_TYPE" val="l_h_x"/>
</p:tagLst>
</file>

<file path=ppt/tags/tag237.xml><?xml version="1.0" encoding="utf-8"?>
<p:tagLst xmlns:p="http://schemas.openxmlformats.org/presentationml/2006/main">
  <p:tag name="KSO_WM_BEAUTIFY_FLAG" val="#fgm#"/>
  <p:tag name="KSO_WM_DIAGRAM_GROUP_CODE" val="1"/>
  <p:tag name="KSO_WM_UNIT_INDEX" val="1_6_1"/>
  <p:tag name="KSO_WM_UNIT_PRESET_TEXT" val="添加项标题"/>
  <p:tag name="KSO_WM_UNIT_TEXT_TYPE" val="1"/>
  <p:tag name="KSO_WM_UNIT_TYPE" val="l_h_a"/>
</p:tagLst>
</file>

<file path=ppt/tags/tag238.xml><?xml version="1.0" encoding="utf-8"?>
<p:tagLst xmlns:p="http://schemas.openxmlformats.org/presentationml/2006/main">
  <p:tag name="KSO_WM_BEAUTIFY_FLAG" val="#fgm#"/>
  <p:tag name="KSO_WM_DIAGRAM_GROUP_CODE" val="1"/>
  <p:tag name="KSO_WM_UNIT_INDEX" val="1_6_1"/>
  <p:tag name="KSO_WM_UNIT_PRESET_TEXT" val="单击此处输入项正文，文字是您思想的提炼，请尽量言简意赅的阐述观点。"/>
  <p:tag name="KSO_WM_UNIT_TEXT_TYPE" val="1"/>
  <p:tag name="KSO_WM_UNIT_TYPE" val="l_h_f"/>
</p:tagLst>
</file>

<file path=ppt/tags/tag239.xml><?xml version="1.0" encoding="utf-8"?>
<p:tagLst xmlns:p="http://schemas.openxmlformats.org/presentationml/2006/main">
  <p:tag name="KSO_WM_FIGMA_LIMIT" val=""/>
  <p:tag name="KSO_WM_FIGMA_SLIDE_GROUP" val="3"/>
  <p:tag name="KSO_WM_SLIDE_TYPE" val="text"/>
  <p:tag name="KSO_WM_TEMPLATE_SUBCATEGORY" val="29"/>
  <p:tag name="KSO_WM_TEMPLATE_FIGMA_ID" val="5b9f35bda1b381f2"/>
</p:tagLst>
</file>

<file path=ppt/tags/tag240.xml><?xml version="1.0" encoding="utf-8"?>
<p:tagLst xmlns:p="http://schemas.openxmlformats.org/presentationml/2006/main">
  <p:tag name="KSO_WM_BEAUTIFY_FLAG" val="#wm#"/>
  <p:tag name="KSO_WM_UNIT_INDEX" val="1"/>
  <p:tag name="KSO_WM_UNIT_TYPE" val="a"/>
</p:tagLst>
</file>

<file path=ppt/tags/tag241.xml><?xml version="1.0" encoding="utf-8"?>
<p:tagLst xmlns:p="http://schemas.openxmlformats.org/presentationml/2006/main">
  <p:tag name="KSO_WM_BEAUTIFY_FLAG" val="#wm#"/>
  <p:tag name="KSO_WM_UNIT_INDEX" val="1"/>
  <p:tag name="KSO_WM_UNIT_TYPE" val="e"/>
</p:tagLst>
</file>

<file path=ppt/tags/tag242.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9f35bda1b381f2"/>
</p:tagLst>
</file>

<file path=ppt/tags/tag243.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44.xml><?xml version="1.0" encoding="utf-8"?>
<p:tagLst xmlns:p="http://schemas.openxmlformats.org/presentationml/2006/main">
  <p:tag name="KSO_WM_BEAUTIFY_FLAG" val="#wm#"/>
  <p:tag name="KSO_WM_UNIT_INDEX" val="1"/>
  <p:tag name="KSO_WM_UNIT_TYPE" val="i"/>
</p:tagLst>
</file>

<file path=ppt/tags/tag245.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VCG41N1453241299&quot;}*galley_galley_ai_*1748701786458_0.1_694915af45ae-slide-8"/>
</p:tagLst>
</file>

<file path=ppt/tags/tag246.xml><?xml version="1.0" encoding="utf-8"?>
<p:tagLst xmlns:p="http://schemas.openxmlformats.org/presentationml/2006/main">
  <p:tag name="KSO_WM_BEAUTIFY_FLAG" val="#fgm#"/>
  <p:tag name="KSO_WM_DIAGRAM_GROUP_CODE" val="1"/>
  <p:tag name="KSO_WM_UNIT_INDEX" val="1_1_1"/>
  <p:tag name="KSO_WM_UNIT_TYPE" val="l_h_i"/>
</p:tagLst>
</file>

<file path=ppt/tags/tag247.xml><?xml version="1.0" encoding="utf-8"?>
<p:tagLst xmlns:p="http://schemas.openxmlformats.org/presentationml/2006/main">
  <p:tag name="KSO_WM_BEAUTIFY_FLAG" val="#fgm#"/>
  <p:tag name="KSO_WM_DIAGRAM_GROUP_CODE" val="1"/>
  <p:tag name="KSO_WM_UNIT_INDEX" val="1_2_1"/>
  <p:tag name="KSO_WM_UNIT_TYPE" val="l_h_i"/>
</p:tagLst>
</file>

<file path=ppt/tags/tag248.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49.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50.xml><?xml version="1.0" encoding="utf-8"?>
<p:tagLst xmlns:p="http://schemas.openxmlformats.org/presentationml/2006/main">
  <p:tag name="KSO_WM_BEAUTIFY_FLAG" val="#fgm#"/>
  <p:tag name="KSO_WM_DIAGRAM_GROUP_CODE" val="1"/>
  <p:tag name="KSO_WM_UNIT_INDEX" val="1_3_1"/>
  <p:tag name="KSO_WM_UNIT_TYPE" val="l_h_i"/>
</p:tagLst>
</file>

<file path=ppt/tags/tag251.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52.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53.xml><?xml version="1.0" encoding="utf-8"?>
<p:tagLst xmlns:p="http://schemas.openxmlformats.org/presentationml/2006/main">
  <p:tag name="KSO_WM_BEAUTIFY_FLAG" val="#fgm#"/>
  <p:tag name="KSO_WM_DIAGRAM_GROUP_CODE" val="1"/>
  <p:tag name="KSO_WM_UNIT_INDEX" val="1_4_1"/>
  <p:tag name="KSO_WM_UNIT_TYPE" val="l_h_i"/>
</p:tagLst>
</file>

<file path=ppt/tags/tag254.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255.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56.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257.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258.xml><?xml version="1.0" encoding="utf-8"?>
<p:tagLst xmlns:p="http://schemas.openxmlformats.org/presentationml/2006/main">
  <p:tag name="KSO_WM_FIGMA_LIMIT" val=""/>
  <p:tag name="KSO_WM_FIGMA_SLIDE_GROUP" val="42"/>
  <p:tag name="KSO_WM_SLIDE_TYPE" val="text"/>
  <p:tag name="KSO_WM_TEMPLATE_SUBCATEGORY" val="29"/>
  <p:tag name="KSO_WM_TEMPLATE_FIGMA_ID" val="5b9f35bda1b381f2"/>
</p:tagLst>
</file>

<file path=ppt/tags/tag259.xml><?xml version="1.0" encoding="utf-8"?>
<p:tagLst xmlns:p="http://schemas.openxmlformats.org/presentationml/2006/main">
  <p:tag name="KSO_WM_BEAUTIFY_FLAG" val="#wm#"/>
  <p:tag name="KSO_WM_UNIT_INDEX" val="1"/>
  <p:tag name="KSO_WM_UNIT_TYPE" val="i"/>
</p:tagLst>
</file>

<file path=ppt/tags/tag260.xml><?xml version="1.0" encoding="utf-8"?>
<p:tagLst xmlns:p="http://schemas.openxmlformats.org/presentationml/2006/main">
  <p:tag name="KSO_WM_BEAUTIFY_FLAG" val="#wm#"/>
  <p:tag name="KSO_WM_UNIT_INDEX" val="2"/>
  <p:tag name="KSO_WM_UNIT_TYPE" val="i"/>
</p:tagLst>
</file>

<file path=ppt/tags/tag261.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62.xml><?xml version="1.0" encoding="utf-8"?>
<p:tagLst xmlns:p="http://schemas.openxmlformats.org/presentationml/2006/main">
  <p:tag name="KSO_WM_BEAUTIFY_FLAG" val="#wm#"/>
  <p:tag name="KSO_WM_UNIT_INDEX" val="3"/>
  <p:tag name="KSO_WM_UNIT_TYPE" val="i"/>
</p:tagLst>
</file>

<file path=ppt/tags/tag263.xml><?xml version="1.0" encoding="utf-8"?>
<p:tagLst xmlns:p="http://schemas.openxmlformats.org/presentationml/2006/main">
  <p:tag name="KSO_WM_BEAUTIFY_FLAG" val="#fgm#"/>
  <p:tag name="KSO_WM_DIAGRAM_GROUP_CODE" val="1"/>
  <p:tag name="KSO_WM_UNIT_INDEX" val="1_1_1"/>
  <p:tag name="KSO_WM_UNIT_TYPE" val="l_h_i"/>
</p:tagLst>
</file>

<file path=ppt/tags/tag264.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VCG41N836364512&quot;}*galley_galley_ai_*1748701786458_0.1_694915af45ae-slide-9"/>
</p:tagLst>
</file>

<file path=ppt/tags/tag265.xml><?xml version="1.0" encoding="utf-8"?>
<p:tagLst xmlns:p="http://schemas.openxmlformats.org/presentationml/2006/main">
  <p:tag name="KSO_WM_BEAUTIFY_FLAG" val="#fgm#"/>
  <p:tag name="KSO_WM_DIAGRAM_GROUP_CODE" val="1"/>
  <p:tag name="KSO_WM_UNIT_INDEX" val="1_3_1"/>
  <p:tag name="KSO_WM_UNIT_TYPE" val="l_h_i"/>
</p:tagLst>
</file>

<file path=ppt/tags/tag266.xml><?xml version="1.0" encoding="utf-8"?>
<p:tagLst xmlns:p="http://schemas.openxmlformats.org/presentationml/2006/main">
  <p:tag name="KSO_WM_BEAUTIFY_FLAG" val="#fgm#"/>
  <p:tag name="KSO_WM_DIAGRAM_GROUP_CODE" val="1"/>
  <p:tag name="KSO_WM_UNIT_INDEX" val="1_3_1"/>
  <p:tag name="KSO_WM_UNIT_TYPE" val="l_h_d"/>
  <p:tag name="MH_SHAPE_GUID" val="generate_slide_ai*{&quot;ai_type&quot;:&quot;generate_ppt&quot;,&quot;id&quot;:&quot;VCG211245382261&quot;}*galley_galley_ai_*1748701786458_0.1_694915af45ae-slide-9"/>
</p:tagLst>
</file>

<file path=ppt/tags/tag267.xml><?xml version="1.0" encoding="utf-8"?>
<p:tagLst xmlns:p="http://schemas.openxmlformats.org/presentationml/2006/main">
  <p:tag name="KSO_WM_BEAUTIFY_FLAG" val="#fgm#"/>
  <p:tag name="KSO_WM_DIAGRAM_GROUP_CODE" val="1"/>
  <p:tag name="KSO_WM_UNIT_INDEX" val="1_1_1"/>
  <p:tag name="KSO_WM_UNIT_PRESET_TEXT" val="单击添加项标题"/>
  <p:tag name="KSO_WM_UNIT_TEXT_TYPE" val="1"/>
  <p:tag name="KSO_WM_UNIT_TYPE" val="l_h_a"/>
</p:tagLst>
</file>

<file path=ppt/tags/tag268.xml><?xml version="1.0" encoding="utf-8"?>
<p:tagLst xmlns:p="http://schemas.openxmlformats.org/presentationml/2006/main">
  <p:tag name="KSO_WM_BEAUTIFY_FLAG" val="#fgm#"/>
  <p:tag name="KSO_WM_DIAGRAM_GROUP_CODE" val="1"/>
  <p:tag name="KSO_WM_UNIT_INDEX" val="1_2_1"/>
  <p:tag name="KSO_WM_UNIT_TYPE" val="l_h_i"/>
</p:tagLst>
</file>

<file path=ppt/tags/tag269.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VCG41N1360945391&quot;}*galley_galley_ai_*1748701786458_0.1_694915af45ae-slide-9"/>
</p:tagLst>
</file>

<file path=ppt/tags/tag270.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71.xml><?xml version="1.0" encoding="utf-8"?>
<p:tagLst xmlns:p="http://schemas.openxmlformats.org/presentationml/2006/main">
  <p:tag name="KSO_WM_BEAUTIFY_FLAG" val="#fgm#"/>
  <p:tag name="KSO_WM_DIAGRAM_GROUP_CODE" val="1"/>
  <p:tag name="KSO_WM_UNIT_INDEX" val="1_4_1"/>
  <p:tag name="KSO_WM_UNIT_TYPE" val="l_h_i"/>
</p:tagLst>
</file>

<file path=ppt/tags/tag272.xml><?xml version="1.0" encoding="utf-8"?>
<p:tagLst xmlns:p="http://schemas.openxmlformats.org/presentationml/2006/main">
  <p:tag name="KSO_WM_BEAUTIFY_FLAG" val="#fgm#"/>
  <p:tag name="KSO_WM_DIAGRAM_GROUP_CODE" val="1"/>
  <p:tag name="KSO_WM_UNIT_INDEX" val="1_4_1"/>
  <p:tag name="KSO_WM_UNIT_TYPE" val="l_h_d"/>
  <p:tag name="MH_SHAPE_GUID" val="generate_slide_ai*{&quot;ai_type&quot;:&quot;generate_ppt&quot;,&quot;id&quot;:&quot;VCG41N954109988&quot;}*galley_galley_ai_*1748701786458_0.1_694915af45ae-slide-9"/>
</p:tagLst>
</file>

<file path=ppt/tags/tag273.xml><?xml version="1.0" encoding="utf-8"?>
<p:tagLst xmlns:p="http://schemas.openxmlformats.org/presentationml/2006/main">
  <p:tag name="KSO_WM_BEAUTIFY_FLAG" val="#fgm#"/>
  <p:tag name="KSO_WM_DIAGRAM_GROUP_CODE" val="1"/>
  <p:tag name="KSO_WM_UNIT_INDEX" val="1_3_1"/>
  <p:tag name="KSO_WM_UNIT_PRESET_TEXT" val="单击添加项标题"/>
  <p:tag name="KSO_WM_UNIT_TEXT_TYPE" val="1"/>
  <p:tag name="KSO_WM_UNIT_TYPE" val="l_h_a"/>
</p:tagLst>
</file>

<file path=ppt/tags/tag274.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75.xml><?xml version="1.0" encoding="utf-8"?>
<p:tagLst xmlns:p="http://schemas.openxmlformats.org/presentationml/2006/main">
  <p:tag name="KSO_WM_BEAUTIFY_FLAG" val="#fgm#"/>
  <p:tag name="KSO_WM_DIAGRAM_GROUP_CODE" val="1"/>
  <p:tag name="KSO_WM_UNIT_INDEX" val="1_2_1"/>
  <p:tag name="KSO_WM_UNIT_PRESET_TEXT" val="单击添加项标题"/>
  <p:tag name="KSO_WM_UNIT_TEXT_TYPE" val="1"/>
  <p:tag name="KSO_WM_UNIT_TYPE" val="l_h_a"/>
</p:tagLst>
</file>

<file path=ppt/tags/tag276.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77.xml><?xml version="1.0" encoding="utf-8"?>
<p:tagLst xmlns:p="http://schemas.openxmlformats.org/presentationml/2006/main">
  <p:tag name="KSO_WM_BEAUTIFY_FLAG" val="#fgm#"/>
  <p:tag name="KSO_WM_DIAGRAM_GROUP_CODE" val="1"/>
  <p:tag name="KSO_WM_UNIT_INDEX" val="1_4_1"/>
  <p:tag name="KSO_WM_UNIT_PRESET_TEXT" val="单击添加项标题"/>
  <p:tag name="KSO_WM_UNIT_TEXT_TYPE" val="1"/>
  <p:tag name="KSO_WM_UNIT_TYPE" val="l_h_a"/>
</p:tagLst>
</file>

<file path=ppt/tags/tag278.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279.xml><?xml version="1.0" encoding="utf-8"?>
<p:tagLst xmlns:p="http://schemas.openxmlformats.org/presentationml/2006/main">
  <p:tag name="KSO_WM_FIGMA_LIMIT" val=""/>
  <p:tag name="KSO_WM_FIGMA_SLIDE_GROUP" val="31"/>
  <p:tag name="KSO_WM_SLIDE_TYPE" val="text"/>
  <p:tag name="KSO_WM_TEMPLATE_SUBCATEGORY" val="29"/>
  <p:tag name="KSO_WM_TEMPLATE_FIGMA_ID" val="5b9f35bda1b381f2"/>
</p:tagLst>
</file>

<file path=ppt/tags/tag280.xml><?xml version="1.0" encoding="utf-8"?>
<p:tagLst xmlns:p="http://schemas.openxmlformats.org/presentationml/2006/main">
  <p:tag name="KSO_WM_BEAUTIFY_FLAG" val="#wm#"/>
  <p:tag name="KSO_WM_UNIT_INDEX" val="1"/>
  <p:tag name="KSO_WM_UNIT_TYPE" val="a"/>
</p:tagLst>
</file>

<file path=ppt/tags/tag281.xml><?xml version="1.0" encoding="utf-8"?>
<p:tagLst xmlns:p="http://schemas.openxmlformats.org/presentationml/2006/main">
  <p:tag name="KSO_WM_BEAUTIFY_FLAG" val="#wm#"/>
  <p:tag name="KSO_WM_UNIT_INDEX" val="1"/>
  <p:tag name="KSO_WM_UNIT_TYPE" val="e"/>
</p:tagLst>
</file>

<file path=ppt/tags/tag282.xml><?xml version="1.0" encoding="utf-8"?>
<p:tagLst xmlns:p="http://schemas.openxmlformats.org/presentationml/2006/main">
  <p:tag name="KSO_WM_FIGMA_LIMIT" val=""/>
  <p:tag name="KSO_WM_FIGMA_SLIDE_GROUP" val="1"/>
  <p:tag name="KSO_WM_SLIDE_TYPE" val="sectionTitle"/>
  <p:tag name="KSO_WM_TEMPLATE_SUBCATEGORY" val="29"/>
  <p:tag name="KSO_WM_TEMPLATE_FIGMA_ID" val="5b9f35bda1b381f2"/>
</p:tagLst>
</file>

<file path=ppt/tags/tag283.xml><?xml version="1.0" encoding="utf-8"?>
<p:tagLst xmlns:p="http://schemas.openxmlformats.org/presentationml/2006/main">
  <p:tag name="KSO_WM_BEAUTIFY_FLAG" val="#wm#"/>
  <p:tag name="KSO_WM_UNIT_INDEX" val="1"/>
  <p:tag name="KSO_WM_UNIT_TYPE" val="i"/>
</p:tagLst>
</file>

<file path=ppt/tags/tag284.xml><?xml version="1.0" encoding="utf-8"?>
<p:tagLst xmlns:p="http://schemas.openxmlformats.org/presentationml/2006/main">
  <p:tag name="KSO_WM_BEAUTIFY_FLAG" val="#wm#"/>
  <p:tag name="KSO_WM_UNIT_INDEX" val="2"/>
  <p:tag name="KSO_WM_UNIT_TYPE" val="i"/>
</p:tagLst>
</file>

<file path=ppt/tags/tag285.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286.xml><?xml version="1.0" encoding="utf-8"?>
<p:tagLst xmlns:p="http://schemas.openxmlformats.org/presentationml/2006/main">
  <p:tag name="KSO_WM_BEAUTIFY_FLAG" val="#wm#"/>
  <p:tag name="KSO_WM_UNIT_INDEX" val="3"/>
  <p:tag name="KSO_WM_UNIT_TYPE" val="i"/>
</p:tagLst>
</file>

<file path=ppt/tags/tag287.xml><?xml version="1.0" encoding="utf-8"?>
<p:tagLst xmlns:p="http://schemas.openxmlformats.org/presentationml/2006/main">
  <p:tag name="KSO_WM_BEAUTIFY_FLAG" val="#fgm#"/>
  <p:tag name="KSO_WM_DIAGRAM_GROUP_CODE" val="1"/>
  <p:tag name="KSO_WM_UNIT_INDEX" val="1_1_1"/>
  <p:tag name="KSO_WM_UNIT_TYPE" val="l_h_d"/>
  <p:tag name="MH_SHAPE_GUID" val="generate_slide_ai*{&quot;ai_type&quot;:&quot;generate_ppt&quot;,&quot;id&quot;:&quot;VCG211236531305&quot;}*galley_galley_ai_*1748701786458_0.1_694915af45ae-slide-11"/>
</p:tagLst>
</file>

<file path=ppt/tags/tag288.xml><?xml version="1.0" encoding="utf-8"?>
<p:tagLst xmlns:p="http://schemas.openxmlformats.org/presentationml/2006/main">
  <p:tag name="KSO_WM_BEAUTIFY_FLAG" val="#fgm#"/>
  <p:tag name="KSO_WM_DIAGRAM_GROUP_CODE" val="1"/>
  <p:tag name="KSO_WM_UNIT_INDEX" val="1_1_1"/>
  <p:tag name="KSO_WM_UNIT_TYPE" val="l_h_i"/>
</p:tagLst>
</file>

<file path=ppt/tags/tag289.xml><?xml version="1.0" encoding="utf-8"?>
<p:tagLst xmlns:p="http://schemas.openxmlformats.org/presentationml/2006/main">
  <p:tag name="KSO_WM_BEAUTIFY_FLAG" val="#fgm#"/>
  <p:tag name="KSO_WM_DIAGRAM_GROUP_CODE" val="1"/>
  <p:tag name="KSO_WM_UNIT_INDEX" val="1_2_1"/>
  <p:tag name="KSO_WM_UNIT_TYPE" val="l_h_i"/>
</p:tagLst>
</file>

<file path=ppt/tags/tag290.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291.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292.xml><?xml version="1.0" encoding="utf-8"?>
<p:tagLst xmlns:p="http://schemas.openxmlformats.org/presentationml/2006/main">
  <p:tag name="KSO_WM_BEAUTIFY_FLAG" val="#fgm#"/>
  <p:tag name="KSO_WM_DIAGRAM_GROUP_CODE" val="1"/>
  <p:tag name="KSO_WM_UNIT_INDEX" val="1_2_1"/>
  <p:tag name="KSO_WM_UNIT_TYPE" val="l_h_d"/>
  <p:tag name="MH_SHAPE_GUID" val="generate_slide_ai*{&quot;ai_type&quot;:&quot;generate_ppt&quot;,&quot;id&quot;:&quot;VCG41N521604124&quot;}*galley_galley_ai_*1748701786458_0.1_694915af45ae-slide-11"/>
</p:tagLst>
</file>

<file path=ppt/tags/tag293.xml><?xml version="1.0" encoding="utf-8"?>
<p:tagLst xmlns:p="http://schemas.openxmlformats.org/presentationml/2006/main">
  <p:tag name="KSO_WM_BEAUTIFY_FLAG" val="#fgm#"/>
  <p:tag name="KSO_WM_DIAGRAM_GROUP_CODE" val="1"/>
  <p:tag name="KSO_WM_UNIT_INDEX" val="1_3_1"/>
  <p:tag name="KSO_WM_UNIT_TYPE" val="l_h_d"/>
  <p:tag name="MH_SHAPE_GUID" val="generate_slide_ai*{&quot;ai_type&quot;:&quot;generate_ppt&quot;,&quot;id&quot;:&quot;VCG41N696195038&quot;}*galley_galley_ai_*1748701786458_0.1_694915af45ae-slide-11"/>
</p:tagLst>
</file>

<file path=ppt/tags/tag294.xml><?xml version="1.0" encoding="utf-8"?>
<p:tagLst xmlns:p="http://schemas.openxmlformats.org/presentationml/2006/main">
  <p:tag name="KSO_WM_BEAUTIFY_FLAG" val="#fgm#"/>
  <p:tag name="KSO_WM_DIAGRAM_GROUP_CODE" val="1"/>
  <p:tag name="KSO_WM_UNIT_INDEX" val="1_3_1"/>
  <p:tag name="KSO_WM_UNIT_TYPE" val="l_h_i"/>
</p:tagLst>
</file>

<file path=ppt/tags/tag295.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296.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297.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298.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299.xml><?xml version="1.0" encoding="utf-8"?>
<p:tagLst xmlns:p="http://schemas.openxmlformats.org/presentationml/2006/main">
  <p:tag name="KSO_WM_FIGMA_LIMIT" val=""/>
  <p:tag name="KSO_WM_FIGMA_SLIDE_GROUP" val="26"/>
  <p:tag name="KSO_WM_SLIDE_TYPE" val="text"/>
  <p:tag name="KSO_WM_TEMPLATE_SUBCATEGORY" val="29"/>
  <p:tag name="KSO_WM_TEMPLATE_FIGMA_ID" val="5b9f35bda1b381f2"/>
</p:tagLst>
</file>

<file path=ppt/tags/tag300.xml><?xml version="1.0" encoding="utf-8"?>
<p:tagLst xmlns:p="http://schemas.openxmlformats.org/presentationml/2006/main">
  <p:tag name="KSO_WM_BEAUTIFY_FLAG" val="#wm#"/>
  <p:tag name="KSO_WM_UNIT_INDEX" val="1"/>
  <p:tag name="KSO_WM_UNIT_TYPE" val="i"/>
</p:tagLst>
</file>

<file path=ppt/tags/tag301.xml><?xml version="1.0" encoding="utf-8"?>
<p:tagLst xmlns:p="http://schemas.openxmlformats.org/presentationml/2006/main">
  <p:tag name="KSO_WM_BEAUTIFY_FLAG" val="#wm#"/>
  <p:tag name="KSO_WM_UNIT_INDEX" val="2"/>
  <p:tag name="KSO_WM_UNIT_TYPE" val="i"/>
</p:tagLst>
</file>

<file path=ppt/tags/tag302.xml><?xml version="1.0" encoding="utf-8"?>
<p:tagLst xmlns:p="http://schemas.openxmlformats.org/presentationml/2006/main">
  <p:tag name="KSO_WM_BEAUTIFY_FLAG" val="#wm#"/>
  <p:tag name="KSO_WM_UNIT_INDEX" val="1"/>
  <p:tag name="KSO_WM_UNIT_TYPE" val="a"/>
  <p:tag name="KSO_WM_UNIT_HIGHLIGHT" val="0"/>
  <p:tag name="KSO_WM_UNIT_COMPATIBLE" val="0"/>
  <p:tag name="KSO_WM_UNIT_DIAGRAM_ISNUMVISUAL" val="0"/>
  <p:tag name="KSO_WM_UNIT_DIAGRAM_ISREFERUNIT" val="0"/>
  <p:tag name="KSO_WM_UNIT_ID" val="_6**"/>
  <p:tag name="KSO_WM_UNIT_LAYERLEVEL" val="1"/>
  <p:tag name="KSO_WM_TAG_VERSION" val="1.0"/>
</p:tagLst>
</file>

<file path=ppt/tags/tag303.xml><?xml version="1.0" encoding="utf-8"?>
<p:tagLst xmlns:p="http://schemas.openxmlformats.org/presentationml/2006/main">
  <p:tag name="KSO_WM_BEAUTIFY_FLAG" val="#fgm#"/>
  <p:tag name="KSO_WM_DIAGRAM_GROUP_CODE" val="1"/>
  <p:tag name="KSO_WM_UNIT_INDEX" val="1_1_1"/>
  <p:tag name="KSO_WM_UNIT_TYPE" val="l_h_i"/>
</p:tagLst>
</file>

<file path=ppt/tags/tag304.xml><?xml version="1.0" encoding="utf-8"?>
<p:tagLst xmlns:p="http://schemas.openxmlformats.org/presentationml/2006/main">
  <p:tag name="KSO_WM_BEAUTIFY_FLAG" val="#fgm#"/>
  <p:tag name="KSO_WM_DIAGRAM_GROUP_CODE" val="1"/>
  <p:tag name="KSO_WM_UNIT_INDEX" val="1_1_1"/>
  <p:tag name="KSO_WM_UNIT_PRESET_TEXT" val="添加项标题"/>
  <p:tag name="KSO_WM_UNIT_TEXT_TYPE" val="1"/>
  <p:tag name="KSO_WM_UNIT_TYPE" val="l_h_a"/>
</p:tagLst>
</file>

<file path=ppt/tags/tag305.xml><?xml version="1.0" encoding="utf-8"?>
<p:tagLst xmlns:p="http://schemas.openxmlformats.org/presentationml/2006/main">
  <p:tag name="KSO_WM_BEAUTIFY_FLAG" val="#fgm#"/>
  <p:tag name="KSO_WM_DIAGRAM_GROUP_CODE" val="1"/>
  <p:tag name="KSO_WM_UNIT_INDEX" val="1_1_1"/>
  <p:tag name="KSO_WM_UNIT_PRESET_TEXT" val="单击此处输入项正文，文字是您思想的提炼，请尽量言简意赅的阐述观点。"/>
  <p:tag name="KSO_WM_UNIT_TEXT_TYPE" val="1"/>
  <p:tag name="KSO_WM_UNIT_TYPE" val="l_h_f"/>
</p:tagLst>
</file>

<file path=ppt/tags/tag306.xml><?xml version="1.0" encoding="utf-8"?>
<p:tagLst xmlns:p="http://schemas.openxmlformats.org/presentationml/2006/main">
  <p:tag name="KSO_WM_BEAUTIFY_FLAG" val="#fgm#"/>
  <p:tag name="KSO_WM_DIAGRAM_GROUP_CODE" val="1"/>
  <p:tag name="KSO_WM_UNIT_INDEX" val="1_2_1"/>
  <p:tag name="KSO_WM_UNIT_TYPE" val="l_h_i"/>
</p:tagLst>
</file>

<file path=ppt/tags/tag307.xml><?xml version="1.0" encoding="utf-8"?>
<p:tagLst xmlns:p="http://schemas.openxmlformats.org/presentationml/2006/main">
  <p:tag name="KSO_WM_BEAUTIFY_FLAG" val="#fgm#"/>
  <p:tag name="KSO_WM_DIAGRAM_GROUP_CODE" val="1"/>
  <p:tag name="KSO_WM_UNIT_INDEX" val="1_2_1"/>
  <p:tag name="KSO_WM_UNIT_PRESET_TEXT" val="添加项标题"/>
  <p:tag name="KSO_WM_UNIT_TEXT_TYPE" val="1"/>
  <p:tag name="KSO_WM_UNIT_TYPE" val="l_h_a"/>
</p:tagLst>
</file>

<file path=ppt/tags/tag308.xml><?xml version="1.0" encoding="utf-8"?>
<p:tagLst xmlns:p="http://schemas.openxmlformats.org/presentationml/2006/main">
  <p:tag name="KSO_WM_BEAUTIFY_FLAG" val="#fgm#"/>
  <p:tag name="KSO_WM_DIAGRAM_GROUP_CODE" val="1"/>
  <p:tag name="KSO_WM_UNIT_INDEX" val="1_2_1"/>
  <p:tag name="KSO_WM_UNIT_PRESET_TEXT" val="单击此处输入项正文，文字是您思想的提炼，请尽量言简意赅的阐述观点。"/>
  <p:tag name="KSO_WM_UNIT_TEXT_TYPE" val="1"/>
  <p:tag name="KSO_WM_UNIT_TYPE" val="l_h_f"/>
</p:tagLst>
</file>

<file path=ppt/tags/tag309.xml><?xml version="1.0" encoding="utf-8"?>
<p:tagLst xmlns:p="http://schemas.openxmlformats.org/presentationml/2006/main">
  <p:tag name="KSO_WM_BEAUTIFY_FLAG" val="#fgm#"/>
  <p:tag name="KSO_WM_DIAGRAM_GROUP_CODE" val="1"/>
  <p:tag name="KSO_WM_UNIT_INDEX" val="1_3_1"/>
  <p:tag name="KSO_WM_UNIT_TYPE" val="l_h_i"/>
</p:tagLst>
</file>

<file path=ppt/tags/tag310.xml><?xml version="1.0" encoding="utf-8"?>
<p:tagLst xmlns:p="http://schemas.openxmlformats.org/presentationml/2006/main">
  <p:tag name="KSO_WM_BEAUTIFY_FLAG" val="#fgm#"/>
  <p:tag name="KSO_WM_DIAGRAM_GROUP_CODE" val="1"/>
  <p:tag name="KSO_WM_UNIT_INDEX" val="1_3_1"/>
  <p:tag name="KSO_WM_UNIT_PRESET_TEXT" val="添加项标题"/>
  <p:tag name="KSO_WM_UNIT_TEXT_TYPE" val="1"/>
  <p:tag name="KSO_WM_UNIT_TYPE" val="l_h_a"/>
</p:tagLst>
</file>

<file path=ppt/tags/tag311.xml><?xml version="1.0" encoding="utf-8"?>
<p:tagLst xmlns:p="http://schemas.openxmlformats.org/presentationml/2006/main">
  <p:tag name="KSO_WM_BEAUTIFY_FLAG" val="#fgm#"/>
  <p:tag name="KSO_WM_DIAGRAM_GROUP_CODE" val="1"/>
  <p:tag name="KSO_WM_UNIT_INDEX" val="1_3_1"/>
  <p:tag name="KSO_WM_UNIT_PRESET_TEXT" val="单击此处输入项正文，文字是您思想的提炼，请尽量言简意赅的阐述观点。"/>
  <p:tag name="KSO_WM_UNIT_TEXT_TYPE" val="1"/>
  <p:tag name="KSO_WM_UNIT_TYPE" val="l_h_f"/>
</p:tagLst>
</file>

<file path=ppt/tags/tag312.xml><?xml version="1.0" encoding="utf-8"?>
<p:tagLst xmlns:p="http://schemas.openxmlformats.org/presentationml/2006/main">
  <p:tag name="KSO_WM_BEAUTIFY_FLAG" val="#fgm#"/>
  <p:tag name="KSO_WM_DIAGRAM_GROUP_CODE" val="1"/>
  <p:tag name="KSO_WM_UNIT_INDEX" val="1_4_1"/>
  <p:tag name="KSO_WM_UNIT_TYPE" val="l_h_i"/>
</p:tagLst>
</file>

<file path=ppt/tags/tag313.xml><?xml version="1.0" encoding="utf-8"?>
<p:tagLst xmlns:p="http://schemas.openxmlformats.org/presentationml/2006/main">
  <p:tag name="KSO_WM_BEAUTIFY_FLAG" val="#fgm#"/>
  <p:tag name="KSO_WM_DIAGRAM_GROUP_CODE" val="1"/>
  <p:tag name="KSO_WM_UNIT_INDEX" val="1_4_1"/>
  <p:tag name="KSO_WM_UNIT_PRESET_TEXT" val="添加项标题"/>
  <p:tag name="KSO_WM_UNIT_TEXT_TYPE" val="1"/>
  <p:tag name="KSO_WM_UNIT_TYPE" val="l_h_a"/>
</p:tagLst>
</file>

<file path=ppt/tags/tag314.xml><?xml version="1.0" encoding="utf-8"?>
<p:tagLst xmlns:p="http://schemas.openxmlformats.org/presentationml/2006/main">
  <p:tag name="KSO_WM_BEAUTIFY_FLAG" val="#fgm#"/>
  <p:tag name="KSO_WM_DIAGRAM_GROUP_CODE" val="1"/>
  <p:tag name="KSO_WM_UNIT_INDEX" val="1_4_1"/>
  <p:tag name="KSO_WM_UNIT_PRESET_TEXT" val="单击此处输入项正文，文字是您思想的提炼，请尽量言简意赅的阐述观点。"/>
  <p:tag name="KSO_WM_UNIT_TEXT_TYPE" val="1"/>
  <p:tag name="KSO_WM_UNIT_TYPE" val="l_h_f"/>
</p:tagLst>
</file>

<file path=ppt/tags/tag315.xml><?xml version="1.0" encoding="utf-8"?>
<p:tagLst xmlns:p="http://schemas.openxmlformats.org/presentationml/2006/main">
  <p:tag name="KSO_WM_BEAUTIFY_FLAG" val="#wm#"/>
  <p:tag name="KSO_WM_UNIT_INDEX" val="1"/>
  <p:tag name="KSO_WM_UNIT_TYPE" val="d"/>
  <p:tag name="MH_SHAPE_GUID" val="generate_slide_ai*{&quot;ai_type&quot;:&quot;generate_ppt&quot;,&quot;id&quot;:&quot;VCG211344963469&quot;}*galley_galley_ai_*1748701786458_0.1_694915af45ae-slide-12"/>
</p:tagLst>
</file>

<file path=ppt/tags/tag316.xml><?xml version="1.0" encoding="utf-8"?>
<p:tagLst xmlns:p="http://schemas.openxmlformats.org/presentationml/2006/main">
  <p:tag name="KSO_WM_FIGMA_LIMIT" val=""/>
  <p:tag name="KSO_WM_FIGMA_SLIDE_GROUP" val="59"/>
  <p:tag name="KSO_WM_SLIDE_TYPE" val="text"/>
  <p:tag name="KSO_WM_TEMPLATE_SUBCATEGORY" val="29"/>
  <p:tag name="KSO_WM_TEMPLATE_FIGMA_ID" val="5b9f35bda1b381f2"/>
</p:tagLst>
</file>

<file path=ppt/tags/tag317.xml><?xml version="1.0" encoding="utf-8"?>
<p:tagLst xmlns:p="http://schemas.openxmlformats.org/presentationml/2006/main">
  <p:tag name="KSO_WM_BEAUTIFY_FLAG" val="#wm#"/>
  <p:tag name="KSO_WM_UNIT_INDEX" val="1"/>
  <p:tag name="KSO_WM_UNIT_TYPE" val="b"/>
</p:tagLst>
</file>

<file path=ppt/tags/tag318.xml><?xml version="1.0" encoding="utf-8"?>
<p:tagLst xmlns:p="http://schemas.openxmlformats.org/presentationml/2006/main">
  <p:tag name="KSO_WM_BEAUTIFY_FLAG" val="#wm#"/>
  <p:tag name="KSO_WM_UNIT_INDEX" val="1"/>
  <p:tag name="KSO_WM_UNIT_TYPE" val="a"/>
</p:tagLst>
</file>

<file path=ppt/tags/tag319.xml><?xml version="1.0" encoding="utf-8"?>
<p:tagLst xmlns:p="http://schemas.openxmlformats.org/presentationml/2006/main">
  <p:tag name="KSO_WM_FIGMA_LIMIT" val=""/>
  <p:tag name="KSO_WM_FIGMA_SLIDE_GROUP" val="1"/>
  <p:tag name="KSO_WM_SLIDE_TYPE" val="endPage"/>
  <p:tag name="KSO_WM_TEMPLATE_SUBCATEGORY" val="29"/>
  <p:tag name="KSO_WM_TEMPLATE_FIGMA_ID" val="5b9f35bda1b381f2"/>
</p:tagLst>
</file>

<file path=ppt/tags/tag320.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蓝色职场科技风主题">
  <a:themeElements>
    <a:clrScheme name="">
      <a:dk1>
        <a:srgbClr val="000000"/>
      </a:dk1>
      <a:lt1>
        <a:srgbClr val="FFFFFF"/>
      </a:lt1>
      <a:dk2>
        <a:srgbClr val="010F40"/>
      </a:dk2>
      <a:lt2>
        <a:srgbClr val="EFEFEF"/>
      </a:lt2>
      <a:accent1>
        <a:srgbClr val="0296F8"/>
      </a:accent1>
      <a:accent2>
        <a:srgbClr val="BB72FB"/>
      </a:accent2>
      <a:accent3>
        <a:srgbClr val="7280FB"/>
      </a:accent3>
      <a:accent4>
        <a:srgbClr val="0342E1"/>
      </a:accent4>
      <a:accent5>
        <a:srgbClr val="643AF8"/>
      </a:accent5>
      <a:accent6>
        <a:srgbClr val="2538D9"/>
      </a:accent6>
      <a:hlink>
        <a:srgbClr val="E28835"/>
      </a:hlink>
      <a:folHlink>
        <a:srgbClr val="9D8874"/>
      </a:folHlink>
    </a:clrScheme>
    <a:fontScheme name="">
      <a:majorFont>
        <a:latin typeface="Microsoft YaHei UI"/>
        <a:ea typeface="Microsoft YaHei UI"/>
        <a:cs typeface=""/>
      </a:majorFont>
      <a:minorFont>
        <a:latin typeface="Microsoft YaHei UI"/>
        <a:ea typeface="Microsoft YaHei UI"/>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4931</Words>
  <Application>WPS 演示</Application>
  <PresentationFormat>宽屏</PresentationFormat>
  <Paragraphs>294</Paragraphs>
  <Slides>21</Slides>
  <Notes>4</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21</vt:i4>
      </vt:variant>
    </vt:vector>
  </HeadingPairs>
  <TitlesOfParts>
    <vt:vector size="38" baseType="lpstr">
      <vt:lpstr>Arial</vt:lpstr>
      <vt:lpstr>宋体</vt:lpstr>
      <vt:lpstr>Wingdings</vt:lpstr>
      <vt:lpstr>Wingdings</vt:lpstr>
      <vt:lpstr>微软雅黑</vt:lpstr>
      <vt:lpstr>汉仪旗黑</vt:lpstr>
      <vt:lpstr>Microsoft YaHei UI</vt:lpstr>
      <vt:lpstr>苹方-简</vt:lpstr>
      <vt:lpstr>宋体</vt:lpstr>
      <vt:lpstr>Arial Unicode MS</vt:lpstr>
      <vt:lpstr>Calibri</vt:lpstr>
      <vt:lpstr>Helvetica Neue</vt:lpstr>
      <vt:lpstr>汉仪书宋二KW</vt:lpstr>
      <vt:lpstr>Microsoft YaHei UI</vt:lpstr>
      <vt:lpstr>微软雅黑</vt:lpstr>
      <vt:lpstr>WPS</vt:lpstr>
      <vt:lpstr>蓝色职场科技风主题</vt:lpstr>
      <vt:lpstr>基于Raft算法的分布式数据库构建</vt:lpstr>
      <vt:lpstr>目录</vt:lpstr>
      <vt:lpstr>研究背景</vt:lpstr>
      <vt:lpstr>研究背景</vt:lpstr>
      <vt:lpstr>研究的意义与价值</vt:lpstr>
      <vt:lpstr>研究内容</vt:lpstr>
      <vt:lpstr>数据和材料</vt:lpstr>
      <vt:lpstr>数据和材料</vt:lpstr>
      <vt:lpstr>研究方法与技术路线</vt:lpstr>
      <vt:lpstr>研究方法与技术路线</vt:lpstr>
      <vt:lpstr>分布式数据库理论和raft算法研究</vt:lpstr>
      <vt:lpstr>分布式数据库系统分析</vt:lpstr>
      <vt:lpstr>分布式数据库设计和实现</vt:lpstr>
      <vt:lpstr>分布式数据库系统分析</vt:lpstr>
      <vt:lpstr>PowerPoint 演示文稿</vt:lpstr>
      <vt:lpstr>分布式数据库设计和实现</vt:lpstr>
      <vt:lpstr>分布式数据库实现--Leader选举实现</vt:lpstr>
      <vt:lpstr>总结与展望</vt:lpstr>
      <vt:lpstr>系统实现与成果总结</vt:lpstr>
      <vt:lpstr>未来展望与改进方向</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梦月</dc:creator>
  <cp:lastModifiedBy>挤凉苫僭咕</cp:lastModifiedBy>
  <cp:revision>162</cp:revision>
  <dcterms:created xsi:type="dcterms:W3CDTF">2025-06-01T13:27:20Z</dcterms:created>
  <dcterms:modified xsi:type="dcterms:W3CDTF">2025-06-01T13:27:20Z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2052-7.2.2.8955</vt:lpwstr>
  </property>
  <property fmtid="{D5CDD505-2E9C-101B-9397-08002B2CF9AE}" pid="3" name="ICV">
    <vt:lpwstr>F3C4A2CF9EFF44238215932B57A1F3AC_11</vt:lpwstr>
  </property>
</Properties>
</file>